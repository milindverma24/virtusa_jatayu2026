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dea" id="{7e8fcb07-a922-df17-fd28-4cb15b5b12f0}">
          <p14:sldIdLst>
            <p14:sldId id="256"/>
            <p14:sldId id="257"/>
            <p14:sldId id="258"/>
          </p14:sldIdLst>
        </p14:section>
        <p14:section name="How it works" id="{ea062e5d-8038-525e-cb5d-0ac6bc61e70a}">
          <p14:sldIdLst>
            <p14:sldId id="259"/>
            <p14:sldId id="260"/>
            <p14:sldId id="261"/>
            <p14:sldId id="262"/>
            <p14:sldId id="263"/>
            <p14:sldId id="264"/>
            <p14:sldId id="265"/>
            <p14:sldId id="266"/>
          </p14:sldIdLst>
        </p14:section>
        <p14:section name="The product" id="{82916854-a55b-96e0-4022-4d74c47e7161}">
          <p14:sldIdLst>
            <p14:sldId id="267"/>
            <p14:sldId id="268"/>
            <p14:sldId id="269"/>
            <p14:sldId id="270"/>
            <p14:sldId id="271"/>
            <p14:sldId id="272"/>
            <p14:sldId id="273"/>
            <p14:sldId id="274"/>
            <p14:sldId id="275"/>
          </p14:sldIdLst>
        </p14:section>
        <p14:section name="Evidence" id="{6d5b617b-e7dd-6584-aa58-7681fde33605}">
          <p14:sldIdLst>
            <p14:sldId id="276"/>
            <p14:sldId id="277"/>
            <p14:sldId id="278"/>
          </p14:sldIdLst>
        </p14:section>
        <p14:section name="Close" id="{1759abdb-914a-e99e-15e6-14f4425dbf0c}">
          <p14:sldIdLst>
            <p14:sldId id="279"/>
            <p14:sldId id="280"/>
          </p14:sldIdLst>
        </p14:section>
        <p14:section name="Appendix" id="{57eb99e6-24d7-2cd2-c89f-4546fc4c6847}">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Built-in rules</c:v>
                </c:pt>
              </c:strCache>
            </c:strRef>
          </c:tx>
          <c:spPr>
            <a:solidFill>
              <a:srgbClr val="5B6B71"/>
            </a:solidFill>
            <a:effectLst/>
          </c:spPr>
          <c:invertIfNegative val="0"/>
          <c:dLbls>
            <c:numFmt formatCode="0" sourceLinked="0"/>
            <c:txPr>
              <a:bodyPr/>
              <a:lstStyle/>
              <a:p>
                <a:pPr>
                  <a:defRPr b="0" i="0" strike="noStrike" sz="1100" u="none">
                    <a:solidFill>
                      <a:srgbClr val="0C1B22"/>
                    </a:solidFill>
                    <a:latin typeface="+mn-lt"/>
                  </a:defRPr>
                </a:pPr>
              </a:p>
            </c:txPr>
            <c:showLegendKey val="0"/>
            <c:showVal val="1"/>
            <c:showCatName val="0"/>
            <c:showSerName val="0"/>
            <c:showPercent val="0"/>
            <c:showBubbleSize val="0"/>
            <c:showLeaderLines val="0"/>
          </c:dLbls>
          <c:cat>
            <c:multiLvlStrRef>
              <c:f>Sheet1!$A$2:$A$6</c:f>
              <c:multiLvlStrCache>
                <c:ptCount val="5"/>
                <c:lvl>
                  <c:pt idx="0">
                    <c:v>Drug F1</c:v>
                  </c:pt>
                  <c:pt idx="1">
                    <c:v>Dose exact</c:v>
                  </c:pt>
                  <c:pt idx="2">
                    <c:v>Route F1</c:v>
                  </c:pt>
                  <c:pt idx="3">
                    <c:v>Time</c:v>
                  </c:pt>
                  <c:pt idx="4">
                    <c:v>Procedure F1</c:v>
                  </c:pt>
                </c:lvl>
              </c:multiLvlStrCache>
            </c:multiLvlStrRef>
          </c:cat>
          <c:val>
            <c:numRef>
              <c:f>Sheet1!$B$2:$B$6</c:f>
              <c:numCache>
                <c:formatCode>General</c:formatCode>
                <c:ptCount val="5"/>
                <c:pt idx="0">
                  <c:v>84.2</c:v>
                </c:pt>
                <c:pt idx="1">
                  <c:v>78.3</c:v>
                </c:pt>
                <c:pt idx="2">
                  <c:v>95.7</c:v>
                </c:pt>
                <c:pt idx="3">
                  <c:v>100</c:v>
                </c:pt>
                <c:pt idx="4">
                  <c:v>62.5</c:v>
                </c:pt>
              </c:numCache>
            </c:numRef>
          </c:val>
        </c:ser>
        <c:ser>
          <c:idx val="1"/>
          <c:order val="1"/>
          <c:tx>
            <c:strRef>
              <c:f>Sheet1!$C$1</c:f>
              <c:strCache>
                <c:ptCount val="1"/>
                <c:pt idx="0">
                  <c:v>Groq gpt-oss-120b</c:v>
                </c:pt>
              </c:strCache>
            </c:strRef>
          </c:tx>
          <c:spPr>
            <a:solidFill>
              <a:srgbClr val="0E7A5C"/>
            </a:solidFill>
            <a:effectLst/>
          </c:spPr>
          <c:invertIfNegative val="0"/>
          <c:dLbls>
            <c:numFmt formatCode="0" sourceLinked="0"/>
            <c:txPr>
              <a:bodyPr/>
              <a:lstStyle/>
              <a:p>
                <a:pPr>
                  <a:defRPr b="0" i="0" strike="noStrike" sz="1100" u="none">
                    <a:solidFill>
                      <a:srgbClr val="0C1B22"/>
                    </a:solidFill>
                    <a:latin typeface="+mn-lt"/>
                  </a:defRPr>
                </a:pPr>
              </a:p>
            </c:txPr>
            <c:showLegendKey val="0"/>
            <c:showVal val="1"/>
            <c:showCatName val="0"/>
            <c:showSerName val="0"/>
            <c:showPercent val="0"/>
            <c:showBubbleSize val="0"/>
            <c:showLeaderLines val="0"/>
          </c:dLbls>
          <c:cat>
            <c:multiLvlStrRef>
              <c:f>Sheet1!$A$2:$A$6</c:f>
              <c:multiLvlStrCache>
                <c:ptCount val="5"/>
                <c:lvl>
                  <c:pt idx="0">
                    <c:v>Drug F1</c:v>
                  </c:pt>
                  <c:pt idx="1">
                    <c:v>Dose exact</c:v>
                  </c:pt>
                  <c:pt idx="2">
                    <c:v>Route F1</c:v>
                  </c:pt>
                  <c:pt idx="3">
                    <c:v>Time</c:v>
                  </c:pt>
                  <c:pt idx="4">
                    <c:v>Procedure F1</c:v>
                  </c:pt>
                </c:lvl>
              </c:multiLvlStrCache>
            </c:multiLvlStrRef>
          </c:cat>
          <c:val>
            <c:numRef>
              <c:f>Sheet1!$C$2:$C$6</c:f>
              <c:numCache>
                <c:formatCode>General</c:formatCode>
                <c:ptCount val="5"/>
                <c:pt idx="0">
                  <c:v>100</c:v>
                </c:pt>
                <c:pt idx="1">
                  <c:v>96.2</c:v>
                </c:pt>
                <c:pt idx="2">
                  <c:v>100</c:v>
                </c:pt>
                <c:pt idx="3">
                  <c:v>100</c:v>
                </c:pt>
                <c:pt idx="4">
                  <c:v>90.3</c:v>
                </c:pt>
              </c:numCache>
            </c:numRef>
          </c:val>
        </c:ser>
        <c:dLbls>
          <c:numFmt formatCode="0" sourceLinked="0"/>
          <c:txPr>
            <a:bodyPr/>
            <a:lstStyle/>
            <a:p>
              <a:pPr>
                <a:defRPr b="0" i="0" strike="noStrike" sz="1100" u="none">
                  <a:solidFill>
                    <a:srgbClr val="0C1B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C1B22"/>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C1B2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Sanjeevani Lekh turns a responder's spoken, typed or photographed note into a structured record that is checked, confirmed by a human and sealed so it cannot be quietly changed. It works offline, with an optional online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Responders have no time to write while treating a patient. That leads to missing, late or remembered details, and to no reliable proof of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from capture to handover. Three design principles run through all of them: never guess, a human confirms, and offline first with an optional cloud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runs on the responder's device: the browser app, the FastAPI backend, the local engines and the SQLite log. Groq is used only in online mode. Supabase and the dashboard are an optional supervisor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small: Python and SQLite on the device, React for the interface, and optional cloud pieces. About 3,900 lines of backend code, 6,600 lines of interface code and 1,300 lines for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either passes a value on or raises a flag. The responder cannot confirm until every flag is resolved. After sealing, the handover report is generated from the confirmed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routes end in the same draft. Normalisation turns spoken numbers, times, routes and brand names into standard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responder never said a unit for the nitroglycerin. The system does not choose one. It flags the item and the responder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checks are plain Python in validate.py and run on every draft whichever engine produced it. The reference list covers 17 common emergency drugs with expected units, routes and dose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always produces a draft. Cloud first when allowed, then the local model, then plain rules. Validation, review and the audit log are always local. Because online mode uses a third party, it should only be used with data that may leave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record includes the hash of the one before it, so changing an earlier record changes every hash after it. The database itself refuses updates and deletes, and the verify route recomputes the chain. This detects tampering. It does not prove when a record was created, because timestamps come from the device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demo on the landing page. Change one dose and the chain reports the first broken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explains the product with live demonstrations rather than a feature list. The look is one identity across all screens: ECG paper, ink, herb green, amber for needs-a-person.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offline switch in the top bar simulates losing the connection: records queue on the device and travel to the cloud when you go online. The page also works at phone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capture screen is built for one-handed use. The dark panel is used only where something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product. The responder sees what they said and what the system extracted, and cannot seal the record while anything is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confirming, the app shows the new hash. The ledger screen re-checks every record in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handover is a plain clinical form. It contains only what is in the confirmed record, including the hash so the receiving team can check it later. We left out the machine-written summary on purpose because it is not reviewed by the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reads the synced audit_log from Supabase. Without credentials it shows built-in sample data and says so in its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the field app, the documentation and the dashboard share one identity, which makes the product feel like one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with the project's own evaluation script and the same validation rules, run against the built-in rule-based extractor and the Groq model. Twenty notes is a small sample and the rule-based extractor may have been tuned on them, so treat the numbers as indicative. The local Ollama model and Whisper accuracy were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is forced offline by a shared fixture so a developer's local settings never make a test call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clear about limits matters for a clinical tool. The next steps are suggestions, not built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 and Node 20 or newer. For offline extraction, an Ollama server with the chosen model. Copy backend/.env.example to .env and fill in what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component-level architecture. The same diagram is in the PDF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note from capture to handover, online mode shown. See the PDF guide for the full-size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Sanjeevani Lekh</a:t>
            </a:r>
            <a:endParaRPr lang="en-US" sz="10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rtlCol="0"/>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Sanjeevani Lekh</a:t>
            </a:r>
            <a:endParaRPr lang="en-US" sz="10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Sanjeevani Lekh logo">    </p:cNvPr>
          <p:cNvPicPr>
            <a:picLocks noChangeAspect="1"/>
          </p:cNvPicPr>
          <p:nvPr/>
        </p:nvPicPr>
        <p:blipFill>
          <a:blip r:embed="rId1"/>
          <a:stretch>
            <a:fillRect/>
          </a:stretch>
        </p:blipFill>
        <p:spPr>
          <a:xfrm>
            <a:off x="548640" y="548640"/>
            <a:ext cx="548640" cy="548640"/>
          </a:xfrm>
          <a:prstGeom prst="rect">
            <a:avLst/>
          </a:prstGeom>
        </p:spPr>
      </p:pic>
      <p:sp>
        <p:nvSpPr>
          <p:cNvPr id="3" name="Text 0"/>
          <p:cNvSpPr txBox="1"/>
          <p:nvPr/>
        </p:nvSpPr>
        <p:spPr>
          <a:xfrm>
            <a:off x="1234440" y="713232"/>
            <a:ext cx="36576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VIRTUSA JATAYU 2026</a:t>
            </a:r>
            <a:endParaRPr lang="en-US" sz="1200" dirty="0"/>
          </a:p>
        </p:txBody>
      </p:sp>
      <p:sp>
        <p:nvSpPr>
          <p:cNvPr id="4" name="Text 1"/>
          <p:cNvSpPr txBox="1"/>
          <p:nvPr/>
        </p:nvSpPr>
        <p:spPr>
          <a:xfrm>
            <a:off x="548640" y="1417320"/>
            <a:ext cx="4572000" cy="822960"/>
          </a:xfrm>
          <a:prstGeom prst="rect">
            <a:avLst/>
          </a:prstGeom>
          <a:noFill/>
          <a:ln/>
        </p:spPr>
        <p:txBody>
          <a:bodyPr wrap="square" lIns="0" tIns="0" rIns="0" bIns="0" rtlCol="0" anchor="t"/>
          <a:lstStyle/>
          <a:p>
            <a:pPr indent="0" marL="0">
              <a:buNone/>
            </a:pPr>
            <a:r>
              <a:rPr lang="en-US" sz="4200" b="1" dirty="0">
                <a:solidFill>
                  <a:schemeClr val="bg1"/>
                </a:solidFill>
                <a:latin typeface="Arial" pitchFamily="34" charset="0"/>
                <a:ea typeface="Arial" pitchFamily="34" charset="-122"/>
                <a:cs typeface="Arial" pitchFamily="34" charset="-120"/>
              </a:rPr>
              <a:t>Sanjeevani Lekh</a:t>
            </a:r>
            <a:endParaRPr lang="en-US" sz="4200" dirty="0"/>
          </a:p>
        </p:txBody>
      </p:sp>
      <p:sp>
        <p:nvSpPr>
          <p:cNvPr id="5" name="Text 2"/>
          <p:cNvSpPr txBox="1"/>
          <p:nvPr/>
        </p:nvSpPr>
        <p:spPr>
          <a:xfrm>
            <a:off x="548640" y="2286000"/>
            <a:ext cx="4297680" cy="822960"/>
          </a:xfrm>
          <a:prstGeom prst="rect">
            <a:avLst/>
          </a:prstGeom>
          <a:noFill/>
          <a:ln/>
        </p:spPr>
        <p:txBody>
          <a:bodyPr wrap="square" lIns="0" tIns="0" rIns="0" bIns="0" rtlCol="0" anchor="t"/>
          <a:lstStyle/>
          <a:p>
            <a:pPr indent="0" marL="0">
              <a:buNone/>
            </a:pPr>
            <a:r>
              <a:rPr lang="en-US" sz="2200" dirty="0">
                <a:solidFill>
                  <a:schemeClr val="bg2"/>
                </a:solidFill>
                <a:latin typeface="Calibri" pitchFamily="34" charset="0"/>
                <a:ea typeface="Calibri" pitchFamily="34" charset="-122"/>
                <a:cs typeface="Calibri" pitchFamily="34" charset="-120"/>
              </a:rPr>
              <a:t>Offline-first clinical record for first responders</a:t>
            </a:r>
            <a:endParaRPr lang="en-US" sz="2200" dirty="0"/>
          </a:p>
        </p:txBody>
      </p:sp>
      <p:sp>
        <p:nvSpPr>
          <p:cNvPr id="6" name="Text 3"/>
          <p:cNvSpPr txBox="1"/>
          <p:nvPr/>
        </p:nvSpPr>
        <p:spPr>
          <a:xfrm>
            <a:off x="548640" y="3246120"/>
            <a:ext cx="4206240" cy="731520"/>
          </a:xfrm>
          <a:prstGeom prst="rect">
            <a:avLst/>
          </a:prstGeom>
          <a:noFill/>
          <a:ln/>
        </p:spPr>
        <p:txBody>
          <a:bodyPr wrap="square" lIns="0" tIns="0" rIns="0" bIns="0" rtlCol="0" anchor="t"/>
          <a:lstStyle/>
          <a:p>
            <a:pPr indent="0" marL="0">
              <a:buNone/>
            </a:pPr>
            <a:r>
              <a:rPr lang="en-US" sz="1400" dirty="0">
                <a:solidFill>
                  <a:srgbClr val="A9BDB6"/>
                </a:solidFill>
                <a:latin typeface="Calibri" pitchFamily="34" charset="0"/>
                <a:ea typeface="Calibri" pitchFamily="34" charset="-122"/>
                <a:cs typeface="Calibri" pitchFamily="34" charset="-120"/>
              </a:rPr>
              <a:t>Speak, type or photograph a field note. Get a verified, tamper-evident record and a printable handover.</a:t>
            </a:r>
            <a:endParaRPr lang="en-US" sz="1400" dirty="0"/>
          </a:p>
        </p:txBody>
      </p:sp>
      <p:sp>
        <p:nvSpPr>
          <p:cNvPr id="7" name="Text 4"/>
          <p:cNvSpPr txBox="1"/>
          <p:nvPr/>
        </p:nvSpPr>
        <p:spPr>
          <a:xfrm>
            <a:off x="548640" y="4480560"/>
            <a:ext cx="5486400" cy="274320"/>
          </a:xfrm>
          <a:prstGeom prst="rect">
            <a:avLst/>
          </a:prstGeom>
          <a:noFill/>
          <a:ln/>
        </p:spPr>
        <p:txBody>
          <a:bodyPr wrap="square" lIns="0" tIns="0" rIns="0" bIns="0" rtlCol="0" anchor="t"/>
          <a:lstStyle/>
          <a:p>
            <a:pPr indent="0" marL="0">
              <a:buNone/>
            </a:pPr>
            <a:r>
              <a:rPr lang="en-US" sz="1200" dirty="0">
                <a:solidFill>
                  <a:srgbClr val="A9BDB6"/>
                </a:solidFill>
                <a:latin typeface="Calibri" pitchFamily="34" charset="0"/>
                <a:ea typeface="Calibri" pitchFamily="34" charset="-122"/>
                <a:cs typeface="Calibri" pitchFamily="34" charset="-120"/>
              </a:rPr>
              <a:t>Milind Verma  |  Nikhil Agrawal  |  Gaurav Kumar  |  Riya Mehta</a:t>
            </a:r>
            <a:endParaRPr lang="en-US" sz="1200" dirty="0"/>
          </a:p>
        </p:txBody>
      </p:sp>
      <p:pic>
        <p:nvPicPr>
          <p:cNvPr id="8" name="Landing page screenshot" descr="Landing page of the product">    </p:cNvPr>
          <p:cNvPicPr>
            <a:picLocks noChangeAspect="1"/>
          </p:cNvPicPr>
          <p:nvPr/>
        </p:nvPicPr>
        <p:blipFill>
          <a:blip r:embed="rId2"/>
          <a:stretch>
            <a:fillRect/>
          </a:stretch>
        </p:blipFill>
        <p:spPr>
          <a:xfrm>
            <a:off x="5029200" y="1280160"/>
            <a:ext cx="3657600" cy="228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The problem on the scene</a:t>
            </a:r>
            <a:endParaRPr lang="en-US" sz="2800" dirty="0"/>
          </a:p>
        </p:txBody>
      </p:sp>
      <p:sp>
        <p:nvSpPr>
          <p:cNvPr id="3" name="Shape 1"/>
          <p:cNvSpPr/>
          <p:nvPr/>
        </p:nvSpPr>
        <p:spPr>
          <a:xfrm>
            <a:off x="548640" y="1188720"/>
            <a:ext cx="2560320" cy="2697480"/>
          </a:xfrm>
          <a:prstGeom prst="roundRect">
            <a:avLst>
              <a:gd name="adj" fmla="val 2857"/>
            </a:avLst>
          </a:prstGeom>
          <a:solidFill>
            <a:schemeClr val="bg1"/>
          </a:solidFill>
          <a:ln w="9525">
            <a:solidFill>
              <a:srgbClr val="C9D2D5"/>
            </a:solidFill>
            <a:prstDash val="solid"/>
          </a:ln>
        </p:spPr>
      </p:sp>
      <p:sp>
        <p:nvSpPr>
          <p:cNvPr id="4" name="Icon disc"/>
          <p:cNvSpPr/>
          <p:nvPr/>
        </p:nvSpPr>
        <p:spPr>
          <a:xfrm>
            <a:off x="777240" y="1371600"/>
            <a:ext cx="566928" cy="566928"/>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32688" y="1527048"/>
            <a:ext cx="256032" cy="256032"/>
          </a:xfrm>
          <a:prstGeom prst="rect">
            <a:avLst/>
          </a:prstGeom>
        </p:spPr>
      </p:pic>
      <p:sp>
        <p:nvSpPr>
          <p:cNvPr id="6" name="Text 3"/>
          <p:cNvSpPr txBox="1"/>
          <p:nvPr/>
        </p:nvSpPr>
        <p:spPr>
          <a:xfrm>
            <a:off x="777240" y="2057400"/>
            <a:ext cx="2148840" cy="5486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Notes end up on gloves</a:t>
            </a:r>
            <a:endParaRPr lang="en-US" sz="1600" dirty="0"/>
          </a:p>
        </p:txBody>
      </p:sp>
      <p:sp>
        <p:nvSpPr>
          <p:cNvPr id="7" name="Text 4"/>
          <p:cNvSpPr txBox="1"/>
          <p:nvPr/>
        </p:nvSpPr>
        <p:spPr>
          <a:xfrm>
            <a:off x="777240" y="2651760"/>
            <a:ext cx="2148840" cy="11430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Drugs and procedures are given fast. The details land on gloves, tape, scraps of paper, or stay in memory.</a:t>
            </a:r>
            <a:endParaRPr lang="en-US" sz="1400" dirty="0"/>
          </a:p>
        </p:txBody>
      </p:sp>
      <p:sp>
        <p:nvSpPr>
          <p:cNvPr id="8" name="Shape 5"/>
          <p:cNvSpPr/>
          <p:nvPr/>
        </p:nvSpPr>
        <p:spPr>
          <a:xfrm>
            <a:off x="3291840" y="1188720"/>
            <a:ext cx="2560320" cy="2697480"/>
          </a:xfrm>
          <a:prstGeom prst="roundRect">
            <a:avLst>
              <a:gd name="adj" fmla="val 2857"/>
            </a:avLst>
          </a:prstGeom>
          <a:solidFill>
            <a:schemeClr val="bg1"/>
          </a:solidFill>
          <a:ln w="9525">
            <a:solidFill>
              <a:srgbClr val="C9D2D5"/>
            </a:solidFill>
            <a:prstDash val="solid"/>
          </a:ln>
        </p:spPr>
      </p:sp>
      <p:sp>
        <p:nvSpPr>
          <p:cNvPr id="9" name="Icon disc"/>
          <p:cNvSpPr/>
          <p:nvPr/>
        </p:nvSpPr>
        <p:spPr>
          <a:xfrm>
            <a:off x="3520440" y="1371600"/>
            <a:ext cx="566928" cy="566928"/>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675888" y="1527048"/>
            <a:ext cx="256032" cy="256032"/>
          </a:xfrm>
          <a:prstGeom prst="rect">
            <a:avLst/>
          </a:prstGeom>
        </p:spPr>
      </p:pic>
      <p:sp>
        <p:nvSpPr>
          <p:cNvPr id="11" name="Text 7"/>
          <p:cNvSpPr txBox="1"/>
          <p:nvPr/>
        </p:nvSpPr>
        <p:spPr>
          <a:xfrm>
            <a:off x="3520440" y="2057400"/>
            <a:ext cx="2148840" cy="5486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Details come from memory</a:t>
            </a:r>
            <a:endParaRPr lang="en-US" sz="1600" dirty="0"/>
          </a:p>
        </p:txBody>
      </p:sp>
      <p:sp>
        <p:nvSpPr>
          <p:cNvPr id="12" name="Text 8"/>
          <p:cNvSpPr txBox="1"/>
          <p:nvPr/>
        </p:nvSpPr>
        <p:spPr>
          <a:xfrm>
            <a:off x="3520440" y="2651760"/>
            <a:ext cx="2148840" cy="11430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Doses and times written down afterwards are often wrong.</a:t>
            </a:r>
            <a:endParaRPr lang="en-US" sz="1400" dirty="0"/>
          </a:p>
        </p:txBody>
      </p:sp>
      <p:sp>
        <p:nvSpPr>
          <p:cNvPr id="13" name="Shape 9"/>
          <p:cNvSpPr/>
          <p:nvPr/>
        </p:nvSpPr>
        <p:spPr>
          <a:xfrm>
            <a:off x="6035040" y="1188720"/>
            <a:ext cx="2560320" cy="2697480"/>
          </a:xfrm>
          <a:prstGeom prst="roundRect">
            <a:avLst>
              <a:gd name="adj" fmla="val 2857"/>
            </a:avLst>
          </a:prstGeom>
          <a:solidFill>
            <a:schemeClr val="bg1"/>
          </a:solidFill>
          <a:ln w="9525">
            <a:solidFill>
              <a:srgbClr val="C9D2D5"/>
            </a:solidFill>
            <a:prstDash val="solid"/>
          </a:ln>
        </p:spPr>
      </p:sp>
      <p:sp>
        <p:nvSpPr>
          <p:cNvPr id="14" name="Icon disc"/>
          <p:cNvSpPr/>
          <p:nvPr/>
        </p:nvSpPr>
        <p:spPr>
          <a:xfrm>
            <a:off x="6263640" y="1371600"/>
            <a:ext cx="566928" cy="566928"/>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419088" y="1527048"/>
            <a:ext cx="256032" cy="256032"/>
          </a:xfrm>
          <a:prstGeom prst="rect">
            <a:avLst/>
          </a:prstGeom>
        </p:spPr>
      </p:pic>
      <p:sp>
        <p:nvSpPr>
          <p:cNvPr id="16" name="Text 11"/>
          <p:cNvSpPr txBox="1"/>
          <p:nvPr/>
        </p:nvSpPr>
        <p:spPr>
          <a:xfrm>
            <a:off x="6263640" y="2057400"/>
            <a:ext cx="2148840" cy="5486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Nothing proves what happened</a:t>
            </a:r>
            <a:endParaRPr lang="en-US" sz="1600" dirty="0"/>
          </a:p>
        </p:txBody>
      </p:sp>
      <p:sp>
        <p:nvSpPr>
          <p:cNvPr id="17" name="Text 12"/>
          <p:cNvSpPr txBox="1"/>
          <p:nvPr/>
        </p:nvSpPr>
        <p:spPr>
          <a:xfrm>
            <a:off x="6263640" y="2651760"/>
            <a:ext cx="2148840" cy="11430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Nobody can later show exactly what was given, and when.</a:t>
            </a:r>
            <a:endParaRPr lang="en-US" sz="1400" dirty="0"/>
          </a:p>
        </p:txBody>
      </p:sp>
      <p:sp>
        <p:nvSpPr>
          <p:cNvPr id="18" name="Consequence band"/>
          <p:cNvSpPr/>
          <p:nvPr/>
        </p:nvSpPr>
        <p:spPr>
          <a:xfrm>
            <a:off x="548640" y="4023360"/>
            <a:ext cx="8046720" cy="548640"/>
          </a:xfrm>
          <a:prstGeom prst="roundRect">
            <a:avLst>
              <a:gd name="adj" fmla="val 13333"/>
            </a:avLst>
          </a:prstGeom>
          <a:solidFill>
            <a:schemeClr val="bg2"/>
          </a:solidFill>
          <a:ln w="12700">
            <a:solidFill>
              <a:schemeClr val="bg2"/>
            </a:solidFill>
            <a:prstDash val="solid"/>
          </a:ln>
        </p:spPr>
      </p:sp>
      <p:sp>
        <p:nvSpPr>
          <p:cNvPr id="19" name="Text 14"/>
          <p:cNvSpPr txBox="1"/>
          <p:nvPr/>
        </p:nvSpPr>
        <p:spPr>
          <a:xfrm>
            <a:off x="731520" y="4023360"/>
            <a:ext cx="7680960" cy="5486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The receiving hospital may not know a drug was already given.</a:t>
            </a:r>
            <a:endParaRPr lang="en-US" sz="16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From a spoken note to a sealed record</a:t>
            </a:r>
            <a:endParaRPr lang="en-US" sz="2800" dirty="0"/>
          </a:p>
        </p:txBody>
      </p:sp>
      <p:sp>
        <p:nvSpPr>
          <p:cNvPr id="3" name="Step disc"/>
          <p:cNvSpPr/>
          <p:nvPr/>
        </p:nvSpPr>
        <p:spPr>
          <a:xfrm>
            <a:off x="822960" y="1371600"/>
            <a:ext cx="731520" cy="73152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1024128" y="1572768"/>
            <a:ext cx="329184" cy="329184"/>
          </a:xfrm>
          <a:prstGeom prst="rect">
            <a:avLst/>
          </a:prstGeom>
        </p:spPr>
      </p:pic>
      <p:sp>
        <p:nvSpPr>
          <p:cNvPr id="5" name="Text 2"/>
          <p:cNvSpPr txBox="1"/>
          <p:nvPr/>
        </p:nvSpPr>
        <p:spPr>
          <a:xfrm>
            <a:off x="548640" y="2240280"/>
            <a:ext cx="1280160" cy="274320"/>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Capture</a:t>
            </a:r>
            <a:endParaRPr lang="en-US" sz="1600" dirty="0"/>
          </a:p>
        </p:txBody>
      </p:sp>
      <p:sp>
        <p:nvSpPr>
          <p:cNvPr id="6" name="Text 3"/>
          <p:cNvSpPr txBox="1"/>
          <p:nvPr/>
        </p:nvSpPr>
        <p:spPr>
          <a:xfrm>
            <a:off x="548640" y="2560320"/>
            <a:ext cx="1280160" cy="64008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voice, text or photo</a:t>
            </a:r>
            <a:endParaRPr lang="en-US" sz="1300" dirty="0"/>
          </a:p>
        </p:txBody>
      </p:sp>
      <p:sp>
        <p:nvSpPr>
          <p:cNvPr id="7" name="Arrow"/>
          <p:cNvSpPr/>
          <p:nvPr/>
        </p:nvSpPr>
        <p:spPr>
          <a:xfrm>
            <a:off x="1645920" y="1737360"/>
            <a:ext cx="320040" cy="0"/>
          </a:xfrm>
          <a:prstGeom prst="line">
            <a:avLst/>
          </a:prstGeom>
          <a:noFill/>
          <a:ln w="22225">
            <a:solidFill>
              <a:schemeClr val="accent6"/>
            </a:solidFill>
            <a:prstDash val="solid"/>
            <a:tailEnd type="triangle"/>
          </a:ln>
        </p:spPr>
      </p:sp>
      <p:sp>
        <p:nvSpPr>
          <p:cNvPr id="8" name="Step disc"/>
          <p:cNvSpPr/>
          <p:nvPr/>
        </p:nvSpPr>
        <p:spPr>
          <a:xfrm>
            <a:off x="2194560" y="1371600"/>
            <a:ext cx="731520" cy="731520"/>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2395728" y="1572768"/>
            <a:ext cx="329184" cy="329184"/>
          </a:xfrm>
          <a:prstGeom prst="rect">
            <a:avLst/>
          </a:prstGeom>
        </p:spPr>
      </p:pic>
      <p:sp>
        <p:nvSpPr>
          <p:cNvPr id="10" name="Text 6"/>
          <p:cNvSpPr txBox="1"/>
          <p:nvPr/>
        </p:nvSpPr>
        <p:spPr>
          <a:xfrm>
            <a:off x="1920240" y="2240280"/>
            <a:ext cx="1280160" cy="274320"/>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Extract</a:t>
            </a:r>
            <a:endParaRPr lang="en-US" sz="1600" dirty="0"/>
          </a:p>
        </p:txBody>
      </p:sp>
      <p:sp>
        <p:nvSpPr>
          <p:cNvPr id="11" name="Text 7"/>
          <p:cNvSpPr txBox="1"/>
          <p:nvPr/>
        </p:nvSpPr>
        <p:spPr>
          <a:xfrm>
            <a:off x="1920240" y="2560320"/>
            <a:ext cx="1280160" cy="64008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medications and procedures</a:t>
            </a:r>
            <a:endParaRPr lang="en-US" sz="1300" dirty="0"/>
          </a:p>
        </p:txBody>
      </p:sp>
      <p:sp>
        <p:nvSpPr>
          <p:cNvPr id="12" name="Arrow"/>
          <p:cNvSpPr/>
          <p:nvPr/>
        </p:nvSpPr>
        <p:spPr>
          <a:xfrm>
            <a:off x="3017520" y="1737360"/>
            <a:ext cx="320040" cy="0"/>
          </a:xfrm>
          <a:prstGeom prst="line">
            <a:avLst/>
          </a:prstGeom>
          <a:noFill/>
          <a:ln w="22225">
            <a:solidFill>
              <a:schemeClr val="accent6"/>
            </a:solidFill>
            <a:prstDash val="solid"/>
            <a:tailEnd type="triangle"/>
          </a:ln>
        </p:spPr>
      </p:sp>
      <p:sp>
        <p:nvSpPr>
          <p:cNvPr id="13" name="Step disc"/>
          <p:cNvSpPr/>
          <p:nvPr/>
        </p:nvSpPr>
        <p:spPr>
          <a:xfrm>
            <a:off x="3566160" y="1371600"/>
            <a:ext cx="731520" cy="731520"/>
          </a:xfrm>
          <a:prstGeom prst="ellipse">
            <a:avLst/>
          </a:prstGeom>
          <a:solidFill>
            <a:schemeClr val="accent1"/>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3767328" y="1572768"/>
            <a:ext cx="329184" cy="329184"/>
          </a:xfrm>
          <a:prstGeom prst="rect">
            <a:avLst/>
          </a:prstGeom>
        </p:spPr>
      </p:pic>
      <p:sp>
        <p:nvSpPr>
          <p:cNvPr id="15" name="Text 10"/>
          <p:cNvSpPr txBox="1"/>
          <p:nvPr/>
        </p:nvSpPr>
        <p:spPr>
          <a:xfrm>
            <a:off x="3291840" y="2240280"/>
            <a:ext cx="1280160" cy="274320"/>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Verify</a:t>
            </a:r>
            <a:endParaRPr lang="en-US" sz="1600" dirty="0"/>
          </a:p>
        </p:txBody>
      </p:sp>
      <p:sp>
        <p:nvSpPr>
          <p:cNvPr id="16" name="Text 11"/>
          <p:cNvSpPr txBox="1"/>
          <p:nvPr/>
        </p:nvSpPr>
        <p:spPr>
          <a:xfrm>
            <a:off x="3291840" y="2560320"/>
            <a:ext cx="1280160" cy="64008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against the original words</a:t>
            </a:r>
            <a:endParaRPr lang="en-US" sz="1300" dirty="0"/>
          </a:p>
        </p:txBody>
      </p:sp>
      <p:sp>
        <p:nvSpPr>
          <p:cNvPr id="17" name="Arrow"/>
          <p:cNvSpPr/>
          <p:nvPr/>
        </p:nvSpPr>
        <p:spPr>
          <a:xfrm>
            <a:off x="4389120" y="1737360"/>
            <a:ext cx="320040" cy="0"/>
          </a:xfrm>
          <a:prstGeom prst="line">
            <a:avLst/>
          </a:prstGeom>
          <a:noFill/>
          <a:ln w="22225">
            <a:solidFill>
              <a:schemeClr val="accent6"/>
            </a:solidFill>
            <a:prstDash val="solid"/>
            <a:tailEnd type="triangle"/>
          </a:ln>
        </p:spPr>
      </p:sp>
      <p:sp>
        <p:nvSpPr>
          <p:cNvPr id="18" name="Step disc"/>
          <p:cNvSpPr/>
          <p:nvPr/>
        </p:nvSpPr>
        <p:spPr>
          <a:xfrm>
            <a:off x="4937760" y="1371600"/>
            <a:ext cx="731520" cy="731520"/>
          </a:xfrm>
          <a:prstGeom prst="ellipse">
            <a:avLst/>
          </a:prstGeom>
          <a:solidFill>
            <a:schemeClr val="accent1"/>
          </a:solidFill>
          <a:ln w="12700">
            <a:solidFill>
              <a:schemeClr val="accent1"/>
            </a:solidFill>
            <a:prstDash val="solid"/>
          </a:ln>
        </p:spPr>
      </p:sp>
      <p:pic>
        <p:nvPicPr>
          <p:cNvPr id="19" name="Image 3" descr="preencoded.png">    </p:cNvPr>
          <p:cNvPicPr>
            <a:picLocks noChangeAspect="1"/>
          </p:cNvPicPr>
          <p:nvPr/>
        </p:nvPicPr>
        <p:blipFill>
          <a:blip r:embed="rId4"/>
          <a:stretch>
            <a:fillRect/>
          </a:stretch>
        </p:blipFill>
        <p:spPr>
          <a:xfrm>
            <a:off x="5138928" y="1572768"/>
            <a:ext cx="329184" cy="329184"/>
          </a:xfrm>
          <a:prstGeom prst="rect">
            <a:avLst/>
          </a:prstGeom>
        </p:spPr>
      </p:pic>
      <p:sp>
        <p:nvSpPr>
          <p:cNvPr id="20" name="Text 14"/>
          <p:cNvSpPr txBox="1"/>
          <p:nvPr/>
        </p:nvSpPr>
        <p:spPr>
          <a:xfrm>
            <a:off x="4663440" y="2240280"/>
            <a:ext cx="1280160" cy="274320"/>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Confirm</a:t>
            </a:r>
            <a:endParaRPr lang="en-US" sz="1600" dirty="0"/>
          </a:p>
        </p:txBody>
      </p:sp>
      <p:sp>
        <p:nvSpPr>
          <p:cNvPr id="21" name="Text 15"/>
          <p:cNvSpPr txBox="1"/>
          <p:nvPr/>
        </p:nvSpPr>
        <p:spPr>
          <a:xfrm>
            <a:off x="4663440" y="2560320"/>
            <a:ext cx="1280160" cy="64008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a responder signs off</a:t>
            </a:r>
            <a:endParaRPr lang="en-US" sz="1300" dirty="0"/>
          </a:p>
        </p:txBody>
      </p:sp>
      <p:sp>
        <p:nvSpPr>
          <p:cNvPr id="22" name="Arrow"/>
          <p:cNvSpPr/>
          <p:nvPr/>
        </p:nvSpPr>
        <p:spPr>
          <a:xfrm>
            <a:off x="5760720" y="1737360"/>
            <a:ext cx="320040" cy="0"/>
          </a:xfrm>
          <a:prstGeom prst="line">
            <a:avLst/>
          </a:prstGeom>
          <a:noFill/>
          <a:ln w="22225">
            <a:solidFill>
              <a:schemeClr val="accent6"/>
            </a:solidFill>
            <a:prstDash val="solid"/>
            <a:tailEnd type="triangle"/>
          </a:ln>
        </p:spPr>
      </p:sp>
      <p:sp>
        <p:nvSpPr>
          <p:cNvPr id="23" name="Step disc"/>
          <p:cNvSpPr/>
          <p:nvPr/>
        </p:nvSpPr>
        <p:spPr>
          <a:xfrm>
            <a:off x="6309360" y="1371600"/>
            <a:ext cx="731520" cy="731520"/>
          </a:xfrm>
          <a:prstGeom prst="ellipse">
            <a:avLst/>
          </a:prstGeom>
          <a:solidFill>
            <a:schemeClr val="tx1"/>
          </a:solidFill>
          <a:ln w="12700">
            <a:solidFill>
              <a:schemeClr val="tx1"/>
            </a:solidFill>
            <a:prstDash val="solid"/>
          </a:ln>
        </p:spPr>
      </p:sp>
      <p:pic>
        <p:nvPicPr>
          <p:cNvPr id="24" name="Image 4" descr="preencoded.png">    </p:cNvPr>
          <p:cNvPicPr>
            <a:picLocks noChangeAspect="1"/>
          </p:cNvPicPr>
          <p:nvPr/>
        </p:nvPicPr>
        <p:blipFill>
          <a:blip r:embed="rId5"/>
          <a:stretch>
            <a:fillRect/>
          </a:stretch>
        </p:blipFill>
        <p:spPr>
          <a:xfrm>
            <a:off x="6510528" y="1572768"/>
            <a:ext cx="329184" cy="329184"/>
          </a:xfrm>
          <a:prstGeom prst="rect">
            <a:avLst/>
          </a:prstGeom>
        </p:spPr>
      </p:pic>
      <p:sp>
        <p:nvSpPr>
          <p:cNvPr id="25" name="Text 18"/>
          <p:cNvSpPr txBox="1"/>
          <p:nvPr/>
        </p:nvSpPr>
        <p:spPr>
          <a:xfrm>
            <a:off x="6035040" y="2240280"/>
            <a:ext cx="1280160" cy="274320"/>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Seal</a:t>
            </a:r>
            <a:endParaRPr lang="en-US" sz="1600" dirty="0"/>
          </a:p>
        </p:txBody>
      </p:sp>
      <p:sp>
        <p:nvSpPr>
          <p:cNvPr id="26" name="Text 19"/>
          <p:cNvSpPr txBox="1"/>
          <p:nvPr/>
        </p:nvSpPr>
        <p:spPr>
          <a:xfrm>
            <a:off x="6035040" y="2560320"/>
            <a:ext cx="1280160" cy="64008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SHA-256 chain</a:t>
            </a:r>
            <a:endParaRPr lang="en-US" sz="1300" dirty="0"/>
          </a:p>
        </p:txBody>
      </p:sp>
      <p:sp>
        <p:nvSpPr>
          <p:cNvPr id="27" name="Arrow"/>
          <p:cNvSpPr/>
          <p:nvPr/>
        </p:nvSpPr>
        <p:spPr>
          <a:xfrm>
            <a:off x="7132320" y="1737360"/>
            <a:ext cx="320040" cy="0"/>
          </a:xfrm>
          <a:prstGeom prst="line">
            <a:avLst/>
          </a:prstGeom>
          <a:noFill/>
          <a:ln w="22225">
            <a:solidFill>
              <a:schemeClr val="accent6"/>
            </a:solidFill>
            <a:prstDash val="solid"/>
            <a:tailEnd type="triangle"/>
          </a:ln>
        </p:spPr>
      </p:sp>
      <p:sp>
        <p:nvSpPr>
          <p:cNvPr id="28" name="Step disc"/>
          <p:cNvSpPr/>
          <p:nvPr/>
        </p:nvSpPr>
        <p:spPr>
          <a:xfrm>
            <a:off x="7680960" y="1371600"/>
            <a:ext cx="731520" cy="731520"/>
          </a:xfrm>
          <a:prstGeom prst="ellipse">
            <a:avLst/>
          </a:prstGeom>
          <a:solidFill>
            <a:schemeClr val="accent1"/>
          </a:solidFill>
          <a:ln w="12700">
            <a:solidFill>
              <a:schemeClr val="accent1"/>
            </a:solidFill>
            <a:prstDash val="solid"/>
          </a:ln>
        </p:spPr>
      </p:sp>
      <p:pic>
        <p:nvPicPr>
          <p:cNvPr id="29" name="Image 5" descr="preencoded.png">    </p:cNvPr>
          <p:cNvPicPr>
            <a:picLocks noChangeAspect="1"/>
          </p:cNvPicPr>
          <p:nvPr/>
        </p:nvPicPr>
        <p:blipFill>
          <a:blip r:embed="rId6"/>
          <a:stretch>
            <a:fillRect/>
          </a:stretch>
        </p:blipFill>
        <p:spPr>
          <a:xfrm>
            <a:off x="7882128" y="1572768"/>
            <a:ext cx="329184" cy="329184"/>
          </a:xfrm>
          <a:prstGeom prst="rect">
            <a:avLst/>
          </a:prstGeom>
        </p:spPr>
      </p:pic>
      <p:sp>
        <p:nvSpPr>
          <p:cNvPr id="30" name="Text 22"/>
          <p:cNvSpPr txBox="1"/>
          <p:nvPr/>
        </p:nvSpPr>
        <p:spPr>
          <a:xfrm>
            <a:off x="7406640" y="2240280"/>
            <a:ext cx="1280160" cy="274320"/>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Hand over</a:t>
            </a:r>
            <a:endParaRPr lang="en-US" sz="1600" dirty="0"/>
          </a:p>
        </p:txBody>
      </p:sp>
      <p:sp>
        <p:nvSpPr>
          <p:cNvPr id="31" name="Text 23"/>
          <p:cNvSpPr txBox="1"/>
          <p:nvPr/>
        </p:nvSpPr>
        <p:spPr>
          <a:xfrm>
            <a:off x="7406640" y="2560320"/>
            <a:ext cx="1280160" cy="64008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printable PDF</a:t>
            </a:r>
            <a:endParaRPr lang="en-US" sz="1300" dirty="0"/>
          </a:p>
        </p:txBody>
      </p:sp>
      <p:sp>
        <p:nvSpPr>
          <p:cNvPr id="32" name="Shape 24"/>
          <p:cNvSpPr/>
          <p:nvPr/>
        </p:nvSpPr>
        <p:spPr>
          <a:xfrm>
            <a:off x="548640" y="3383280"/>
            <a:ext cx="2560320" cy="1097280"/>
          </a:xfrm>
          <a:prstGeom prst="roundRect">
            <a:avLst>
              <a:gd name="adj" fmla="val 6667"/>
            </a:avLst>
          </a:prstGeom>
          <a:solidFill>
            <a:schemeClr val="bg2"/>
          </a:solidFill>
          <a:ln w="12700">
            <a:solidFill>
              <a:schemeClr val="bg2"/>
            </a:solidFill>
            <a:prstDash val="solid"/>
          </a:ln>
        </p:spPr>
      </p:sp>
      <p:sp>
        <p:nvSpPr>
          <p:cNvPr id="33" name="Text 25"/>
          <p:cNvSpPr txBox="1"/>
          <p:nvPr/>
        </p:nvSpPr>
        <p:spPr>
          <a:xfrm>
            <a:off x="731520" y="349300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Never guess</a:t>
            </a:r>
            <a:endParaRPr lang="en-US" sz="1500" dirty="0"/>
          </a:p>
        </p:txBody>
      </p:sp>
      <p:sp>
        <p:nvSpPr>
          <p:cNvPr id="34" name="Text 26"/>
          <p:cNvSpPr txBox="1"/>
          <p:nvPr/>
        </p:nvSpPr>
        <p:spPr>
          <a:xfrm>
            <a:off x="731520" y="3822192"/>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 value must appear in the responder's words, or it is flagged.</a:t>
            </a:r>
            <a:endParaRPr lang="en-US" sz="1300" dirty="0"/>
          </a:p>
        </p:txBody>
      </p:sp>
      <p:sp>
        <p:nvSpPr>
          <p:cNvPr id="35" name="Shape 27"/>
          <p:cNvSpPr/>
          <p:nvPr/>
        </p:nvSpPr>
        <p:spPr>
          <a:xfrm>
            <a:off x="3291840" y="3383280"/>
            <a:ext cx="2560320" cy="1097280"/>
          </a:xfrm>
          <a:prstGeom prst="roundRect">
            <a:avLst>
              <a:gd name="adj" fmla="val 6667"/>
            </a:avLst>
          </a:prstGeom>
          <a:solidFill>
            <a:schemeClr val="bg2"/>
          </a:solidFill>
          <a:ln w="12700">
            <a:solidFill>
              <a:schemeClr val="bg2"/>
            </a:solidFill>
            <a:prstDash val="solid"/>
          </a:ln>
        </p:spPr>
      </p:sp>
      <p:sp>
        <p:nvSpPr>
          <p:cNvPr id="36" name="Text 28"/>
          <p:cNvSpPr txBox="1"/>
          <p:nvPr/>
        </p:nvSpPr>
        <p:spPr>
          <a:xfrm>
            <a:off x="3474720" y="349300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A human confirms</a:t>
            </a:r>
            <a:endParaRPr lang="en-US" sz="1500" dirty="0"/>
          </a:p>
        </p:txBody>
      </p:sp>
      <p:sp>
        <p:nvSpPr>
          <p:cNvPr id="37" name="Text 29"/>
          <p:cNvSpPr txBox="1"/>
          <p:nvPr/>
        </p:nvSpPr>
        <p:spPr>
          <a:xfrm>
            <a:off x="3474720" y="3822192"/>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Flagged items are accepted or removed before sealing.</a:t>
            </a:r>
            <a:endParaRPr lang="en-US" sz="1300" dirty="0"/>
          </a:p>
        </p:txBody>
      </p:sp>
      <p:sp>
        <p:nvSpPr>
          <p:cNvPr id="38" name="Shape 30"/>
          <p:cNvSpPr/>
          <p:nvPr/>
        </p:nvSpPr>
        <p:spPr>
          <a:xfrm>
            <a:off x="6035040" y="3383280"/>
            <a:ext cx="2560320" cy="1097280"/>
          </a:xfrm>
          <a:prstGeom prst="roundRect">
            <a:avLst>
              <a:gd name="adj" fmla="val 6667"/>
            </a:avLst>
          </a:prstGeom>
          <a:solidFill>
            <a:schemeClr val="bg2"/>
          </a:solidFill>
          <a:ln w="12700">
            <a:solidFill>
              <a:schemeClr val="bg2"/>
            </a:solidFill>
            <a:prstDash val="solid"/>
          </a:ln>
        </p:spPr>
      </p:sp>
      <p:sp>
        <p:nvSpPr>
          <p:cNvPr id="39" name="Text 31"/>
          <p:cNvSpPr txBox="1"/>
          <p:nvPr/>
        </p:nvSpPr>
        <p:spPr>
          <a:xfrm>
            <a:off x="6217920" y="349300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Offline first</a:t>
            </a:r>
            <a:endParaRPr lang="en-US" sz="1500" dirty="0"/>
          </a:p>
        </p:txBody>
      </p:sp>
      <p:sp>
        <p:nvSpPr>
          <p:cNvPr id="40" name="Text 32"/>
          <p:cNvSpPr txBox="1"/>
          <p:nvPr/>
        </p:nvSpPr>
        <p:spPr>
          <a:xfrm>
            <a:off x="6217920" y="3822192"/>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Works on the device. Cloud mode is optional, with a local fallback.</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System architecture</a:t>
            </a:r>
            <a:endParaRPr lang="en-US" sz="2800" dirty="0"/>
          </a:p>
        </p:txBody>
      </p:sp>
      <p:sp>
        <p:nvSpPr>
          <p:cNvPr id="3" name="Device zone"/>
          <p:cNvSpPr/>
          <p:nvPr/>
        </p:nvSpPr>
        <p:spPr>
          <a:xfrm>
            <a:off x="457200" y="1097280"/>
            <a:ext cx="5577840" cy="3611880"/>
          </a:xfrm>
          <a:prstGeom prst="roundRect">
            <a:avLst>
              <a:gd name="adj" fmla="val 2532"/>
            </a:avLst>
          </a:prstGeom>
          <a:solidFill>
            <a:schemeClr val="bg2"/>
          </a:solidFill>
          <a:ln w="12700">
            <a:solidFill>
              <a:schemeClr val="bg2"/>
            </a:solidFill>
            <a:prstDash val="solid"/>
          </a:ln>
        </p:spPr>
      </p:sp>
      <p:sp>
        <p:nvSpPr>
          <p:cNvPr id="4" name="Text 2"/>
          <p:cNvSpPr txBox="1"/>
          <p:nvPr/>
        </p:nvSpPr>
        <p:spPr>
          <a:xfrm>
            <a:off x="640080" y="1170432"/>
            <a:ext cx="2743200" cy="228600"/>
          </a:xfrm>
          <a:prstGeom prst="rect">
            <a:avLst/>
          </a:prstGeom>
          <a:noFill/>
          <a:ln/>
        </p:spPr>
        <p:txBody>
          <a:bodyPr wrap="square" lIns="0" tIns="0" rIns="0" bIns="0" rtlCol="0" anchor="t"/>
          <a:lstStyle/>
          <a:p>
            <a:pPr indent="0" marL="0">
              <a:buNone/>
            </a:pPr>
            <a:r>
              <a:rPr lang="en-US" sz="1100" b="1" spc="200" kern="0" dirty="0">
                <a:solidFill>
                  <a:schemeClr val="accent6"/>
                </a:solidFill>
                <a:latin typeface="Calibri" pitchFamily="34" charset="0"/>
                <a:ea typeface="Calibri" pitchFamily="34" charset="-122"/>
                <a:cs typeface="Calibri" pitchFamily="34" charset="-120"/>
              </a:rPr>
              <a:t>RESPONDER DEVICE</a:t>
            </a:r>
            <a:endParaRPr lang="en-US" sz="1100" dirty="0"/>
          </a:p>
        </p:txBody>
      </p:sp>
      <p:sp>
        <p:nvSpPr>
          <p:cNvPr id="5" name="Box Browser app (React): landing, field app, docs"/>
          <p:cNvSpPr/>
          <p:nvPr/>
        </p:nvSpPr>
        <p:spPr>
          <a:xfrm>
            <a:off x="640080" y="1463040"/>
            <a:ext cx="5212080" cy="502920"/>
          </a:xfrm>
          <a:prstGeom prst="roundRect">
            <a:avLst>
              <a:gd name="adj" fmla="val 12727"/>
            </a:avLst>
          </a:prstGeom>
          <a:solidFill>
            <a:srgbClr val="E5EDFB"/>
          </a:solidFill>
          <a:ln w="15875">
            <a:solidFill>
              <a:schemeClr val="accent4"/>
            </a:solidFill>
            <a:prstDash val="solid"/>
          </a:ln>
        </p:spPr>
      </p:sp>
      <p:sp>
        <p:nvSpPr>
          <p:cNvPr id="6" name="Text 4"/>
          <p:cNvSpPr txBox="1"/>
          <p:nvPr/>
        </p:nvSpPr>
        <p:spPr>
          <a:xfrm>
            <a:off x="713232" y="1463040"/>
            <a:ext cx="5065776"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Browser app (React): landing, field app, docs</a:t>
            </a:r>
            <a:endParaRPr lang="en-US" sz="1400" dirty="0"/>
          </a:p>
        </p:txBody>
      </p:sp>
      <p:sp>
        <p:nvSpPr>
          <p:cNvPr id="7" name="Box FastAPI backend"/>
          <p:cNvSpPr/>
          <p:nvPr/>
        </p:nvSpPr>
        <p:spPr>
          <a:xfrm>
            <a:off x="640080" y="2240280"/>
            <a:ext cx="5212080" cy="640080"/>
          </a:xfrm>
          <a:prstGeom prst="roundRect">
            <a:avLst>
              <a:gd name="adj" fmla="val 10000"/>
            </a:avLst>
          </a:prstGeom>
          <a:solidFill>
            <a:schemeClr val="tx1"/>
          </a:solidFill>
          <a:ln w="15875">
            <a:solidFill>
              <a:schemeClr val="tx1"/>
            </a:solidFill>
            <a:prstDash val="solid"/>
          </a:ln>
        </p:spPr>
      </p:sp>
      <p:sp>
        <p:nvSpPr>
          <p:cNvPr id="8" name="Text 6"/>
          <p:cNvSpPr txBox="1"/>
          <p:nvPr/>
        </p:nvSpPr>
        <p:spPr>
          <a:xfrm>
            <a:off x="713232" y="2240280"/>
            <a:ext cx="5065776" cy="6400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FastAPI backend</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routes, extraction, validation, FHIR mapping, reports</a:t>
            </a:r>
            <a:endParaRPr lang="en-US" sz="1500" dirty="0"/>
          </a:p>
        </p:txBody>
      </p:sp>
      <p:sp>
        <p:nvSpPr>
          <p:cNvPr id="9" name="Box Whisper"/>
          <p:cNvSpPr/>
          <p:nvPr/>
        </p:nvSpPr>
        <p:spPr>
          <a:xfrm>
            <a:off x="640080" y="3154680"/>
            <a:ext cx="1207008" cy="685800"/>
          </a:xfrm>
          <a:prstGeom prst="roundRect">
            <a:avLst>
              <a:gd name="adj" fmla="val 9333"/>
            </a:avLst>
          </a:prstGeom>
          <a:solidFill>
            <a:schemeClr val="bg1"/>
          </a:solidFill>
          <a:ln w="15875">
            <a:solidFill>
              <a:schemeClr val="tx1"/>
            </a:solidFill>
            <a:prstDash val="solid"/>
          </a:ln>
        </p:spPr>
      </p:sp>
      <p:sp>
        <p:nvSpPr>
          <p:cNvPr id="10" name="Text 8"/>
          <p:cNvSpPr txBox="1"/>
          <p:nvPr/>
        </p:nvSpPr>
        <p:spPr>
          <a:xfrm>
            <a:off x="713232" y="3154680"/>
            <a:ext cx="1060704" cy="68580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Whisper</a:t>
            </a:r>
            <a:endParaRPr lang="en-US" sz="1300" dirty="0"/>
          </a:p>
          <a:p>
            <a:pPr algn="ctr" indent="0" marL="0">
              <a:buNone/>
            </a:pPr>
            <a:r>
              <a:rPr lang="en-US" sz="1100" dirty="0">
                <a:solidFill>
                  <a:schemeClr val="tx1"/>
                </a:solidFill>
                <a:latin typeface="Calibri" pitchFamily="34" charset="0"/>
                <a:ea typeface="Calibri" pitchFamily="34" charset="-122"/>
                <a:cs typeface="Calibri" pitchFamily="34" charset="-120"/>
              </a:rPr>
              <a:t>voice</a:t>
            </a:r>
            <a:endParaRPr lang="en-US" sz="1300" dirty="0"/>
          </a:p>
        </p:txBody>
      </p:sp>
      <p:sp>
        <p:nvSpPr>
          <p:cNvPr id="11" name="Box TrOCR"/>
          <p:cNvSpPr/>
          <p:nvPr/>
        </p:nvSpPr>
        <p:spPr>
          <a:xfrm>
            <a:off x="1956816" y="3154680"/>
            <a:ext cx="1207008" cy="685800"/>
          </a:xfrm>
          <a:prstGeom prst="roundRect">
            <a:avLst>
              <a:gd name="adj" fmla="val 9333"/>
            </a:avLst>
          </a:prstGeom>
          <a:solidFill>
            <a:schemeClr val="bg1"/>
          </a:solidFill>
          <a:ln w="15875">
            <a:solidFill>
              <a:schemeClr val="tx1"/>
            </a:solidFill>
            <a:prstDash val="solid"/>
          </a:ln>
        </p:spPr>
      </p:sp>
      <p:sp>
        <p:nvSpPr>
          <p:cNvPr id="12" name="Text 10"/>
          <p:cNvSpPr txBox="1"/>
          <p:nvPr/>
        </p:nvSpPr>
        <p:spPr>
          <a:xfrm>
            <a:off x="2029968" y="3154680"/>
            <a:ext cx="1060704" cy="68580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TrOCR</a:t>
            </a:r>
            <a:endParaRPr lang="en-US" sz="1300" dirty="0"/>
          </a:p>
          <a:p>
            <a:pPr algn="ctr" indent="0" marL="0">
              <a:buNone/>
            </a:pPr>
            <a:r>
              <a:rPr lang="en-US" sz="1100" dirty="0">
                <a:solidFill>
                  <a:schemeClr val="tx1"/>
                </a:solidFill>
                <a:latin typeface="Calibri" pitchFamily="34" charset="0"/>
                <a:ea typeface="Calibri" pitchFamily="34" charset="-122"/>
                <a:cs typeface="Calibri" pitchFamily="34" charset="-120"/>
              </a:rPr>
              <a:t>photos</a:t>
            </a:r>
            <a:endParaRPr lang="en-US" sz="1300" dirty="0"/>
          </a:p>
        </p:txBody>
      </p:sp>
      <p:sp>
        <p:nvSpPr>
          <p:cNvPr id="13" name="Box Ollama"/>
          <p:cNvSpPr/>
          <p:nvPr/>
        </p:nvSpPr>
        <p:spPr>
          <a:xfrm>
            <a:off x="3273552" y="3154680"/>
            <a:ext cx="1207008" cy="685800"/>
          </a:xfrm>
          <a:prstGeom prst="roundRect">
            <a:avLst>
              <a:gd name="adj" fmla="val 9333"/>
            </a:avLst>
          </a:prstGeom>
          <a:solidFill>
            <a:schemeClr val="bg1"/>
          </a:solidFill>
          <a:ln w="15875">
            <a:solidFill>
              <a:schemeClr val="tx1"/>
            </a:solidFill>
            <a:prstDash val="solid"/>
          </a:ln>
        </p:spPr>
      </p:sp>
      <p:sp>
        <p:nvSpPr>
          <p:cNvPr id="14" name="Text 12"/>
          <p:cNvSpPr txBox="1"/>
          <p:nvPr/>
        </p:nvSpPr>
        <p:spPr>
          <a:xfrm>
            <a:off x="3346704" y="3154680"/>
            <a:ext cx="1060704" cy="68580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Ollama</a:t>
            </a:r>
            <a:endParaRPr lang="en-US" sz="1300" dirty="0"/>
          </a:p>
          <a:p>
            <a:pPr algn="ctr" indent="0" marL="0">
              <a:buNone/>
            </a:pPr>
            <a:r>
              <a:rPr lang="en-US" sz="1100" dirty="0">
                <a:solidFill>
                  <a:schemeClr val="tx1"/>
                </a:solidFill>
                <a:latin typeface="Calibri" pitchFamily="34" charset="0"/>
                <a:ea typeface="Calibri" pitchFamily="34" charset="-122"/>
                <a:cs typeface="Calibri" pitchFamily="34" charset="-120"/>
              </a:rPr>
              <a:t>local LLM</a:t>
            </a:r>
            <a:endParaRPr lang="en-US" sz="1300" dirty="0"/>
          </a:p>
        </p:txBody>
      </p:sp>
      <p:sp>
        <p:nvSpPr>
          <p:cNvPr id="15" name="Box Clinical NER"/>
          <p:cNvSpPr/>
          <p:nvPr/>
        </p:nvSpPr>
        <p:spPr>
          <a:xfrm>
            <a:off x="4590288" y="3154680"/>
            <a:ext cx="1207008" cy="685800"/>
          </a:xfrm>
          <a:prstGeom prst="roundRect">
            <a:avLst>
              <a:gd name="adj" fmla="val 9333"/>
            </a:avLst>
          </a:prstGeom>
          <a:solidFill>
            <a:schemeClr val="bg1"/>
          </a:solidFill>
          <a:ln w="15875">
            <a:solidFill>
              <a:schemeClr val="tx1"/>
            </a:solidFill>
            <a:prstDash val="solid"/>
          </a:ln>
        </p:spPr>
      </p:sp>
      <p:sp>
        <p:nvSpPr>
          <p:cNvPr id="16" name="Text 14"/>
          <p:cNvSpPr txBox="1"/>
          <p:nvPr/>
        </p:nvSpPr>
        <p:spPr>
          <a:xfrm>
            <a:off x="4663440" y="3154680"/>
            <a:ext cx="1060704" cy="68580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Clinical NER</a:t>
            </a:r>
            <a:endParaRPr lang="en-US" sz="1300" dirty="0"/>
          </a:p>
          <a:p>
            <a:pPr algn="ctr" indent="0" marL="0">
              <a:buNone/>
            </a:pPr>
            <a:r>
              <a:rPr lang="en-US" sz="1100" dirty="0">
                <a:solidFill>
                  <a:schemeClr val="tx1"/>
                </a:solidFill>
                <a:latin typeface="Calibri" pitchFamily="34" charset="0"/>
                <a:ea typeface="Calibri" pitchFamily="34" charset="-122"/>
                <a:cs typeface="Calibri" pitchFamily="34" charset="-120"/>
              </a:rPr>
              <a:t>cross-check</a:t>
            </a:r>
            <a:endParaRPr lang="en-US" sz="1300" dirty="0"/>
          </a:p>
        </p:txBody>
      </p:sp>
      <p:sp>
        <p:nvSpPr>
          <p:cNvPr id="17" name="Box SQLite audit log: append-only, hash-chained"/>
          <p:cNvSpPr/>
          <p:nvPr/>
        </p:nvSpPr>
        <p:spPr>
          <a:xfrm>
            <a:off x="640080" y="4114800"/>
            <a:ext cx="5212080" cy="457200"/>
          </a:xfrm>
          <a:prstGeom prst="roundRect">
            <a:avLst>
              <a:gd name="adj" fmla="val 14000"/>
            </a:avLst>
          </a:prstGeom>
          <a:solidFill>
            <a:srgbClr val="E0F0EA"/>
          </a:solidFill>
          <a:ln w="15875">
            <a:solidFill>
              <a:schemeClr val="accent1"/>
            </a:solidFill>
            <a:prstDash val="solid"/>
          </a:ln>
        </p:spPr>
      </p:sp>
      <p:sp>
        <p:nvSpPr>
          <p:cNvPr id="18" name="Text 16"/>
          <p:cNvSpPr txBox="1"/>
          <p:nvPr/>
        </p:nvSpPr>
        <p:spPr>
          <a:xfrm>
            <a:off x="713232" y="4114800"/>
            <a:ext cx="5065776" cy="45720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SQLite audit log: append-only, hash-chained</a:t>
            </a:r>
            <a:endParaRPr lang="en-US" sz="1400" dirty="0"/>
          </a:p>
        </p:txBody>
      </p:sp>
      <p:sp>
        <p:nvSpPr>
          <p:cNvPr id="19" name="Arrow"/>
          <p:cNvSpPr/>
          <p:nvPr/>
        </p:nvSpPr>
        <p:spPr>
          <a:xfrm>
            <a:off x="3246120" y="1965960"/>
            <a:ext cx="0" cy="274320"/>
          </a:xfrm>
          <a:prstGeom prst="line">
            <a:avLst/>
          </a:prstGeom>
          <a:noFill/>
          <a:ln w="22225">
            <a:solidFill>
              <a:schemeClr val="tx1"/>
            </a:solidFill>
            <a:prstDash val="solid"/>
            <a:tailEnd type="triangle"/>
          </a:ln>
        </p:spPr>
      </p:sp>
      <p:sp>
        <p:nvSpPr>
          <p:cNvPr id="20" name="Arrow"/>
          <p:cNvSpPr/>
          <p:nvPr/>
        </p:nvSpPr>
        <p:spPr>
          <a:xfrm>
            <a:off x="3246120" y="2880360"/>
            <a:ext cx="0" cy="274320"/>
          </a:xfrm>
          <a:prstGeom prst="line">
            <a:avLst/>
          </a:prstGeom>
          <a:noFill/>
          <a:ln w="22225">
            <a:solidFill>
              <a:schemeClr val="tx1"/>
            </a:solidFill>
            <a:prstDash val="solid"/>
            <a:tailEnd type="triangle"/>
          </a:ln>
        </p:spPr>
      </p:sp>
      <p:sp>
        <p:nvSpPr>
          <p:cNvPr id="21" name="Arrow"/>
          <p:cNvSpPr/>
          <p:nvPr/>
        </p:nvSpPr>
        <p:spPr>
          <a:xfrm>
            <a:off x="3246120" y="3840480"/>
            <a:ext cx="0" cy="274320"/>
          </a:xfrm>
          <a:prstGeom prst="line">
            <a:avLst/>
          </a:prstGeom>
          <a:noFill/>
          <a:ln w="22225">
            <a:solidFill>
              <a:schemeClr val="accent1"/>
            </a:solidFill>
            <a:prstDash val="solid"/>
            <a:tailEnd type="triangle"/>
          </a:ln>
        </p:spPr>
      </p:sp>
      <p:sp>
        <p:nvSpPr>
          <p:cNvPr id="22" name="Cloud zone"/>
          <p:cNvSpPr/>
          <p:nvPr/>
        </p:nvSpPr>
        <p:spPr>
          <a:xfrm>
            <a:off x="6309360" y="1097280"/>
            <a:ext cx="2377440" cy="3611880"/>
          </a:xfrm>
          <a:prstGeom prst="roundRect">
            <a:avLst>
              <a:gd name="adj" fmla="val 3846"/>
            </a:avLst>
          </a:prstGeom>
          <a:solidFill>
            <a:schemeClr val="bg1"/>
          </a:solidFill>
          <a:ln w="12700">
            <a:solidFill>
              <a:srgbClr val="C9D2D5"/>
            </a:solidFill>
            <a:prstDash val="dash"/>
          </a:ln>
        </p:spPr>
      </p:sp>
      <p:sp>
        <p:nvSpPr>
          <p:cNvPr id="23" name="Text 21"/>
          <p:cNvSpPr txBox="1"/>
          <p:nvPr/>
        </p:nvSpPr>
        <p:spPr>
          <a:xfrm>
            <a:off x="6446520" y="1170432"/>
            <a:ext cx="2103120" cy="228600"/>
          </a:xfrm>
          <a:prstGeom prst="rect">
            <a:avLst/>
          </a:prstGeom>
          <a:noFill/>
          <a:ln/>
        </p:spPr>
        <p:txBody>
          <a:bodyPr wrap="square" lIns="0" tIns="0" rIns="0" bIns="0" rtlCol="0" anchor="t"/>
          <a:lstStyle/>
          <a:p>
            <a:pPr indent="0" marL="0">
              <a:buNone/>
            </a:pPr>
            <a:r>
              <a:rPr lang="en-US" sz="1100" b="1" spc="200" kern="0" dirty="0">
                <a:solidFill>
                  <a:schemeClr val="accent6"/>
                </a:solidFill>
                <a:latin typeface="Calibri" pitchFamily="34" charset="0"/>
                <a:ea typeface="Calibri" pitchFamily="34" charset="-122"/>
                <a:cs typeface="Calibri" pitchFamily="34" charset="-120"/>
              </a:rPr>
              <a:t>CLOUD (OPTIONAL)</a:t>
            </a:r>
            <a:endParaRPr lang="en-US" sz="1100" dirty="0"/>
          </a:p>
        </p:txBody>
      </p:sp>
      <p:sp>
        <p:nvSpPr>
          <p:cNvPr id="24" name="Box Groq"/>
          <p:cNvSpPr/>
          <p:nvPr/>
        </p:nvSpPr>
        <p:spPr>
          <a:xfrm>
            <a:off x="6492240" y="2194560"/>
            <a:ext cx="2011680" cy="685800"/>
          </a:xfrm>
          <a:prstGeom prst="roundRect">
            <a:avLst>
              <a:gd name="adj" fmla="val 9333"/>
            </a:avLst>
          </a:prstGeom>
          <a:solidFill>
            <a:srgbClr val="FCEFD6"/>
          </a:solidFill>
          <a:ln w="15875">
            <a:solidFill>
              <a:schemeClr val="accent3"/>
            </a:solidFill>
            <a:prstDash val="solid"/>
          </a:ln>
        </p:spPr>
      </p:sp>
      <p:sp>
        <p:nvSpPr>
          <p:cNvPr id="25" name="Text 23"/>
          <p:cNvSpPr txBox="1"/>
          <p:nvPr/>
        </p:nvSpPr>
        <p:spPr>
          <a:xfrm>
            <a:off x="6565392" y="2194560"/>
            <a:ext cx="1865376" cy="68580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Groq</a:t>
            </a:r>
            <a:endParaRPr lang="en-US" sz="1500" dirty="0"/>
          </a:p>
          <a:p>
            <a:pPr algn="ctr" indent="0" marL="0">
              <a:buNone/>
            </a:pPr>
            <a:r>
              <a:rPr lang="en-US" sz="1100" dirty="0">
                <a:solidFill>
                  <a:schemeClr val="tx1"/>
                </a:solidFill>
                <a:latin typeface="Calibri" pitchFamily="34" charset="0"/>
                <a:ea typeface="Calibri" pitchFamily="34" charset="-122"/>
                <a:cs typeface="Calibri" pitchFamily="34" charset="-120"/>
              </a:rPr>
              <a:t>online mode only</a:t>
            </a:r>
            <a:endParaRPr lang="en-US" sz="1500" dirty="0"/>
          </a:p>
        </p:txBody>
      </p:sp>
      <p:sp>
        <p:nvSpPr>
          <p:cNvPr id="26" name="Box Dashboard (Next.js)"/>
          <p:cNvSpPr/>
          <p:nvPr/>
        </p:nvSpPr>
        <p:spPr>
          <a:xfrm>
            <a:off x="6492240" y="3108960"/>
            <a:ext cx="2011680" cy="502920"/>
          </a:xfrm>
          <a:prstGeom prst="roundRect">
            <a:avLst>
              <a:gd name="adj" fmla="val 12727"/>
            </a:avLst>
          </a:prstGeom>
          <a:solidFill>
            <a:srgbClr val="E5EDFB"/>
          </a:solidFill>
          <a:ln w="15875">
            <a:solidFill>
              <a:schemeClr val="accent4"/>
            </a:solidFill>
            <a:prstDash val="solid"/>
          </a:ln>
        </p:spPr>
      </p:sp>
      <p:sp>
        <p:nvSpPr>
          <p:cNvPr id="27" name="Text 25"/>
          <p:cNvSpPr txBox="1"/>
          <p:nvPr/>
        </p:nvSpPr>
        <p:spPr>
          <a:xfrm>
            <a:off x="6565392" y="3108960"/>
            <a:ext cx="1865376"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Dashboard (Next.js)</a:t>
            </a:r>
            <a:endParaRPr lang="en-US" sz="1300" dirty="0"/>
          </a:p>
        </p:txBody>
      </p:sp>
      <p:sp>
        <p:nvSpPr>
          <p:cNvPr id="28" name="Box Supabase"/>
          <p:cNvSpPr/>
          <p:nvPr/>
        </p:nvSpPr>
        <p:spPr>
          <a:xfrm>
            <a:off x="6492240" y="3931920"/>
            <a:ext cx="2011680" cy="548640"/>
          </a:xfrm>
          <a:prstGeom prst="roundRect">
            <a:avLst>
              <a:gd name="adj" fmla="val 11667"/>
            </a:avLst>
          </a:prstGeom>
          <a:solidFill>
            <a:schemeClr val="bg1"/>
          </a:solidFill>
          <a:ln w="15875">
            <a:solidFill>
              <a:schemeClr val="tx1"/>
            </a:solidFill>
            <a:prstDash val="solid"/>
          </a:ln>
        </p:spPr>
      </p:sp>
      <p:sp>
        <p:nvSpPr>
          <p:cNvPr id="29" name="Text 27"/>
          <p:cNvSpPr txBox="1"/>
          <p:nvPr/>
        </p:nvSpPr>
        <p:spPr>
          <a:xfrm>
            <a:off x="6565392" y="3931920"/>
            <a:ext cx="1865376"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Supabase</a:t>
            </a:r>
            <a:endParaRPr lang="en-US" sz="1400" dirty="0"/>
          </a:p>
          <a:p>
            <a:pPr algn="ctr" indent="0" marL="0">
              <a:buNone/>
            </a:pPr>
            <a:r>
              <a:rPr lang="en-US" sz="1100" dirty="0">
                <a:solidFill>
                  <a:schemeClr val="tx1"/>
                </a:solidFill>
                <a:latin typeface="Calibri" pitchFamily="34" charset="0"/>
                <a:ea typeface="Calibri" pitchFamily="34" charset="-122"/>
                <a:cs typeface="Calibri" pitchFamily="34" charset="-120"/>
              </a:rPr>
              <a:t>synced audit log</a:t>
            </a:r>
            <a:endParaRPr lang="en-US" sz="1400" dirty="0"/>
          </a:p>
        </p:txBody>
      </p:sp>
      <p:sp>
        <p:nvSpPr>
          <p:cNvPr id="30" name="Arrow"/>
          <p:cNvSpPr/>
          <p:nvPr/>
        </p:nvSpPr>
        <p:spPr>
          <a:xfrm>
            <a:off x="5852160" y="2560320"/>
            <a:ext cx="640080" cy="0"/>
          </a:xfrm>
          <a:prstGeom prst="line">
            <a:avLst/>
          </a:prstGeom>
          <a:noFill/>
          <a:ln w="22225">
            <a:solidFill>
              <a:schemeClr val="accent3"/>
            </a:solidFill>
            <a:prstDash val="dash"/>
            <a:tailEnd type="triangle"/>
          </a:ln>
        </p:spPr>
      </p:sp>
      <p:sp>
        <p:nvSpPr>
          <p:cNvPr id="31" name="Arrow"/>
          <p:cNvSpPr/>
          <p:nvPr/>
        </p:nvSpPr>
        <p:spPr>
          <a:xfrm flipV="1">
            <a:off x="5852160" y="4206240"/>
            <a:ext cx="640080" cy="137160"/>
          </a:xfrm>
          <a:prstGeom prst="line">
            <a:avLst/>
          </a:prstGeom>
          <a:noFill/>
          <a:ln w="22225">
            <a:solidFill>
              <a:schemeClr val="tx1"/>
            </a:solidFill>
            <a:prstDash val="dash"/>
            <a:tailEnd type="triangle"/>
          </a:ln>
        </p:spPr>
      </p:sp>
      <p:sp>
        <p:nvSpPr>
          <p:cNvPr id="32" name="Arrow"/>
          <p:cNvSpPr/>
          <p:nvPr/>
        </p:nvSpPr>
        <p:spPr>
          <a:xfrm flipV="1">
            <a:off x="7498080" y="3611880"/>
            <a:ext cx="0" cy="320040"/>
          </a:xfrm>
          <a:prstGeom prst="line">
            <a:avLst/>
          </a:prstGeom>
          <a:noFill/>
          <a:ln w="22225">
            <a:solidFill>
              <a:schemeClr val="tx1"/>
            </a:solidFill>
            <a:prstDash val="solid"/>
            <a:tailEnd type="triangle"/>
          </a:ln>
        </p:spPr>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Technology</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920240"/>
                <a:gridCol w="6126480"/>
              </a:tblGrid>
              <a:tr h="420624">
                <a:tc>
                  <a:txBody>
                    <a:bodyPr/>
                    <a:lstStyle/>
                    <a:p>
                      <a:pPr indent="0" marL="0">
                        <a:buNone/>
                      </a:pPr>
                      <a:r>
                        <a:rPr lang="en-US" sz="1300" b="1" dirty="0">
                          <a:solidFill>
                            <a:schemeClr val="bg1"/>
                          </a:solidFill>
                          <a:latin typeface="Arial" pitchFamily="34" charset="0"/>
                          <a:ea typeface="Arial" pitchFamily="34" charset="-122"/>
                          <a:cs typeface="Arial" pitchFamily="34" charset="-120"/>
                        </a:rPr>
                        <a:t>Layer</a:t>
                      </a:r>
                      <a:endParaRPr lang="en-US" sz="1300" dirty="0">
                        <a:latin typeface="Arial" charset="0"/>
                        <a:ea typeface="Arial" charset="0"/>
                        <a:cs typeface="Arial"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Arial" pitchFamily="34" charset="0"/>
                          <a:ea typeface="Arial" pitchFamily="34" charset="-122"/>
                          <a:cs typeface="Arial" pitchFamily="34" charset="-120"/>
                        </a:rPr>
                        <a:t>Technology</a:t>
                      </a:r>
                      <a:endParaRPr lang="en-US" sz="1300" dirty="0">
                        <a:latin typeface="Arial" charset="0"/>
                        <a:ea typeface="Arial" charset="0"/>
                        <a:cs typeface="Arial"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tx1"/>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Backend</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Python, FastAPI, Pydantic, SQLite (WAL), Jinja2, ReportLab</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2"/>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Speech</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whisper.cpp or local Whisper; Groq Whisper online</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Handwriting</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TrOCR (trocr-base-handwritten) and EasyOCR</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2"/>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Language model</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Ollama, default qwen3:8b; Groq openai/gpt-oss-120b online</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Clinical NER</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samrawal clinical-ner and Bio_ClinicalBERT (optional)</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2"/>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Responder app</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React 18, Vite, Lenis smooth scroll</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Dashboard</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Next.js 14 with the Supabase client</a:t>
                      </a:r>
                      <a:endParaRPr lang="en-US" sz="1400" dirty="0">
                        <a:latin typeface="Calibri" charset="0"/>
                        <a:ea typeface="Calibri" charset="0"/>
                        <a:cs typeface="Calibri" charset="0"/>
                      </a:endParaRPr>
                    </a:p>
                  </a:txBody>
                  <a:tcPr marL="109728" marR="109728" marT="0" marB="0" anchor="ctr">
                    <a:lnL w="6350" cap="flat" cmpd="sng" algn="ctr">
                      <a:solidFill>
                        <a:srgbClr val="D5DDDB"/>
                      </a:solidFill>
                      <a:prstDash val="solid"/>
                      <a:round/>
                      <a:headEnd type="none" w="med" len="med"/>
                      <a:tailEnd type="none" w="med" len="med"/>
                    </a:lnL>
                    <a:lnR w="6350" cap="flat" cmpd="sng" algn="ctr">
                      <a:solidFill>
                        <a:srgbClr val="D5DDDB"/>
                      </a:solidFill>
                      <a:prstDash val="solid"/>
                      <a:round/>
                      <a:headEnd type="none" w="med" len="med"/>
                      <a:tailEnd type="none" w="med" len="med"/>
                    </a:lnR>
                    <a:lnT w="6350" cap="flat" cmpd="sng" algn="ctr">
                      <a:solidFill>
                        <a:srgbClr val="D5DDDB"/>
                      </a:solidFill>
                      <a:prstDash val="solid"/>
                      <a:round/>
                      <a:headEnd type="none" w="med" len="med"/>
                      <a:tailEnd type="none" w="med" len="med"/>
                    </a:lnT>
                    <a:lnB w="6350" cap="flat" cmpd="sng" algn="ctr">
                      <a:solidFill>
                        <a:srgbClr val="D5DD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From note to record</a:t>
            </a:r>
            <a:endParaRPr lang="en-US" sz="2800" dirty="0"/>
          </a:p>
        </p:txBody>
      </p:sp>
      <p:sp>
        <p:nvSpPr>
          <p:cNvPr id="3" name="Box 1 Capture"/>
          <p:cNvSpPr/>
          <p:nvPr/>
        </p:nvSpPr>
        <p:spPr>
          <a:xfrm>
            <a:off x="548640" y="1280160"/>
            <a:ext cx="1783080" cy="1051560"/>
          </a:xfrm>
          <a:prstGeom prst="roundRect">
            <a:avLst>
              <a:gd name="adj" fmla="val 6087"/>
            </a:avLst>
          </a:prstGeom>
          <a:solidFill>
            <a:srgbClr val="E5EDFB"/>
          </a:solidFill>
          <a:ln w="15875">
            <a:solidFill>
              <a:schemeClr val="accent4"/>
            </a:solidFill>
            <a:prstDash val="solid"/>
          </a:ln>
        </p:spPr>
      </p:sp>
      <p:sp>
        <p:nvSpPr>
          <p:cNvPr id="4" name="Text 2"/>
          <p:cNvSpPr txBox="1"/>
          <p:nvPr/>
        </p:nvSpPr>
        <p:spPr>
          <a:xfrm>
            <a:off x="621792" y="1280160"/>
            <a:ext cx="1636776" cy="10515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1 Capture</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voice, text, photo</a:t>
            </a:r>
            <a:endParaRPr lang="en-US" sz="1500" dirty="0"/>
          </a:p>
        </p:txBody>
      </p:sp>
      <p:sp>
        <p:nvSpPr>
          <p:cNvPr id="5" name="Arrow"/>
          <p:cNvSpPr/>
          <p:nvPr/>
        </p:nvSpPr>
        <p:spPr>
          <a:xfrm>
            <a:off x="2331720" y="1805940"/>
            <a:ext cx="301752" cy="0"/>
          </a:xfrm>
          <a:prstGeom prst="line">
            <a:avLst/>
          </a:prstGeom>
          <a:noFill/>
          <a:ln w="22225">
            <a:solidFill>
              <a:schemeClr val="tx1"/>
            </a:solidFill>
            <a:prstDash val="solid"/>
            <a:tailEnd type="triangle"/>
          </a:ln>
        </p:spPr>
      </p:sp>
      <p:sp>
        <p:nvSpPr>
          <p:cNvPr id="6" name="Box 2 Transcribe"/>
          <p:cNvSpPr/>
          <p:nvPr/>
        </p:nvSpPr>
        <p:spPr>
          <a:xfrm>
            <a:off x="2633472" y="1280160"/>
            <a:ext cx="1783080" cy="1051560"/>
          </a:xfrm>
          <a:prstGeom prst="roundRect">
            <a:avLst>
              <a:gd name="adj" fmla="val 6087"/>
            </a:avLst>
          </a:prstGeom>
          <a:solidFill>
            <a:schemeClr val="bg1"/>
          </a:solidFill>
          <a:ln w="15875">
            <a:solidFill>
              <a:schemeClr val="tx1"/>
            </a:solidFill>
            <a:prstDash val="solid"/>
          </a:ln>
        </p:spPr>
      </p:sp>
      <p:sp>
        <p:nvSpPr>
          <p:cNvPr id="7" name="Text 5"/>
          <p:cNvSpPr txBox="1"/>
          <p:nvPr/>
        </p:nvSpPr>
        <p:spPr>
          <a:xfrm>
            <a:off x="2706624" y="1280160"/>
            <a:ext cx="1636776" cy="10515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2 Transcribe</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Whisper or OCR</a:t>
            </a:r>
            <a:endParaRPr lang="en-US" sz="1500" dirty="0"/>
          </a:p>
        </p:txBody>
      </p:sp>
      <p:sp>
        <p:nvSpPr>
          <p:cNvPr id="8" name="Arrow"/>
          <p:cNvSpPr/>
          <p:nvPr/>
        </p:nvSpPr>
        <p:spPr>
          <a:xfrm>
            <a:off x="4416552" y="1805940"/>
            <a:ext cx="301752" cy="0"/>
          </a:xfrm>
          <a:prstGeom prst="line">
            <a:avLst/>
          </a:prstGeom>
          <a:noFill/>
          <a:ln w="22225">
            <a:solidFill>
              <a:schemeClr val="tx1"/>
            </a:solidFill>
            <a:prstDash val="solid"/>
            <a:tailEnd type="triangle"/>
          </a:ln>
        </p:spPr>
      </p:sp>
      <p:sp>
        <p:nvSpPr>
          <p:cNvPr id="9" name="Box 3 Extract"/>
          <p:cNvSpPr/>
          <p:nvPr/>
        </p:nvSpPr>
        <p:spPr>
          <a:xfrm>
            <a:off x="4718304" y="1280160"/>
            <a:ext cx="1783080" cy="1051560"/>
          </a:xfrm>
          <a:prstGeom prst="roundRect">
            <a:avLst>
              <a:gd name="adj" fmla="val 6087"/>
            </a:avLst>
          </a:prstGeom>
          <a:solidFill>
            <a:srgbClr val="FCEFD6"/>
          </a:solidFill>
          <a:ln w="15875">
            <a:solidFill>
              <a:schemeClr val="accent3"/>
            </a:solidFill>
            <a:prstDash val="solid"/>
          </a:ln>
        </p:spPr>
      </p:sp>
      <p:sp>
        <p:nvSpPr>
          <p:cNvPr id="10" name="Text 8"/>
          <p:cNvSpPr txBox="1"/>
          <p:nvPr/>
        </p:nvSpPr>
        <p:spPr>
          <a:xfrm>
            <a:off x="4791456" y="1280160"/>
            <a:ext cx="1636776" cy="10515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3 Extract</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Groq, Ollama or rules</a:t>
            </a:r>
            <a:endParaRPr lang="en-US" sz="1500" dirty="0"/>
          </a:p>
        </p:txBody>
      </p:sp>
      <p:sp>
        <p:nvSpPr>
          <p:cNvPr id="11" name="Arrow"/>
          <p:cNvSpPr/>
          <p:nvPr/>
        </p:nvSpPr>
        <p:spPr>
          <a:xfrm>
            <a:off x="6501384" y="1805940"/>
            <a:ext cx="301752" cy="0"/>
          </a:xfrm>
          <a:prstGeom prst="line">
            <a:avLst/>
          </a:prstGeom>
          <a:noFill/>
          <a:ln w="22225">
            <a:solidFill>
              <a:schemeClr val="tx1"/>
            </a:solidFill>
            <a:prstDash val="solid"/>
            <a:tailEnd type="triangle"/>
          </a:ln>
        </p:spPr>
      </p:sp>
      <p:sp>
        <p:nvSpPr>
          <p:cNvPr id="12" name="Box 4 Validate"/>
          <p:cNvSpPr/>
          <p:nvPr/>
        </p:nvSpPr>
        <p:spPr>
          <a:xfrm>
            <a:off x="6803136" y="1280160"/>
            <a:ext cx="1783080" cy="1051560"/>
          </a:xfrm>
          <a:prstGeom prst="roundRect">
            <a:avLst>
              <a:gd name="adj" fmla="val 6087"/>
            </a:avLst>
          </a:prstGeom>
          <a:solidFill>
            <a:schemeClr val="bg1"/>
          </a:solidFill>
          <a:ln w="15875">
            <a:solidFill>
              <a:schemeClr val="tx1"/>
            </a:solidFill>
            <a:prstDash val="solid"/>
          </a:ln>
        </p:spPr>
      </p:sp>
      <p:sp>
        <p:nvSpPr>
          <p:cNvPr id="13" name="Text 11"/>
          <p:cNvSpPr txBox="1"/>
          <p:nvPr/>
        </p:nvSpPr>
        <p:spPr>
          <a:xfrm>
            <a:off x="6876288" y="1280160"/>
            <a:ext cx="1636776" cy="10515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4 Validate</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10 plain-Python rules</a:t>
            </a:r>
            <a:endParaRPr lang="en-US" sz="1500" dirty="0"/>
          </a:p>
        </p:txBody>
      </p:sp>
      <p:sp>
        <p:nvSpPr>
          <p:cNvPr id="14" name="Box 5 Cross-check"/>
          <p:cNvSpPr/>
          <p:nvPr/>
        </p:nvSpPr>
        <p:spPr>
          <a:xfrm>
            <a:off x="6803136" y="3108960"/>
            <a:ext cx="1783080" cy="1051560"/>
          </a:xfrm>
          <a:prstGeom prst="roundRect">
            <a:avLst>
              <a:gd name="adj" fmla="val 6087"/>
            </a:avLst>
          </a:prstGeom>
          <a:solidFill>
            <a:schemeClr val="bg1"/>
          </a:solidFill>
          <a:ln w="15875">
            <a:solidFill>
              <a:schemeClr val="tx1"/>
            </a:solidFill>
            <a:prstDash val="solid"/>
          </a:ln>
        </p:spPr>
      </p:sp>
      <p:sp>
        <p:nvSpPr>
          <p:cNvPr id="15" name="Text 13"/>
          <p:cNvSpPr txBox="1"/>
          <p:nvPr/>
        </p:nvSpPr>
        <p:spPr>
          <a:xfrm>
            <a:off x="6876288" y="3108960"/>
            <a:ext cx="1636776" cy="10515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5 Cross-check</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optional clinical NER</a:t>
            </a:r>
            <a:endParaRPr lang="en-US" sz="1500" dirty="0"/>
          </a:p>
        </p:txBody>
      </p:sp>
      <p:sp>
        <p:nvSpPr>
          <p:cNvPr id="16" name="Arrow"/>
          <p:cNvSpPr/>
          <p:nvPr/>
        </p:nvSpPr>
        <p:spPr>
          <a:xfrm flipH="1">
            <a:off x="6501384" y="3634740"/>
            <a:ext cx="301752" cy="0"/>
          </a:xfrm>
          <a:prstGeom prst="line">
            <a:avLst/>
          </a:prstGeom>
          <a:noFill/>
          <a:ln w="22225">
            <a:solidFill>
              <a:schemeClr val="tx1"/>
            </a:solidFill>
            <a:prstDash val="solid"/>
            <a:tailEnd type="triangle"/>
          </a:ln>
        </p:spPr>
      </p:sp>
      <p:sp>
        <p:nvSpPr>
          <p:cNvPr id="17" name="Box 6 Review"/>
          <p:cNvSpPr/>
          <p:nvPr/>
        </p:nvSpPr>
        <p:spPr>
          <a:xfrm>
            <a:off x="4718304" y="3108960"/>
            <a:ext cx="1783080" cy="1051560"/>
          </a:xfrm>
          <a:prstGeom prst="roundRect">
            <a:avLst>
              <a:gd name="adj" fmla="val 6087"/>
            </a:avLst>
          </a:prstGeom>
          <a:solidFill>
            <a:srgbClr val="FCEFD6"/>
          </a:solidFill>
          <a:ln w="15875">
            <a:solidFill>
              <a:schemeClr val="accent3"/>
            </a:solidFill>
            <a:prstDash val="solid"/>
          </a:ln>
        </p:spPr>
      </p:sp>
      <p:sp>
        <p:nvSpPr>
          <p:cNvPr id="18" name="Text 16"/>
          <p:cNvSpPr txBox="1"/>
          <p:nvPr/>
        </p:nvSpPr>
        <p:spPr>
          <a:xfrm>
            <a:off x="4791456" y="3108960"/>
            <a:ext cx="1636776" cy="10515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6 Review</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resolve every flag</a:t>
            </a:r>
            <a:endParaRPr lang="en-US" sz="1500" dirty="0"/>
          </a:p>
        </p:txBody>
      </p:sp>
      <p:sp>
        <p:nvSpPr>
          <p:cNvPr id="19" name="Arrow"/>
          <p:cNvSpPr/>
          <p:nvPr/>
        </p:nvSpPr>
        <p:spPr>
          <a:xfrm flipH="1">
            <a:off x="4416552" y="3634740"/>
            <a:ext cx="301752" cy="0"/>
          </a:xfrm>
          <a:prstGeom prst="line">
            <a:avLst/>
          </a:prstGeom>
          <a:noFill/>
          <a:ln w="22225">
            <a:solidFill>
              <a:schemeClr val="tx1"/>
            </a:solidFill>
            <a:prstDash val="solid"/>
            <a:tailEnd type="triangle"/>
          </a:ln>
        </p:spPr>
      </p:sp>
      <p:sp>
        <p:nvSpPr>
          <p:cNvPr id="20" name="Box 7 Confirm"/>
          <p:cNvSpPr/>
          <p:nvPr/>
        </p:nvSpPr>
        <p:spPr>
          <a:xfrm>
            <a:off x="2633472" y="3108960"/>
            <a:ext cx="1783080" cy="1051560"/>
          </a:xfrm>
          <a:prstGeom prst="roundRect">
            <a:avLst>
              <a:gd name="adj" fmla="val 6087"/>
            </a:avLst>
          </a:prstGeom>
          <a:solidFill>
            <a:schemeClr val="bg1"/>
          </a:solidFill>
          <a:ln w="15875">
            <a:solidFill>
              <a:schemeClr val="tx1"/>
            </a:solidFill>
            <a:prstDash val="solid"/>
          </a:ln>
        </p:spPr>
      </p:sp>
      <p:sp>
        <p:nvSpPr>
          <p:cNvPr id="21" name="Text 19"/>
          <p:cNvSpPr txBox="1"/>
          <p:nvPr/>
        </p:nvSpPr>
        <p:spPr>
          <a:xfrm>
            <a:off x="2706624" y="3108960"/>
            <a:ext cx="1636776" cy="10515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7 Confirm</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responder ID required</a:t>
            </a:r>
            <a:endParaRPr lang="en-US" sz="1500" dirty="0"/>
          </a:p>
        </p:txBody>
      </p:sp>
      <p:sp>
        <p:nvSpPr>
          <p:cNvPr id="22" name="Arrow"/>
          <p:cNvSpPr/>
          <p:nvPr/>
        </p:nvSpPr>
        <p:spPr>
          <a:xfrm flipH="1">
            <a:off x="2331720" y="3634740"/>
            <a:ext cx="301752" cy="0"/>
          </a:xfrm>
          <a:prstGeom prst="line">
            <a:avLst/>
          </a:prstGeom>
          <a:noFill/>
          <a:ln w="22225">
            <a:solidFill>
              <a:schemeClr val="tx1"/>
            </a:solidFill>
            <a:prstDash val="solid"/>
            <a:tailEnd type="triangle"/>
          </a:ln>
        </p:spPr>
      </p:sp>
      <p:sp>
        <p:nvSpPr>
          <p:cNvPr id="23" name="Box 8 Seal"/>
          <p:cNvSpPr/>
          <p:nvPr/>
        </p:nvSpPr>
        <p:spPr>
          <a:xfrm>
            <a:off x="548640" y="3108960"/>
            <a:ext cx="1783080" cy="1051560"/>
          </a:xfrm>
          <a:prstGeom prst="roundRect">
            <a:avLst>
              <a:gd name="adj" fmla="val 6087"/>
            </a:avLst>
          </a:prstGeom>
          <a:solidFill>
            <a:srgbClr val="E0F0EA"/>
          </a:solidFill>
          <a:ln w="15875">
            <a:solidFill>
              <a:schemeClr val="accent1"/>
            </a:solidFill>
            <a:prstDash val="solid"/>
          </a:ln>
        </p:spPr>
      </p:sp>
      <p:sp>
        <p:nvSpPr>
          <p:cNvPr id="24" name="Text 22"/>
          <p:cNvSpPr txBox="1"/>
          <p:nvPr/>
        </p:nvSpPr>
        <p:spPr>
          <a:xfrm>
            <a:off x="621792" y="3108960"/>
            <a:ext cx="1636776" cy="10515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8 Seal</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SHA-256 hash chain</a:t>
            </a:r>
            <a:endParaRPr lang="en-US" sz="1500" dirty="0"/>
          </a:p>
        </p:txBody>
      </p:sp>
      <p:sp>
        <p:nvSpPr>
          <p:cNvPr id="25" name="Arrow"/>
          <p:cNvSpPr/>
          <p:nvPr/>
        </p:nvSpPr>
        <p:spPr>
          <a:xfrm>
            <a:off x="7694676" y="2331720"/>
            <a:ext cx="0" cy="777240"/>
          </a:xfrm>
          <a:prstGeom prst="line">
            <a:avLst/>
          </a:prstGeom>
          <a:noFill/>
          <a:ln w="22225">
            <a:solidFill>
              <a:schemeClr val="tx1"/>
            </a:solidFill>
            <a:prstDash val="solid"/>
            <a:tailEnd type="triangle"/>
          </a:ln>
        </p:spPr>
      </p:sp>
      <p:sp>
        <p:nvSpPr>
          <p:cNvPr id="26" name="Text 24"/>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Then: handover report (HTML and PDF), and an optional sync to the supervisor dashboard.</a:t>
            </a:r>
            <a:endParaRPr lang="en-US" sz="14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Three ways in</a:t>
            </a:r>
            <a:endParaRPr lang="en-US" sz="2800" dirty="0"/>
          </a:p>
        </p:txBody>
      </p:sp>
      <p:sp>
        <p:nvSpPr>
          <p:cNvPr id="3" name="Shape 1"/>
          <p:cNvSpPr/>
          <p:nvPr/>
        </p:nvSpPr>
        <p:spPr>
          <a:xfrm>
            <a:off x="548640" y="1234440"/>
            <a:ext cx="2560320" cy="2743200"/>
          </a:xfrm>
          <a:prstGeom prst="roundRect">
            <a:avLst>
              <a:gd name="adj" fmla="val 2857"/>
            </a:avLst>
          </a:prstGeom>
          <a:solidFill>
            <a:schemeClr val="bg1"/>
          </a:solidFill>
          <a:ln w="9525">
            <a:solidFill>
              <a:srgbClr val="C9D2D5"/>
            </a:solidFill>
            <a:prstDash val="solid"/>
          </a:ln>
        </p:spPr>
      </p:sp>
      <p:sp>
        <p:nvSpPr>
          <p:cNvPr id="4" name="Icon disc"/>
          <p:cNvSpPr/>
          <p:nvPr/>
        </p:nvSpPr>
        <p:spPr>
          <a:xfrm>
            <a:off x="777240" y="1463040"/>
            <a:ext cx="566928" cy="566928"/>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32688" y="1618488"/>
            <a:ext cx="256032" cy="256032"/>
          </a:xfrm>
          <a:prstGeom prst="rect">
            <a:avLst/>
          </a:prstGeom>
        </p:spPr>
      </p:pic>
      <p:sp>
        <p:nvSpPr>
          <p:cNvPr id="6" name="Text 3"/>
          <p:cNvSpPr txBox="1"/>
          <p:nvPr/>
        </p:nvSpPr>
        <p:spPr>
          <a:xfrm>
            <a:off x="777240" y="2194560"/>
            <a:ext cx="2148840" cy="32004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Voice</a:t>
            </a:r>
            <a:endParaRPr lang="en-US" sz="1700" dirty="0"/>
          </a:p>
        </p:txBody>
      </p:sp>
      <p:sp>
        <p:nvSpPr>
          <p:cNvPr id="7" name="Text 4"/>
          <p:cNvSpPr txBox="1"/>
          <p:nvPr/>
        </p:nvSpPr>
        <p:spPr>
          <a:xfrm>
            <a:off x="777240" y="2606040"/>
            <a:ext cx="214884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Speech becomes text on the device with whisper.cpp or a local Whisper pipeline. Online mode uses Groq Whisper.</a:t>
            </a:r>
            <a:endParaRPr lang="en-US" sz="1400" dirty="0"/>
          </a:p>
        </p:txBody>
      </p:sp>
      <p:sp>
        <p:nvSpPr>
          <p:cNvPr id="8" name="Shape 5"/>
          <p:cNvSpPr/>
          <p:nvPr/>
        </p:nvSpPr>
        <p:spPr>
          <a:xfrm>
            <a:off x="3291840" y="1234440"/>
            <a:ext cx="2560320" cy="2743200"/>
          </a:xfrm>
          <a:prstGeom prst="roundRect">
            <a:avLst>
              <a:gd name="adj" fmla="val 2857"/>
            </a:avLst>
          </a:prstGeom>
          <a:solidFill>
            <a:schemeClr val="bg1"/>
          </a:solidFill>
          <a:ln w="9525">
            <a:solidFill>
              <a:srgbClr val="C9D2D5"/>
            </a:solidFill>
            <a:prstDash val="solid"/>
          </a:ln>
        </p:spPr>
      </p:sp>
      <p:sp>
        <p:nvSpPr>
          <p:cNvPr id="9" name="Icon disc"/>
          <p:cNvSpPr/>
          <p:nvPr/>
        </p:nvSpPr>
        <p:spPr>
          <a:xfrm>
            <a:off x="3520440" y="1463040"/>
            <a:ext cx="566928" cy="566928"/>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675888" y="1618488"/>
            <a:ext cx="256032" cy="256032"/>
          </a:xfrm>
          <a:prstGeom prst="rect">
            <a:avLst/>
          </a:prstGeom>
        </p:spPr>
      </p:pic>
      <p:sp>
        <p:nvSpPr>
          <p:cNvPr id="11" name="Text 7"/>
          <p:cNvSpPr txBox="1"/>
          <p:nvPr/>
        </p:nvSpPr>
        <p:spPr>
          <a:xfrm>
            <a:off x="3520440" y="2194560"/>
            <a:ext cx="2148840" cy="32004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Typed text</a:t>
            </a:r>
            <a:endParaRPr lang="en-US" sz="1700" dirty="0"/>
          </a:p>
        </p:txBody>
      </p:sp>
      <p:sp>
        <p:nvSpPr>
          <p:cNvPr id="12" name="Text 8"/>
          <p:cNvSpPr txBox="1"/>
          <p:nvPr/>
        </p:nvSpPr>
        <p:spPr>
          <a:xfrm>
            <a:off x="3520440" y="2606040"/>
            <a:ext cx="214884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Shorthand is fine. "nitro point four under the tongue" becomes nitroglycerin 0.4, sublingual.</a:t>
            </a:r>
            <a:endParaRPr lang="en-US" sz="1400" dirty="0"/>
          </a:p>
        </p:txBody>
      </p:sp>
      <p:sp>
        <p:nvSpPr>
          <p:cNvPr id="13" name="Shape 9"/>
          <p:cNvSpPr/>
          <p:nvPr/>
        </p:nvSpPr>
        <p:spPr>
          <a:xfrm>
            <a:off x="6035040" y="1234440"/>
            <a:ext cx="2560320" cy="2743200"/>
          </a:xfrm>
          <a:prstGeom prst="roundRect">
            <a:avLst>
              <a:gd name="adj" fmla="val 2857"/>
            </a:avLst>
          </a:prstGeom>
          <a:solidFill>
            <a:schemeClr val="bg1"/>
          </a:solidFill>
          <a:ln w="9525">
            <a:solidFill>
              <a:srgbClr val="C9D2D5"/>
            </a:solidFill>
            <a:prstDash val="solid"/>
          </a:ln>
        </p:spPr>
      </p:sp>
      <p:sp>
        <p:nvSpPr>
          <p:cNvPr id="14" name="Icon disc"/>
          <p:cNvSpPr/>
          <p:nvPr/>
        </p:nvSpPr>
        <p:spPr>
          <a:xfrm>
            <a:off x="6263640" y="1463040"/>
            <a:ext cx="566928" cy="566928"/>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419088" y="1618488"/>
            <a:ext cx="256032" cy="256032"/>
          </a:xfrm>
          <a:prstGeom prst="rect">
            <a:avLst/>
          </a:prstGeom>
        </p:spPr>
      </p:pic>
      <p:sp>
        <p:nvSpPr>
          <p:cNvPr id="16" name="Text 11"/>
          <p:cNvSpPr txBox="1"/>
          <p:nvPr/>
        </p:nvSpPr>
        <p:spPr>
          <a:xfrm>
            <a:off x="6263640" y="2194560"/>
            <a:ext cx="2148840" cy="32004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Photo of a note</a:t>
            </a:r>
            <a:endParaRPr lang="en-US" sz="1700" dirty="0"/>
          </a:p>
        </p:txBody>
      </p:sp>
      <p:sp>
        <p:nvSpPr>
          <p:cNvPr id="17" name="Text 12"/>
          <p:cNvSpPr txBox="1"/>
          <p:nvPr/>
        </p:nvSpPr>
        <p:spPr>
          <a:xfrm>
            <a:off x="6263640" y="2606040"/>
            <a:ext cx="214884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Handwriting is read locally with TrOCR and EasyOCR. Low-confidence lines are flagged.</a:t>
            </a:r>
            <a:endParaRPr lang="en-US" sz="1400" dirty="0"/>
          </a:p>
        </p:txBody>
      </p:sp>
      <p:sp>
        <p:nvSpPr>
          <p:cNvPr id="18" name="Text 13"/>
          <p:cNvSpPr txBox="1"/>
          <p:nvPr/>
        </p:nvSpPr>
        <p:spPr>
          <a:xfrm>
            <a:off x="548640" y="4206240"/>
            <a:ext cx="8046720" cy="32004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Uploaded audio and images are deleted from disk right after processing.</a:t>
            </a:r>
            <a:endParaRPr lang="en-US" sz="14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Never guess</a:t>
            </a:r>
            <a:endParaRPr lang="en-US" sz="2800" dirty="0"/>
          </a:p>
        </p:txBody>
      </p:sp>
      <p:sp>
        <p:nvSpPr>
          <p:cNvPr id="3" name="Text 1"/>
          <p:cNvSpPr txBox="1"/>
          <p:nvPr/>
        </p:nvSpPr>
        <p:spPr>
          <a:xfrm>
            <a:off x="548640" y="1280160"/>
            <a:ext cx="3840480" cy="31089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Every value must appear in the responder's own words.</a:t>
            </a:r>
            <a:endParaRPr lang="en-US" sz="1600" dirty="0"/>
          </a:p>
          <a:p>
            <a:pPr marL="228600" indent="-2286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Missing stays missing: it is flagged, never filled in.</a:t>
            </a:r>
            <a:endParaRPr lang="en-US" sz="1600" dirty="0"/>
          </a:p>
          <a:p>
            <a:pPr marL="228600" indent="-2286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Each item keeps its source words for review and audit.</a:t>
            </a:r>
            <a:endParaRPr lang="en-US" sz="1600" dirty="0"/>
          </a:p>
          <a:p>
            <a:pPr marL="228600" indent="-2286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An optional second model looks for anything the extractor skipped.</a:t>
            </a:r>
            <a:endParaRPr lang="en-US" sz="1600" dirty="0"/>
          </a:p>
        </p:txBody>
      </p:sp>
      <p:sp>
        <p:nvSpPr>
          <p:cNvPr id="4" name="Shape 2"/>
          <p:cNvSpPr/>
          <p:nvPr/>
        </p:nvSpPr>
        <p:spPr>
          <a:xfrm>
            <a:off x="4754880" y="1188720"/>
            <a:ext cx="3931920" cy="3383280"/>
          </a:xfrm>
          <a:prstGeom prst="roundRect">
            <a:avLst>
              <a:gd name="adj" fmla="val 2162"/>
            </a:avLst>
          </a:prstGeom>
          <a:solidFill>
            <a:schemeClr val="bg2"/>
          </a:solidFill>
          <a:ln w="12700">
            <a:solidFill>
              <a:schemeClr val="bg2"/>
            </a:solidFill>
            <a:prstDash val="solid"/>
          </a:ln>
        </p:spPr>
      </p:sp>
      <p:sp>
        <p:nvSpPr>
          <p:cNvPr id="5" name="Text 3"/>
          <p:cNvSpPr txBox="1"/>
          <p:nvPr/>
        </p:nvSpPr>
        <p:spPr>
          <a:xfrm>
            <a:off x="4983480" y="1325880"/>
            <a:ext cx="3474720" cy="228600"/>
          </a:xfrm>
          <a:prstGeom prst="rect">
            <a:avLst/>
          </a:prstGeom>
          <a:noFill/>
          <a:ln/>
        </p:spPr>
        <p:txBody>
          <a:bodyPr wrap="square" lIns="0" tIns="0" rIns="0" bIns="0" rtlCol="0" anchor="t"/>
          <a:lstStyle/>
          <a:p>
            <a:pPr indent="0" marL="0">
              <a:buNone/>
            </a:pPr>
            <a:r>
              <a:rPr lang="en-US" sz="1100" b="1" spc="200" kern="0" dirty="0">
                <a:solidFill>
                  <a:schemeClr val="accent6"/>
                </a:solidFill>
                <a:latin typeface="Calibri" pitchFamily="34" charset="0"/>
                <a:ea typeface="Calibri" pitchFamily="34" charset="-122"/>
                <a:cs typeface="Calibri" pitchFamily="34" charset="-120"/>
              </a:rPr>
              <a:t>THE RESPONDER SAID</a:t>
            </a:r>
            <a:endParaRPr lang="en-US" sz="1100" dirty="0"/>
          </a:p>
        </p:txBody>
      </p:sp>
      <p:sp>
        <p:nvSpPr>
          <p:cNvPr id="6" name="Text 4"/>
          <p:cNvSpPr txBox="1"/>
          <p:nvPr/>
        </p:nvSpPr>
        <p:spPr>
          <a:xfrm>
            <a:off x="4983480" y="1600200"/>
            <a:ext cx="3474720" cy="777240"/>
          </a:xfrm>
          <a:prstGeom prst="rect">
            <a:avLst/>
          </a:prstGeom>
          <a:noFill/>
          <a:ln/>
        </p:spPr>
        <p:txBody>
          <a:bodyPr wrap="square" lIns="0" tIns="0" rIns="0" bIns="0" rtlCol="0" anchor="t"/>
          <a:lstStyle/>
          <a:p>
            <a:pPr indent="0" marL="0">
              <a:buNone/>
            </a:pPr>
            <a:r>
              <a:rPr lang="en-US" sz="1400" i="1" dirty="0">
                <a:solidFill>
                  <a:schemeClr val="tx1"/>
                </a:solidFill>
                <a:latin typeface="Calibri" pitchFamily="34" charset="0"/>
                <a:ea typeface="Calibri" pitchFamily="34" charset="-122"/>
                <a:cs typeface="Calibri" pitchFamily="34" charset="-120"/>
              </a:rPr>
              <a:t>"14:32 gave aspirin 324 mg PO chewed. 14:38 nitro point four under the tongue."</a:t>
            </a:r>
            <a:endParaRPr lang="en-US" sz="1400" dirty="0"/>
          </a:p>
        </p:txBody>
      </p:sp>
      <p:sp>
        <p:nvSpPr>
          <p:cNvPr id="7" name="Shape 5"/>
          <p:cNvSpPr/>
          <p:nvPr/>
        </p:nvSpPr>
        <p:spPr>
          <a:xfrm>
            <a:off x="4983480" y="2514600"/>
            <a:ext cx="3474720" cy="731520"/>
          </a:xfrm>
          <a:prstGeom prst="roundRect">
            <a:avLst>
              <a:gd name="adj" fmla="val 10000"/>
            </a:avLst>
          </a:prstGeom>
          <a:solidFill>
            <a:schemeClr val="bg1"/>
          </a:solidFill>
          <a:ln w="9525">
            <a:solidFill>
              <a:srgbClr val="C9D2D5"/>
            </a:solidFill>
            <a:prstDash val="solid"/>
          </a:ln>
        </p:spPr>
      </p:sp>
      <p:sp>
        <p:nvSpPr>
          <p:cNvPr id="8" name="Text 6"/>
          <p:cNvSpPr txBox="1"/>
          <p:nvPr/>
        </p:nvSpPr>
        <p:spPr>
          <a:xfrm>
            <a:off x="5120640" y="2578608"/>
            <a:ext cx="2468880" cy="603504"/>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Aspirin</a:t>
            </a:r>
            <a:endParaRPr lang="en-US" sz="1400" dirty="0"/>
          </a:p>
          <a:p>
            <a:pPr indent="0" marL="0">
              <a:buNone/>
            </a:pPr>
            <a:r>
              <a:rPr lang="en-US" sz="1400" dirty="0">
                <a:solidFill>
                  <a:schemeClr val="accent6"/>
                </a:solidFill>
                <a:latin typeface="Calibri" pitchFamily="34" charset="0"/>
                <a:ea typeface="Calibri" pitchFamily="34" charset="-122"/>
                <a:cs typeface="Calibri" pitchFamily="34" charset="-120"/>
              </a:rPr>
              <a:t>324 mg  |  PO  |  14:32</a:t>
            </a:r>
            <a:endParaRPr lang="en-US" sz="1400" dirty="0"/>
          </a:p>
        </p:txBody>
      </p:sp>
      <p:sp>
        <p:nvSpPr>
          <p:cNvPr id="9" name="Text 7"/>
          <p:cNvSpPr txBox="1"/>
          <p:nvPr/>
        </p:nvSpPr>
        <p:spPr>
          <a:xfrm>
            <a:off x="7498080" y="2514600"/>
            <a:ext cx="868680" cy="731520"/>
          </a:xfrm>
          <a:prstGeom prst="rect">
            <a:avLst/>
          </a:prstGeom>
          <a:noFill/>
          <a:ln/>
        </p:spPr>
        <p:txBody>
          <a:bodyPr wrap="square" lIns="0" tIns="0" rIns="0" bIns="0" rtlCol="0" anchor="ctr"/>
          <a:lstStyle/>
          <a:p>
            <a:pPr algn="r" indent="0" marL="0">
              <a:buNone/>
            </a:pPr>
            <a:r>
              <a:rPr lang="en-US" sz="1100" b="1" dirty="0">
                <a:solidFill>
                  <a:schemeClr val="accent1"/>
                </a:solidFill>
              </a:rPr>
              <a:t>matches note</a:t>
            </a:r>
            <a:endParaRPr lang="en-US" sz="1100" dirty="0"/>
          </a:p>
        </p:txBody>
      </p:sp>
      <p:sp>
        <p:nvSpPr>
          <p:cNvPr id="10" name="Shape 8"/>
          <p:cNvSpPr/>
          <p:nvPr/>
        </p:nvSpPr>
        <p:spPr>
          <a:xfrm>
            <a:off x="4983480" y="3383280"/>
            <a:ext cx="3474720" cy="1051560"/>
          </a:xfrm>
          <a:prstGeom prst="roundRect">
            <a:avLst>
              <a:gd name="adj" fmla="val 6957"/>
            </a:avLst>
          </a:prstGeom>
          <a:solidFill>
            <a:srgbClr val="FCEFD6"/>
          </a:solidFill>
          <a:ln w="15875">
            <a:solidFill>
              <a:schemeClr val="accent3"/>
            </a:solidFill>
            <a:prstDash val="solid"/>
          </a:ln>
        </p:spPr>
      </p:sp>
      <p:sp>
        <p:nvSpPr>
          <p:cNvPr id="11" name="Text 9"/>
          <p:cNvSpPr txBox="1"/>
          <p:nvPr/>
        </p:nvSpPr>
        <p:spPr>
          <a:xfrm>
            <a:off x="5120640" y="3456432"/>
            <a:ext cx="3246120" cy="9144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Nitroglycerin  0.4  |  SL</a:t>
            </a:r>
            <a:endParaRPr lang="en-US" sz="1400" dirty="0"/>
          </a:p>
          <a:p>
            <a:pPr indent="0" marL="0">
              <a:buNone/>
            </a:pPr>
            <a:r>
              <a:rPr lang="en-US" sz="1300" dirty="0">
                <a:solidFill>
                  <a:schemeClr val="tx1"/>
                </a:solidFill>
                <a:latin typeface="Calibri" pitchFamily="34" charset="0"/>
                <a:ea typeface="Calibri" pitchFamily="34" charset="-122"/>
                <a:cs typeface="Calibri" pitchFamily="34" charset="-120"/>
              </a:rPr>
              <a:t>Unit was not spoken. The responder must confirm it.</a:t>
            </a:r>
            <a:endParaRPr lang="en-US" sz="14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Ten validation rules, no AI</a:t>
            </a:r>
            <a:endParaRPr lang="en-US" sz="2800" dirty="0"/>
          </a:p>
        </p:txBody>
      </p:sp>
      <p:sp>
        <p:nvSpPr>
          <p:cNvPr id="3" name="Rule source_text_not_found"/>
          <p:cNvSpPr/>
          <p:nvPr/>
        </p:nvSpPr>
        <p:spPr>
          <a:xfrm>
            <a:off x="548640" y="1188720"/>
            <a:ext cx="3931920" cy="548640"/>
          </a:xfrm>
          <a:prstGeom prst="roundRect">
            <a:avLst>
              <a:gd name="adj" fmla="val 10000"/>
            </a:avLst>
          </a:prstGeom>
          <a:solidFill>
            <a:srgbClr val="FCEFD6"/>
          </a:solidFill>
          <a:ln w="12700">
            <a:solidFill>
              <a:schemeClr val="accent3"/>
            </a:solidFill>
            <a:prstDash val="solid"/>
          </a:ln>
        </p:spPr>
      </p:sp>
      <p:sp>
        <p:nvSpPr>
          <p:cNvPr id="4" name="Text 2"/>
          <p:cNvSpPr txBox="1"/>
          <p:nvPr/>
        </p:nvSpPr>
        <p:spPr>
          <a:xfrm>
            <a:off x="685800" y="118872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source_text_not_found</a:t>
            </a:r>
            <a:endParaRPr lang="en-US" sz="1200" dirty="0"/>
          </a:p>
        </p:txBody>
      </p:sp>
      <p:sp>
        <p:nvSpPr>
          <p:cNvPr id="5" name="Text 3"/>
          <p:cNvSpPr txBox="1"/>
          <p:nvPr/>
        </p:nvSpPr>
        <p:spPr>
          <a:xfrm>
            <a:off x="2651760" y="118872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Words are not in the note</a:t>
            </a:r>
            <a:endParaRPr lang="en-US" sz="1200" dirty="0"/>
          </a:p>
        </p:txBody>
      </p:sp>
      <p:sp>
        <p:nvSpPr>
          <p:cNvPr id="6" name="Rule missing_dose"/>
          <p:cNvSpPr/>
          <p:nvPr/>
        </p:nvSpPr>
        <p:spPr>
          <a:xfrm>
            <a:off x="4663440" y="1188720"/>
            <a:ext cx="3931920" cy="548640"/>
          </a:xfrm>
          <a:prstGeom prst="roundRect">
            <a:avLst>
              <a:gd name="adj" fmla="val 10000"/>
            </a:avLst>
          </a:prstGeom>
          <a:solidFill>
            <a:srgbClr val="FCEFD6"/>
          </a:solidFill>
          <a:ln w="12700">
            <a:solidFill>
              <a:schemeClr val="accent3"/>
            </a:solidFill>
            <a:prstDash val="solid"/>
          </a:ln>
        </p:spPr>
      </p:sp>
      <p:sp>
        <p:nvSpPr>
          <p:cNvPr id="7" name="Text 5"/>
          <p:cNvSpPr txBox="1"/>
          <p:nvPr/>
        </p:nvSpPr>
        <p:spPr>
          <a:xfrm>
            <a:off x="4800600" y="118872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missing_dose</a:t>
            </a:r>
            <a:endParaRPr lang="en-US" sz="1200" dirty="0"/>
          </a:p>
        </p:txBody>
      </p:sp>
      <p:sp>
        <p:nvSpPr>
          <p:cNvPr id="8" name="Text 6"/>
          <p:cNvSpPr txBox="1"/>
          <p:nvPr/>
        </p:nvSpPr>
        <p:spPr>
          <a:xfrm>
            <a:off x="6766560" y="118872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A medication has no dose</a:t>
            </a:r>
            <a:endParaRPr lang="en-US" sz="1200" dirty="0"/>
          </a:p>
        </p:txBody>
      </p:sp>
      <p:sp>
        <p:nvSpPr>
          <p:cNvPr id="9" name="Rule missing_unit"/>
          <p:cNvSpPr/>
          <p:nvPr/>
        </p:nvSpPr>
        <p:spPr>
          <a:xfrm>
            <a:off x="548640" y="1828800"/>
            <a:ext cx="3931920" cy="548640"/>
          </a:xfrm>
          <a:prstGeom prst="roundRect">
            <a:avLst>
              <a:gd name="adj" fmla="val 10000"/>
            </a:avLst>
          </a:prstGeom>
          <a:solidFill>
            <a:srgbClr val="FCEFD6"/>
          </a:solidFill>
          <a:ln w="12700">
            <a:solidFill>
              <a:schemeClr val="accent3"/>
            </a:solidFill>
            <a:prstDash val="solid"/>
          </a:ln>
        </p:spPr>
      </p:sp>
      <p:sp>
        <p:nvSpPr>
          <p:cNvPr id="10" name="Text 8"/>
          <p:cNvSpPr txBox="1"/>
          <p:nvPr/>
        </p:nvSpPr>
        <p:spPr>
          <a:xfrm>
            <a:off x="685800" y="182880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missing_unit</a:t>
            </a:r>
            <a:endParaRPr lang="en-US" sz="1200" dirty="0"/>
          </a:p>
        </p:txBody>
      </p:sp>
      <p:sp>
        <p:nvSpPr>
          <p:cNvPr id="11" name="Text 9"/>
          <p:cNvSpPr txBox="1"/>
          <p:nvPr/>
        </p:nvSpPr>
        <p:spPr>
          <a:xfrm>
            <a:off x="2651760" y="182880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Dose given without a unit</a:t>
            </a:r>
            <a:endParaRPr lang="en-US" sz="1200" dirty="0"/>
          </a:p>
        </p:txBody>
      </p:sp>
      <p:sp>
        <p:nvSpPr>
          <p:cNvPr id="12" name="Rule unit_inferred"/>
          <p:cNvSpPr/>
          <p:nvPr/>
        </p:nvSpPr>
        <p:spPr>
          <a:xfrm>
            <a:off x="4663440" y="1828800"/>
            <a:ext cx="3931920" cy="548640"/>
          </a:xfrm>
          <a:prstGeom prst="roundRect">
            <a:avLst>
              <a:gd name="adj" fmla="val 10000"/>
            </a:avLst>
          </a:prstGeom>
          <a:solidFill>
            <a:srgbClr val="FCEFD6"/>
          </a:solidFill>
          <a:ln w="12700">
            <a:solidFill>
              <a:schemeClr val="accent3"/>
            </a:solidFill>
            <a:prstDash val="solid"/>
          </a:ln>
        </p:spPr>
      </p:sp>
      <p:sp>
        <p:nvSpPr>
          <p:cNvPr id="13" name="Text 11"/>
          <p:cNvSpPr txBox="1"/>
          <p:nvPr/>
        </p:nvSpPr>
        <p:spPr>
          <a:xfrm>
            <a:off x="4800600" y="182880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unit_inferred</a:t>
            </a:r>
            <a:endParaRPr lang="en-US" sz="1200" dirty="0"/>
          </a:p>
        </p:txBody>
      </p:sp>
      <p:sp>
        <p:nvSpPr>
          <p:cNvPr id="14" name="Text 12"/>
          <p:cNvSpPr txBox="1"/>
          <p:nvPr/>
        </p:nvSpPr>
        <p:spPr>
          <a:xfrm>
            <a:off x="6766560" y="182880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Unit not in the item's words</a:t>
            </a:r>
            <a:endParaRPr lang="en-US" sz="1200" dirty="0"/>
          </a:p>
        </p:txBody>
      </p:sp>
      <p:sp>
        <p:nvSpPr>
          <p:cNvPr id="15" name="Rule missing_route"/>
          <p:cNvSpPr/>
          <p:nvPr/>
        </p:nvSpPr>
        <p:spPr>
          <a:xfrm>
            <a:off x="548640" y="2468880"/>
            <a:ext cx="3931920" cy="548640"/>
          </a:xfrm>
          <a:prstGeom prst="roundRect">
            <a:avLst>
              <a:gd name="adj" fmla="val 10000"/>
            </a:avLst>
          </a:prstGeom>
          <a:solidFill>
            <a:srgbClr val="FCEFD6"/>
          </a:solidFill>
          <a:ln w="12700">
            <a:solidFill>
              <a:schemeClr val="accent3"/>
            </a:solidFill>
            <a:prstDash val="solid"/>
          </a:ln>
        </p:spPr>
      </p:sp>
      <p:sp>
        <p:nvSpPr>
          <p:cNvPr id="16" name="Text 14"/>
          <p:cNvSpPr txBox="1"/>
          <p:nvPr/>
        </p:nvSpPr>
        <p:spPr>
          <a:xfrm>
            <a:off x="685800" y="246888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missing_route</a:t>
            </a:r>
            <a:endParaRPr lang="en-US" sz="1200" dirty="0"/>
          </a:p>
        </p:txBody>
      </p:sp>
      <p:sp>
        <p:nvSpPr>
          <p:cNvPr id="17" name="Text 15"/>
          <p:cNvSpPr txBox="1"/>
          <p:nvPr/>
        </p:nvSpPr>
        <p:spPr>
          <a:xfrm>
            <a:off x="2651760" y="246888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No route stated</a:t>
            </a:r>
            <a:endParaRPr lang="en-US" sz="1200" dirty="0"/>
          </a:p>
        </p:txBody>
      </p:sp>
      <p:sp>
        <p:nvSpPr>
          <p:cNvPr id="18" name="Rule missing_time"/>
          <p:cNvSpPr/>
          <p:nvPr/>
        </p:nvSpPr>
        <p:spPr>
          <a:xfrm>
            <a:off x="4663440" y="2468880"/>
            <a:ext cx="3931920" cy="548640"/>
          </a:xfrm>
          <a:prstGeom prst="roundRect">
            <a:avLst>
              <a:gd name="adj" fmla="val 10000"/>
            </a:avLst>
          </a:prstGeom>
          <a:solidFill>
            <a:srgbClr val="E5EDFB"/>
          </a:solidFill>
          <a:ln w="12700">
            <a:solidFill>
              <a:schemeClr val="accent4"/>
            </a:solidFill>
            <a:prstDash val="solid"/>
          </a:ln>
        </p:spPr>
      </p:sp>
      <p:sp>
        <p:nvSpPr>
          <p:cNvPr id="19" name="Text 17"/>
          <p:cNvSpPr txBox="1"/>
          <p:nvPr/>
        </p:nvSpPr>
        <p:spPr>
          <a:xfrm>
            <a:off x="4800600" y="246888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missing_time</a:t>
            </a:r>
            <a:endParaRPr lang="en-US" sz="1200" dirty="0"/>
          </a:p>
        </p:txBody>
      </p:sp>
      <p:sp>
        <p:nvSpPr>
          <p:cNvPr id="20" name="Text 18"/>
          <p:cNvSpPr txBox="1"/>
          <p:nvPr/>
        </p:nvSpPr>
        <p:spPr>
          <a:xfrm>
            <a:off x="6766560" y="246888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No time stated (info only)</a:t>
            </a:r>
            <a:endParaRPr lang="en-US" sz="1200" dirty="0"/>
          </a:p>
        </p:txBody>
      </p:sp>
      <p:sp>
        <p:nvSpPr>
          <p:cNvPr id="21" name="Rule unknown_drug"/>
          <p:cNvSpPr/>
          <p:nvPr/>
        </p:nvSpPr>
        <p:spPr>
          <a:xfrm>
            <a:off x="548640" y="3108960"/>
            <a:ext cx="3931920" cy="548640"/>
          </a:xfrm>
          <a:prstGeom prst="roundRect">
            <a:avLst>
              <a:gd name="adj" fmla="val 10000"/>
            </a:avLst>
          </a:prstGeom>
          <a:solidFill>
            <a:srgbClr val="FCEFD6"/>
          </a:solidFill>
          <a:ln w="12700">
            <a:solidFill>
              <a:schemeClr val="accent3"/>
            </a:solidFill>
            <a:prstDash val="solid"/>
          </a:ln>
        </p:spPr>
      </p:sp>
      <p:sp>
        <p:nvSpPr>
          <p:cNvPr id="22" name="Text 20"/>
          <p:cNvSpPr txBox="1"/>
          <p:nvPr/>
        </p:nvSpPr>
        <p:spPr>
          <a:xfrm>
            <a:off x="685800" y="310896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unknown_drug</a:t>
            </a:r>
            <a:endParaRPr lang="en-US" sz="1200" dirty="0"/>
          </a:p>
        </p:txBody>
      </p:sp>
      <p:sp>
        <p:nvSpPr>
          <p:cNvPr id="23" name="Text 21"/>
          <p:cNvSpPr txBox="1"/>
          <p:nvPr/>
        </p:nvSpPr>
        <p:spPr>
          <a:xfrm>
            <a:off x="2651760" y="310896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Not in the 17-drug list</a:t>
            </a:r>
            <a:endParaRPr lang="en-US" sz="1200" dirty="0"/>
          </a:p>
        </p:txBody>
      </p:sp>
      <p:sp>
        <p:nvSpPr>
          <p:cNvPr id="24" name="Rule dose_out_of_range"/>
          <p:cNvSpPr/>
          <p:nvPr/>
        </p:nvSpPr>
        <p:spPr>
          <a:xfrm>
            <a:off x="4663440" y="3108960"/>
            <a:ext cx="3931920" cy="548640"/>
          </a:xfrm>
          <a:prstGeom prst="roundRect">
            <a:avLst>
              <a:gd name="adj" fmla="val 10000"/>
            </a:avLst>
          </a:prstGeom>
          <a:solidFill>
            <a:srgbClr val="FCEFD6"/>
          </a:solidFill>
          <a:ln w="12700">
            <a:solidFill>
              <a:schemeClr val="accent3"/>
            </a:solidFill>
            <a:prstDash val="solid"/>
          </a:ln>
        </p:spPr>
      </p:sp>
      <p:sp>
        <p:nvSpPr>
          <p:cNvPr id="25" name="Text 23"/>
          <p:cNvSpPr txBox="1"/>
          <p:nvPr/>
        </p:nvSpPr>
        <p:spPr>
          <a:xfrm>
            <a:off x="4800600" y="310896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dose_out_of_range</a:t>
            </a:r>
            <a:endParaRPr lang="en-US" sz="1200" dirty="0"/>
          </a:p>
        </p:txBody>
      </p:sp>
      <p:sp>
        <p:nvSpPr>
          <p:cNvPr id="26" name="Text 24"/>
          <p:cNvSpPr txBox="1"/>
          <p:nvPr/>
        </p:nvSpPr>
        <p:spPr>
          <a:xfrm>
            <a:off x="6766560" y="310896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Outside the reference range</a:t>
            </a:r>
            <a:endParaRPr lang="en-US" sz="1200" dirty="0"/>
          </a:p>
        </p:txBody>
      </p:sp>
      <p:sp>
        <p:nvSpPr>
          <p:cNvPr id="27" name="Rule spoken_correction"/>
          <p:cNvSpPr/>
          <p:nvPr/>
        </p:nvSpPr>
        <p:spPr>
          <a:xfrm>
            <a:off x="548640" y="3749040"/>
            <a:ext cx="3931920" cy="548640"/>
          </a:xfrm>
          <a:prstGeom prst="roundRect">
            <a:avLst>
              <a:gd name="adj" fmla="val 10000"/>
            </a:avLst>
          </a:prstGeom>
          <a:solidFill>
            <a:srgbClr val="FCEFD6"/>
          </a:solidFill>
          <a:ln w="12700">
            <a:solidFill>
              <a:schemeClr val="accent3"/>
            </a:solidFill>
            <a:prstDash val="solid"/>
          </a:ln>
        </p:spPr>
      </p:sp>
      <p:sp>
        <p:nvSpPr>
          <p:cNvPr id="28" name="Text 26"/>
          <p:cNvSpPr txBox="1"/>
          <p:nvPr/>
        </p:nvSpPr>
        <p:spPr>
          <a:xfrm>
            <a:off x="685800" y="374904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spoken_correction</a:t>
            </a:r>
            <a:endParaRPr lang="en-US" sz="1200" dirty="0"/>
          </a:p>
        </p:txBody>
      </p:sp>
      <p:sp>
        <p:nvSpPr>
          <p:cNvPr id="29" name="Text 27"/>
          <p:cNvSpPr txBox="1"/>
          <p:nvPr/>
        </p:nvSpPr>
        <p:spPr>
          <a:xfrm>
            <a:off x="2651760" y="374904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"sorry", "I mean": check the dose</a:t>
            </a:r>
            <a:endParaRPr lang="en-US" sz="1200" dirty="0"/>
          </a:p>
        </p:txBody>
      </p:sp>
      <p:sp>
        <p:nvSpPr>
          <p:cNvPr id="30" name="Rule duplicate_item"/>
          <p:cNvSpPr/>
          <p:nvPr/>
        </p:nvSpPr>
        <p:spPr>
          <a:xfrm>
            <a:off x="4663440" y="3749040"/>
            <a:ext cx="3931920" cy="548640"/>
          </a:xfrm>
          <a:prstGeom prst="roundRect">
            <a:avLst>
              <a:gd name="adj" fmla="val 10000"/>
            </a:avLst>
          </a:prstGeom>
          <a:solidFill>
            <a:srgbClr val="FCEFD6"/>
          </a:solidFill>
          <a:ln w="12700">
            <a:solidFill>
              <a:schemeClr val="accent3"/>
            </a:solidFill>
            <a:prstDash val="solid"/>
          </a:ln>
        </p:spPr>
      </p:sp>
      <p:sp>
        <p:nvSpPr>
          <p:cNvPr id="31" name="Text 29"/>
          <p:cNvSpPr txBox="1"/>
          <p:nvPr/>
        </p:nvSpPr>
        <p:spPr>
          <a:xfrm>
            <a:off x="4800600" y="3749040"/>
            <a:ext cx="2011680" cy="54864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duplicate_item</a:t>
            </a:r>
            <a:endParaRPr lang="en-US" sz="1200" dirty="0"/>
          </a:p>
        </p:txBody>
      </p:sp>
      <p:sp>
        <p:nvSpPr>
          <p:cNvPr id="32" name="Text 30"/>
          <p:cNvSpPr txBox="1"/>
          <p:nvPr/>
        </p:nvSpPr>
        <p:spPr>
          <a:xfrm>
            <a:off x="6766560" y="3749040"/>
            <a:ext cx="1783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Same administration twice</a:t>
            </a:r>
            <a:endParaRPr lang="en-US" sz="1200" dirty="0"/>
          </a:p>
        </p:txBody>
      </p:sp>
      <p:sp>
        <p:nvSpPr>
          <p:cNvPr id="33" name="Text 31"/>
          <p:cNvSpPr txBox="1"/>
          <p:nvPr/>
        </p:nvSpPr>
        <p:spPr>
          <a:xfrm>
            <a:off x="548640" y="4434840"/>
            <a:ext cx="8046720" cy="2743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Amber blocks confirmation until resolved. Blue is information only.</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Online and offline, one draft either way</a:t>
            </a:r>
            <a:endParaRPr lang="en-US" sz="2800" dirty="0"/>
          </a:p>
        </p:txBody>
      </p:sp>
      <p:sp>
        <p:nvSpPr>
          <p:cNvPr id="3" name="Box 1  Groq  (online mode)"/>
          <p:cNvSpPr/>
          <p:nvPr/>
        </p:nvSpPr>
        <p:spPr>
          <a:xfrm>
            <a:off x="548640" y="1234440"/>
            <a:ext cx="3291840" cy="777240"/>
          </a:xfrm>
          <a:prstGeom prst="roundRect">
            <a:avLst>
              <a:gd name="adj" fmla="val 8235"/>
            </a:avLst>
          </a:prstGeom>
          <a:solidFill>
            <a:srgbClr val="FCEFD6"/>
          </a:solidFill>
          <a:ln w="15875">
            <a:solidFill>
              <a:schemeClr val="accent3"/>
            </a:solidFill>
            <a:prstDash val="solid"/>
          </a:ln>
        </p:spPr>
      </p:sp>
      <p:sp>
        <p:nvSpPr>
          <p:cNvPr id="4" name="Text 2"/>
          <p:cNvSpPr txBox="1"/>
          <p:nvPr/>
        </p:nvSpPr>
        <p:spPr>
          <a:xfrm>
            <a:off x="621792" y="1234440"/>
            <a:ext cx="3145536" cy="7772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1  Groq  (online mode)</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cloud chat model and hosted Whisper</a:t>
            </a:r>
            <a:endParaRPr lang="en-US" sz="1500" dirty="0"/>
          </a:p>
        </p:txBody>
      </p:sp>
      <p:sp>
        <p:nvSpPr>
          <p:cNvPr id="5" name="Box 2  Local Ollama model"/>
          <p:cNvSpPr/>
          <p:nvPr/>
        </p:nvSpPr>
        <p:spPr>
          <a:xfrm>
            <a:off x="548640" y="2423160"/>
            <a:ext cx="3291840" cy="777240"/>
          </a:xfrm>
          <a:prstGeom prst="roundRect">
            <a:avLst>
              <a:gd name="adj" fmla="val 8235"/>
            </a:avLst>
          </a:prstGeom>
          <a:solidFill>
            <a:schemeClr val="bg1"/>
          </a:solidFill>
          <a:ln w="15875">
            <a:solidFill>
              <a:schemeClr val="tx1"/>
            </a:solidFill>
            <a:prstDash val="solid"/>
          </a:ln>
        </p:spPr>
      </p:sp>
      <p:sp>
        <p:nvSpPr>
          <p:cNvPr id="6" name="Text 4"/>
          <p:cNvSpPr txBox="1"/>
          <p:nvPr/>
        </p:nvSpPr>
        <p:spPr>
          <a:xfrm>
            <a:off x="621792" y="2423160"/>
            <a:ext cx="3145536" cy="7772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2  Local Ollama model</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on the device, JSON-schema output</a:t>
            </a:r>
            <a:endParaRPr lang="en-US" sz="1500" dirty="0"/>
          </a:p>
        </p:txBody>
      </p:sp>
      <p:sp>
        <p:nvSpPr>
          <p:cNvPr id="7" name="Box 3  Built-in rules"/>
          <p:cNvSpPr/>
          <p:nvPr/>
        </p:nvSpPr>
        <p:spPr>
          <a:xfrm>
            <a:off x="548640" y="3611880"/>
            <a:ext cx="3291840" cy="777240"/>
          </a:xfrm>
          <a:prstGeom prst="roundRect">
            <a:avLst>
              <a:gd name="adj" fmla="val 8235"/>
            </a:avLst>
          </a:prstGeom>
          <a:solidFill>
            <a:schemeClr val="bg2"/>
          </a:solidFill>
          <a:ln w="15875">
            <a:solidFill>
              <a:srgbClr val="C9D2D5"/>
            </a:solidFill>
            <a:prstDash val="solid"/>
          </a:ln>
        </p:spPr>
      </p:sp>
      <p:sp>
        <p:nvSpPr>
          <p:cNvPr id="8" name="Text 6"/>
          <p:cNvSpPr txBox="1"/>
          <p:nvPr/>
        </p:nvSpPr>
        <p:spPr>
          <a:xfrm>
            <a:off x="621792" y="3611880"/>
            <a:ext cx="3145536" cy="7772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3  Built-in rules</a:t>
            </a:r>
            <a:endParaRPr lang="en-US" sz="1500" dirty="0"/>
          </a:p>
          <a:p>
            <a:pPr algn="ctr" indent="0" marL="0">
              <a:buNone/>
            </a:pPr>
            <a:r>
              <a:rPr lang="en-US" sz="1200" dirty="0">
                <a:solidFill>
                  <a:schemeClr val="tx1"/>
                </a:solidFill>
                <a:latin typeface="Calibri" pitchFamily="34" charset="0"/>
                <a:ea typeface="Calibri" pitchFamily="34" charset="-122"/>
                <a:cs typeface="Calibri" pitchFamily="34" charset="-120"/>
              </a:rPr>
              <a:t>instant, less capable</a:t>
            </a:r>
            <a:endParaRPr lang="en-US" sz="1500" dirty="0"/>
          </a:p>
        </p:txBody>
      </p:sp>
      <p:sp>
        <p:nvSpPr>
          <p:cNvPr id="9" name="Arrow"/>
          <p:cNvSpPr/>
          <p:nvPr/>
        </p:nvSpPr>
        <p:spPr>
          <a:xfrm>
            <a:off x="2194560" y="2011680"/>
            <a:ext cx="0" cy="411480"/>
          </a:xfrm>
          <a:prstGeom prst="line">
            <a:avLst/>
          </a:prstGeom>
          <a:noFill/>
          <a:ln w="22225">
            <a:solidFill>
              <a:schemeClr val="accent5"/>
            </a:solidFill>
            <a:prstDash val="solid"/>
            <a:tailEnd type="triangle"/>
          </a:ln>
        </p:spPr>
      </p:sp>
      <p:sp>
        <p:nvSpPr>
          <p:cNvPr id="10" name="Arrow"/>
          <p:cNvSpPr/>
          <p:nvPr/>
        </p:nvSpPr>
        <p:spPr>
          <a:xfrm>
            <a:off x="2194560" y="3200400"/>
            <a:ext cx="0" cy="411480"/>
          </a:xfrm>
          <a:prstGeom prst="line">
            <a:avLst/>
          </a:prstGeom>
          <a:noFill/>
          <a:ln w="22225">
            <a:solidFill>
              <a:schemeClr val="accent5"/>
            </a:solidFill>
            <a:prstDash val="solid"/>
            <a:tailEnd type="triangle"/>
          </a:ln>
        </p:spPr>
      </p:sp>
      <p:sp>
        <p:nvSpPr>
          <p:cNvPr id="11" name="Text 9"/>
          <p:cNvSpPr txBox="1"/>
          <p:nvPr/>
        </p:nvSpPr>
        <p:spPr>
          <a:xfrm>
            <a:off x="2331720" y="2084832"/>
            <a:ext cx="1097280" cy="27432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fails</a:t>
            </a:r>
            <a:endParaRPr lang="en-US" sz="1200" dirty="0"/>
          </a:p>
        </p:txBody>
      </p:sp>
      <p:sp>
        <p:nvSpPr>
          <p:cNvPr id="12" name="Text 10"/>
          <p:cNvSpPr txBox="1"/>
          <p:nvPr/>
        </p:nvSpPr>
        <p:spPr>
          <a:xfrm>
            <a:off x="2331720" y="3273552"/>
            <a:ext cx="1371600" cy="27432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unreachable</a:t>
            </a:r>
            <a:endParaRPr lang="en-US" sz="1200" dirty="0"/>
          </a:p>
        </p:txBody>
      </p:sp>
      <p:sp>
        <p:nvSpPr>
          <p:cNvPr id="13" name="Text 11"/>
          <p:cNvSpPr txBox="1"/>
          <p:nvPr/>
        </p:nvSpPr>
        <p:spPr>
          <a:xfrm>
            <a:off x="4389120" y="1234440"/>
            <a:ext cx="420624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ONLINE / OFFLINE switch</a:t>
            </a:r>
            <a:endParaRPr lang="en-US" sz="1500" dirty="0"/>
          </a:p>
        </p:txBody>
      </p:sp>
      <p:sp>
        <p:nvSpPr>
          <p:cNvPr id="14" name="Text 12"/>
          <p:cNvSpPr txBox="1"/>
          <p:nvPr/>
        </p:nvSpPr>
        <p:spPr>
          <a:xfrm>
            <a:off x="4389120" y="1554480"/>
            <a:ext cx="4206240" cy="45720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in the app bar, sent with every request</a:t>
            </a:r>
            <a:endParaRPr lang="en-US" sz="1300" dirty="0"/>
          </a:p>
        </p:txBody>
      </p:sp>
      <p:sp>
        <p:nvSpPr>
          <p:cNvPr id="15" name="Text 13"/>
          <p:cNvSpPr txBox="1"/>
          <p:nvPr/>
        </p:nvSpPr>
        <p:spPr>
          <a:xfrm>
            <a:off x="4389120" y="2103120"/>
            <a:ext cx="420624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No key means offline</a:t>
            </a:r>
            <a:endParaRPr lang="en-US" sz="1500" dirty="0"/>
          </a:p>
        </p:txBody>
      </p:sp>
      <p:sp>
        <p:nvSpPr>
          <p:cNvPr id="16" name="Text 14"/>
          <p:cNvSpPr txBox="1"/>
          <p:nvPr/>
        </p:nvSpPr>
        <p:spPr>
          <a:xfrm>
            <a:off x="4389120" y="2423160"/>
            <a:ext cx="4206240" cy="45720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the backend never calls the cloud without GROQ_API_KEY</a:t>
            </a:r>
            <a:endParaRPr lang="en-US" sz="1300" dirty="0"/>
          </a:p>
        </p:txBody>
      </p:sp>
      <p:sp>
        <p:nvSpPr>
          <p:cNvPr id="17" name="Text 15"/>
          <p:cNvSpPr txBox="1"/>
          <p:nvPr/>
        </p:nvSpPr>
        <p:spPr>
          <a:xfrm>
            <a:off x="4389120" y="2971800"/>
            <a:ext cx="420624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The engine is recorded</a:t>
            </a:r>
            <a:endParaRPr lang="en-US" sz="1500" dirty="0"/>
          </a:p>
        </p:txBody>
      </p:sp>
      <p:sp>
        <p:nvSpPr>
          <p:cNvPr id="18" name="Text 16"/>
          <p:cNvSpPr txBox="1"/>
          <p:nvPr/>
        </p:nvSpPr>
        <p:spPr>
          <a:xfrm>
            <a:off x="4389120" y="3291840"/>
            <a:ext cx="4206240" cy="45720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shown on the review screen and stored in the sealed record</a:t>
            </a:r>
            <a:endParaRPr lang="en-US" sz="1300" dirty="0"/>
          </a:p>
        </p:txBody>
      </p:sp>
      <p:sp>
        <p:nvSpPr>
          <p:cNvPr id="19" name="Privacy note"/>
          <p:cNvSpPr/>
          <p:nvPr/>
        </p:nvSpPr>
        <p:spPr>
          <a:xfrm>
            <a:off x="4389120" y="3794760"/>
            <a:ext cx="4297680" cy="731520"/>
          </a:xfrm>
          <a:prstGeom prst="roundRect">
            <a:avLst>
              <a:gd name="adj" fmla="val 8750"/>
            </a:avLst>
          </a:prstGeom>
          <a:solidFill>
            <a:srgbClr val="FCEFD6"/>
          </a:solidFill>
          <a:ln w="12700">
            <a:solidFill>
              <a:schemeClr val="accent3"/>
            </a:solidFill>
            <a:prstDash val="solid"/>
          </a:ln>
        </p:spPr>
      </p:sp>
      <p:sp>
        <p:nvSpPr>
          <p:cNvPr id="20" name="Text 18"/>
          <p:cNvSpPr txBox="1"/>
          <p:nvPr/>
        </p:nvSpPr>
        <p:spPr>
          <a:xfrm>
            <a:off x="4526280" y="3794760"/>
            <a:ext cx="4023360" cy="7315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Online mode sends note text and audio to Groq. Photos are always read locally.</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chain that shows tampering</a:t>
            </a:r>
            <a:endParaRPr lang="en-US" sz="2800" dirty="0"/>
          </a:p>
        </p:txBody>
      </p:sp>
      <p:sp>
        <p:nvSpPr>
          <p:cNvPr id="3" name="Shape 1"/>
          <p:cNvSpPr/>
          <p:nvPr/>
        </p:nvSpPr>
        <p:spPr>
          <a:xfrm>
            <a:off x="548640" y="1188720"/>
            <a:ext cx="2377440" cy="1828800"/>
          </a:xfrm>
          <a:prstGeom prst="roundRect">
            <a:avLst>
              <a:gd name="adj" fmla="val 4000"/>
            </a:avLst>
          </a:prstGeom>
          <a:solidFill>
            <a:schemeClr val="bg1"/>
          </a:solidFill>
          <a:ln w="9525">
            <a:solidFill>
              <a:srgbClr val="C9D2D5"/>
            </a:solidFill>
            <a:prstDash val="solid"/>
          </a:ln>
        </p:spPr>
      </p:sp>
      <p:sp>
        <p:nvSpPr>
          <p:cNvPr id="4" name="Text 2"/>
          <p:cNvSpPr txBox="1"/>
          <p:nvPr/>
        </p:nvSpPr>
        <p:spPr>
          <a:xfrm>
            <a:off x="731520" y="1298448"/>
            <a:ext cx="201168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Record 1</a:t>
            </a:r>
            <a:endParaRPr lang="en-US" sz="1500" dirty="0"/>
          </a:p>
        </p:txBody>
      </p:sp>
      <p:sp>
        <p:nvSpPr>
          <p:cNvPr id="5" name="Text 3"/>
          <p:cNvSpPr txBox="1"/>
          <p:nvPr/>
        </p:nvSpPr>
        <p:spPr>
          <a:xfrm>
            <a:off x="731520" y="1645920"/>
            <a:ext cx="2057400" cy="5486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raw text, FHIR-lite items, engine, reviewer, time</a:t>
            </a:r>
            <a:endParaRPr lang="en-US" sz="1200" dirty="0"/>
          </a:p>
        </p:txBody>
      </p:sp>
      <p:sp>
        <p:nvSpPr>
          <p:cNvPr id="6" name="prev_hash"/>
          <p:cNvSpPr/>
          <p:nvPr/>
        </p:nvSpPr>
        <p:spPr>
          <a:xfrm>
            <a:off x="685800" y="2240280"/>
            <a:ext cx="2103120" cy="310896"/>
          </a:xfrm>
          <a:prstGeom prst="roundRect">
            <a:avLst>
              <a:gd name="adj" fmla="val 14706"/>
            </a:avLst>
          </a:prstGeom>
          <a:solidFill>
            <a:srgbClr val="FCEFD6"/>
          </a:solidFill>
          <a:ln w="12700">
            <a:solidFill>
              <a:schemeClr val="accent3"/>
            </a:solidFill>
            <a:prstDash val="solid"/>
          </a:ln>
        </p:spPr>
      </p:sp>
      <p:sp>
        <p:nvSpPr>
          <p:cNvPr id="7" name="Text 5"/>
          <p:cNvSpPr txBox="1"/>
          <p:nvPr/>
        </p:nvSpPr>
        <p:spPr>
          <a:xfrm>
            <a:off x="731520" y="2240280"/>
            <a:ext cx="2011680" cy="310896"/>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prev_hash: GENESIS</a:t>
            </a:r>
            <a:endParaRPr lang="en-US" sz="1100" dirty="0"/>
          </a:p>
        </p:txBody>
      </p:sp>
      <p:sp>
        <p:nvSpPr>
          <p:cNvPr id="8" name="hash"/>
          <p:cNvSpPr/>
          <p:nvPr/>
        </p:nvSpPr>
        <p:spPr>
          <a:xfrm>
            <a:off x="685800" y="2606040"/>
            <a:ext cx="2103120" cy="310896"/>
          </a:xfrm>
          <a:prstGeom prst="roundRect">
            <a:avLst>
              <a:gd name="adj" fmla="val 14706"/>
            </a:avLst>
          </a:prstGeom>
          <a:solidFill>
            <a:srgbClr val="E0F0EA"/>
          </a:solidFill>
          <a:ln w="12700">
            <a:solidFill>
              <a:schemeClr val="accent1"/>
            </a:solidFill>
            <a:prstDash val="solid"/>
          </a:ln>
        </p:spPr>
      </p:sp>
      <p:sp>
        <p:nvSpPr>
          <p:cNvPr id="9" name="Text 7"/>
          <p:cNvSpPr txBox="1"/>
          <p:nvPr/>
        </p:nvSpPr>
        <p:spPr>
          <a:xfrm>
            <a:off x="731520" y="2606040"/>
            <a:ext cx="2011680" cy="310896"/>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hash: SHA-256(all + prev)</a:t>
            </a:r>
            <a:endParaRPr lang="en-US" sz="1100" dirty="0"/>
          </a:p>
        </p:txBody>
      </p:sp>
      <p:sp>
        <p:nvSpPr>
          <p:cNvPr id="10" name="Arrow"/>
          <p:cNvSpPr/>
          <p:nvPr/>
        </p:nvSpPr>
        <p:spPr>
          <a:xfrm>
            <a:off x="2926080" y="2761488"/>
            <a:ext cx="502920" cy="0"/>
          </a:xfrm>
          <a:prstGeom prst="line">
            <a:avLst/>
          </a:prstGeom>
          <a:noFill/>
          <a:ln w="22225">
            <a:solidFill>
              <a:schemeClr val="accent1"/>
            </a:solidFill>
            <a:prstDash val="solid"/>
            <a:tailEnd type="triangle"/>
          </a:ln>
        </p:spPr>
      </p:sp>
      <p:sp>
        <p:nvSpPr>
          <p:cNvPr id="11" name="Shape 9"/>
          <p:cNvSpPr/>
          <p:nvPr/>
        </p:nvSpPr>
        <p:spPr>
          <a:xfrm>
            <a:off x="3429000" y="1188720"/>
            <a:ext cx="2377440" cy="1828800"/>
          </a:xfrm>
          <a:prstGeom prst="roundRect">
            <a:avLst>
              <a:gd name="adj" fmla="val 4000"/>
            </a:avLst>
          </a:prstGeom>
          <a:solidFill>
            <a:schemeClr val="bg1"/>
          </a:solidFill>
          <a:ln w="9525">
            <a:solidFill>
              <a:srgbClr val="C9D2D5"/>
            </a:solidFill>
            <a:prstDash val="solid"/>
          </a:ln>
        </p:spPr>
      </p:sp>
      <p:sp>
        <p:nvSpPr>
          <p:cNvPr id="12" name="Text 10"/>
          <p:cNvSpPr txBox="1"/>
          <p:nvPr/>
        </p:nvSpPr>
        <p:spPr>
          <a:xfrm>
            <a:off x="3611880" y="1298448"/>
            <a:ext cx="201168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Record 2</a:t>
            </a:r>
            <a:endParaRPr lang="en-US" sz="1500" dirty="0"/>
          </a:p>
        </p:txBody>
      </p:sp>
      <p:sp>
        <p:nvSpPr>
          <p:cNvPr id="13" name="Text 11"/>
          <p:cNvSpPr txBox="1"/>
          <p:nvPr/>
        </p:nvSpPr>
        <p:spPr>
          <a:xfrm>
            <a:off x="3611880" y="1645920"/>
            <a:ext cx="2057400" cy="5486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raw text, FHIR-lite items, engine, reviewer, time</a:t>
            </a:r>
            <a:endParaRPr lang="en-US" sz="1200" dirty="0"/>
          </a:p>
        </p:txBody>
      </p:sp>
      <p:sp>
        <p:nvSpPr>
          <p:cNvPr id="14" name="prev_hash"/>
          <p:cNvSpPr/>
          <p:nvPr/>
        </p:nvSpPr>
        <p:spPr>
          <a:xfrm>
            <a:off x="3566160" y="2240280"/>
            <a:ext cx="2103120" cy="310896"/>
          </a:xfrm>
          <a:prstGeom prst="roundRect">
            <a:avLst>
              <a:gd name="adj" fmla="val 14706"/>
            </a:avLst>
          </a:prstGeom>
          <a:solidFill>
            <a:srgbClr val="FCEFD6"/>
          </a:solidFill>
          <a:ln w="12700">
            <a:solidFill>
              <a:schemeClr val="accent3"/>
            </a:solidFill>
            <a:prstDash val="solid"/>
          </a:ln>
        </p:spPr>
      </p:sp>
      <p:sp>
        <p:nvSpPr>
          <p:cNvPr id="15" name="Text 13"/>
          <p:cNvSpPr txBox="1"/>
          <p:nvPr/>
        </p:nvSpPr>
        <p:spPr>
          <a:xfrm>
            <a:off x="3611880" y="2240280"/>
            <a:ext cx="2011680" cy="310896"/>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prev_hash: hash of 1</a:t>
            </a:r>
            <a:endParaRPr lang="en-US" sz="1100" dirty="0"/>
          </a:p>
        </p:txBody>
      </p:sp>
      <p:sp>
        <p:nvSpPr>
          <p:cNvPr id="16" name="hash"/>
          <p:cNvSpPr/>
          <p:nvPr/>
        </p:nvSpPr>
        <p:spPr>
          <a:xfrm>
            <a:off x="3566160" y="2606040"/>
            <a:ext cx="2103120" cy="310896"/>
          </a:xfrm>
          <a:prstGeom prst="roundRect">
            <a:avLst>
              <a:gd name="adj" fmla="val 14706"/>
            </a:avLst>
          </a:prstGeom>
          <a:solidFill>
            <a:srgbClr val="E0F0EA"/>
          </a:solidFill>
          <a:ln w="12700">
            <a:solidFill>
              <a:schemeClr val="accent1"/>
            </a:solidFill>
            <a:prstDash val="solid"/>
          </a:ln>
        </p:spPr>
      </p:sp>
      <p:sp>
        <p:nvSpPr>
          <p:cNvPr id="17" name="Text 15"/>
          <p:cNvSpPr txBox="1"/>
          <p:nvPr/>
        </p:nvSpPr>
        <p:spPr>
          <a:xfrm>
            <a:off x="3611880" y="2606040"/>
            <a:ext cx="2011680" cy="310896"/>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hash: SHA-256(all + prev)</a:t>
            </a:r>
            <a:endParaRPr lang="en-US" sz="1100" dirty="0"/>
          </a:p>
        </p:txBody>
      </p:sp>
      <p:sp>
        <p:nvSpPr>
          <p:cNvPr id="18" name="Arrow"/>
          <p:cNvSpPr/>
          <p:nvPr/>
        </p:nvSpPr>
        <p:spPr>
          <a:xfrm>
            <a:off x="5806440" y="2761488"/>
            <a:ext cx="502920" cy="0"/>
          </a:xfrm>
          <a:prstGeom prst="line">
            <a:avLst/>
          </a:prstGeom>
          <a:noFill/>
          <a:ln w="22225">
            <a:solidFill>
              <a:schemeClr val="accent1"/>
            </a:solidFill>
            <a:prstDash val="solid"/>
            <a:tailEnd type="triangle"/>
          </a:ln>
        </p:spPr>
      </p:sp>
      <p:sp>
        <p:nvSpPr>
          <p:cNvPr id="19" name="Shape 17"/>
          <p:cNvSpPr/>
          <p:nvPr/>
        </p:nvSpPr>
        <p:spPr>
          <a:xfrm>
            <a:off x="6309360" y="1188720"/>
            <a:ext cx="2377440" cy="1828800"/>
          </a:xfrm>
          <a:prstGeom prst="roundRect">
            <a:avLst>
              <a:gd name="adj" fmla="val 4000"/>
            </a:avLst>
          </a:prstGeom>
          <a:solidFill>
            <a:schemeClr val="bg1"/>
          </a:solidFill>
          <a:ln w="9525">
            <a:solidFill>
              <a:srgbClr val="C9D2D5"/>
            </a:solidFill>
            <a:prstDash val="solid"/>
          </a:ln>
        </p:spPr>
      </p:sp>
      <p:sp>
        <p:nvSpPr>
          <p:cNvPr id="20" name="Text 18"/>
          <p:cNvSpPr txBox="1"/>
          <p:nvPr/>
        </p:nvSpPr>
        <p:spPr>
          <a:xfrm>
            <a:off x="6492240" y="1298448"/>
            <a:ext cx="201168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Record 3</a:t>
            </a:r>
            <a:endParaRPr lang="en-US" sz="1500" dirty="0"/>
          </a:p>
        </p:txBody>
      </p:sp>
      <p:sp>
        <p:nvSpPr>
          <p:cNvPr id="21" name="Text 19"/>
          <p:cNvSpPr txBox="1"/>
          <p:nvPr/>
        </p:nvSpPr>
        <p:spPr>
          <a:xfrm>
            <a:off x="6492240" y="1645920"/>
            <a:ext cx="2057400" cy="5486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raw text, FHIR-lite items, engine, reviewer, time</a:t>
            </a:r>
            <a:endParaRPr lang="en-US" sz="1200" dirty="0"/>
          </a:p>
        </p:txBody>
      </p:sp>
      <p:sp>
        <p:nvSpPr>
          <p:cNvPr id="22" name="prev_hash"/>
          <p:cNvSpPr/>
          <p:nvPr/>
        </p:nvSpPr>
        <p:spPr>
          <a:xfrm>
            <a:off x="6446520" y="2240280"/>
            <a:ext cx="2103120" cy="310896"/>
          </a:xfrm>
          <a:prstGeom prst="roundRect">
            <a:avLst>
              <a:gd name="adj" fmla="val 14706"/>
            </a:avLst>
          </a:prstGeom>
          <a:solidFill>
            <a:srgbClr val="FCEFD6"/>
          </a:solidFill>
          <a:ln w="12700">
            <a:solidFill>
              <a:schemeClr val="accent3"/>
            </a:solidFill>
            <a:prstDash val="solid"/>
          </a:ln>
        </p:spPr>
      </p:sp>
      <p:sp>
        <p:nvSpPr>
          <p:cNvPr id="23" name="Text 21"/>
          <p:cNvSpPr txBox="1"/>
          <p:nvPr/>
        </p:nvSpPr>
        <p:spPr>
          <a:xfrm>
            <a:off x="6492240" y="2240280"/>
            <a:ext cx="2011680" cy="310896"/>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prev_hash: hash of 2</a:t>
            </a:r>
            <a:endParaRPr lang="en-US" sz="1100" dirty="0"/>
          </a:p>
        </p:txBody>
      </p:sp>
      <p:sp>
        <p:nvSpPr>
          <p:cNvPr id="24" name="hash"/>
          <p:cNvSpPr/>
          <p:nvPr/>
        </p:nvSpPr>
        <p:spPr>
          <a:xfrm>
            <a:off x="6446520" y="2606040"/>
            <a:ext cx="2103120" cy="310896"/>
          </a:xfrm>
          <a:prstGeom prst="roundRect">
            <a:avLst>
              <a:gd name="adj" fmla="val 14706"/>
            </a:avLst>
          </a:prstGeom>
          <a:solidFill>
            <a:srgbClr val="E0F0EA"/>
          </a:solidFill>
          <a:ln w="12700">
            <a:solidFill>
              <a:schemeClr val="accent1"/>
            </a:solidFill>
            <a:prstDash val="solid"/>
          </a:ln>
        </p:spPr>
      </p:sp>
      <p:sp>
        <p:nvSpPr>
          <p:cNvPr id="25" name="Text 23"/>
          <p:cNvSpPr txBox="1"/>
          <p:nvPr/>
        </p:nvSpPr>
        <p:spPr>
          <a:xfrm>
            <a:off x="6492240" y="2606040"/>
            <a:ext cx="2011680" cy="310896"/>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hash: SHA-256(all + prev)</a:t>
            </a:r>
            <a:endParaRPr lang="en-US" sz="1100" dirty="0"/>
          </a:p>
        </p:txBody>
      </p:sp>
      <p:sp>
        <p:nvSpPr>
          <p:cNvPr id="26" name="Shape 24"/>
          <p:cNvSpPr/>
          <p:nvPr/>
        </p:nvSpPr>
        <p:spPr>
          <a:xfrm>
            <a:off x="548640" y="3337560"/>
            <a:ext cx="2560320" cy="1097280"/>
          </a:xfrm>
          <a:prstGeom prst="roundRect">
            <a:avLst>
              <a:gd name="adj" fmla="val 6667"/>
            </a:avLst>
          </a:prstGeom>
          <a:solidFill>
            <a:schemeClr val="bg2"/>
          </a:solidFill>
          <a:ln w="12700">
            <a:solidFill>
              <a:schemeClr val="bg2"/>
            </a:solidFill>
            <a:prstDash val="solid"/>
          </a:ln>
        </p:spPr>
      </p:sp>
      <p:sp>
        <p:nvSpPr>
          <p:cNvPr id="27" name="Text 25"/>
          <p:cNvSpPr txBox="1"/>
          <p:nvPr/>
        </p:nvSpPr>
        <p:spPr>
          <a:xfrm>
            <a:off x="731520" y="344728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No UPDATE</a:t>
            </a:r>
            <a:endParaRPr lang="en-US" sz="1500" dirty="0"/>
          </a:p>
        </p:txBody>
      </p:sp>
      <p:sp>
        <p:nvSpPr>
          <p:cNvPr id="28" name="Text 26"/>
          <p:cNvSpPr txBox="1"/>
          <p:nvPr/>
        </p:nvSpPr>
        <p:spPr>
          <a:xfrm>
            <a:off x="731520" y="3767328"/>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SQLite triggers abort edits to any content column</a:t>
            </a:r>
            <a:endParaRPr lang="en-US" sz="1300" dirty="0"/>
          </a:p>
        </p:txBody>
      </p:sp>
      <p:sp>
        <p:nvSpPr>
          <p:cNvPr id="29" name="Shape 27"/>
          <p:cNvSpPr/>
          <p:nvPr/>
        </p:nvSpPr>
        <p:spPr>
          <a:xfrm>
            <a:off x="3291840" y="3337560"/>
            <a:ext cx="2560320" cy="1097280"/>
          </a:xfrm>
          <a:prstGeom prst="roundRect">
            <a:avLst>
              <a:gd name="adj" fmla="val 6667"/>
            </a:avLst>
          </a:prstGeom>
          <a:solidFill>
            <a:schemeClr val="bg2"/>
          </a:solidFill>
          <a:ln w="12700">
            <a:solidFill>
              <a:schemeClr val="bg2"/>
            </a:solidFill>
            <a:prstDash val="solid"/>
          </a:ln>
        </p:spPr>
      </p:sp>
      <p:sp>
        <p:nvSpPr>
          <p:cNvPr id="30" name="Text 28"/>
          <p:cNvSpPr txBox="1"/>
          <p:nvPr/>
        </p:nvSpPr>
        <p:spPr>
          <a:xfrm>
            <a:off x="3474720" y="344728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No DELETE</a:t>
            </a:r>
            <a:endParaRPr lang="en-US" sz="1500" dirty="0"/>
          </a:p>
        </p:txBody>
      </p:sp>
      <p:sp>
        <p:nvSpPr>
          <p:cNvPr id="31" name="Text 29"/>
          <p:cNvSpPr txBox="1"/>
          <p:nvPr/>
        </p:nvSpPr>
        <p:spPr>
          <a:xfrm>
            <a:off x="3474720" y="3767328"/>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log is strictly append-only</a:t>
            </a:r>
            <a:endParaRPr lang="en-US" sz="1300" dirty="0"/>
          </a:p>
        </p:txBody>
      </p:sp>
      <p:sp>
        <p:nvSpPr>
          <p:cNvPr id="32" name="Shape 30"/>
          <p:cNvSpPr/>
          <p:nvPr/>
        </p:nvSpPr>
        <p:spPr>
          <a:xfrm>
            <a:off x="6035040" y="3337560"/>
            <a:ext cx="2560320" cy="1097280"/>
          </a:xfrm>
          <a:prstGeom prst="roundRect">
            <a:avLst>
              <a:gd name="adj" fmla="val 6667"/>
            </a:avLst>
          </a:prstGeom>
          <a:solidFill>
            <a:schemeClr val="bg2"/>
          </a:solidFill>
          <a:ln w="12700">
            <a:solidFill>
              <a:schemeClr val="bg2"/>
            </a:solidFill>
            <a:prstDash val="solid"/>
          </a:ln>
        </p:spPr>
      </p:sp>
      <p:sp>
        <p:nvSpPr>
          <p:cNvPr id="33" name="Text 31"/>
          <p:cNvSpPr txBox="1"/>
          <p:nvPr/>
        </p:nvSpPr>
        <p:spPr>
          <a:xfrm>
            <a:off x="6217920" y="344728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Verify on demand</a:t>
            </a:r>
            <a:endParaRPr lang="en-US" sz="1500" dirty="0"/>
          </a:p>
        </p:txBody>
      </p:sp>
      <p:sp>
        <p:nvSpPr>
          <p:cNvPr id="34" name="Text 32"/>
          <p:cNvSpPr txBox="1"/>
          <p:nvPr/>
        </p:nvSpPr>
        <p:spPr>
          <a:xfrm>
            <a:off x="6217920" y="3767328"/>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GET /audit/verify recomputes every hash</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Try to tamper with a record</a:t>
            </a:r>
            <a:endParaRPr lang="en-US" sz="2800" dirty="0"/>
          </a:p>
        </p:txBody>
      </p:sp>
      <p:sp>
        <p:nvSpPr>
          <p:cNvPr id="3" name="Text 1"/>
          <p:cNvSpPr txBox="1"/>
          <p:nvPr/>
        </p:nvSpPr>
        <p:spPr>
          <a:xfrm>
            <a:off x="548640" y="1280160"/>
            <a:ext cx="3108960" cy="31089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A real SHA-256 chain runs in the browser on the landing page.</a:t>
            </a:r>
            <a:endParaRPr lang="en-US" sz="1600" dirty="0"/>
          </a:p>
          <a:p>
            <a:pPr marL="228600" indent="-2286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Edit the nitroglycerin line and record 3 and every record after it stops verifying.</a:t>
            </a:r>
            <a:endParaRPr lang="en-US" sz="1600" dirty="0"/>
          </a:p>
          <a:p>
            <a:pPr marL="228600" indent="-2286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The chain shows exactly where trust ends.</a:t>
            </a:r>
            <a:endParaRPr lang="en-US" sz="1600" dirty="0"/>
          </a:p>
        </p:txBody>
      </p:sp>
      <p:pic>
        <p:nvPicPr>
          <p:cNvPr id="4" name="Tamper demo screenshot" descr="Ledger showing a broken chain after an edit">    </p:cNvPr>
          <p:cNvPicPr>
            <a:picLocks noChangeAspect="1"/>
          </p:cNvPicPr>
          <p:nvPr/>
        </p:nvPicPr>
        <p:blipFill>
          <a:blip r:embed="rId1"/>
          <a:stretch>
            <a:fillRect/>
          </a:stretch>
        </p:blipFill>
        <p:spPr>
          <a:xfrm>
            <a:off x="3840480" y="1343025"/>
            <a:ext cx="4846320" cy="3028950"/>
          </a:xfrm>
          <a:prstGeom prst="rect">
            <a:avLst/>
          </a:prstGeom>
        </p:spPr>
      </p:pic>
      <p:sp>
        <p:nvSpPr>
          <p:cNvPr id="5" name="Image frame"/>
          <p:cNvSpPr/>
          <p:nvPr/>
        </p:nvSpPr>
        <p:spPr>
          <a:xfrm>
            <a:off x="3840480" y="1343025"/>
            <a:ext cx="4846320" cy="3028950"/>
          </a:xfrm>
          <a:prstGeom prst="rect">
            <a:avLst/>
          </a:prstGeom>
          <a:ln w="9525">
            <a:solidFill>
              <a:srgbClr val="C9D2D5"/>
            </a:solidFill>
            <a:prstDash val="solid"/>
          </a:ln>
        </p:spPr>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Landing page</a:t>
            </a:r>
            <a:endParaRPr lang="en-US" sz="2800" dirty="0"/>
          </a:p>
        </p:txBody>
      </p:sp>
      <p:pic>
        <p:nvPicPr>
          <p:cNvPr id="3" name="Landing hero" descr="C:/Users/prana/Virtusa_Jatayu2026/DOCS/screenshots/01_landing_hero.png">    </p:cNvPr>
          <p:cNvPicPr>
            <a:picLocks noChangeAspect="1"/>
          </p:cNvPicPr>
          <p:nvPr/>
        </p:nvPicPr>
        <p:blipFill>
          <a:blip r:embed="rId1"/>
          <a:stretch>
            <a:fillRect/>
          </a:stretch>
        </p:blipFill>
        <p:spPr>
          <a:xfrm>
            <a:off x="548640" y="1194435"/>
            <a:ext cx="3931920" cy="2457450"/>
          </a:xfrm>
          <a:prstGeom prst="rect">
            <a:avLst/>
          </a:prstGeom>
        </p:spPr>
      </p:pic>
      <p:sp>
        <p:nvSpPr>
          <p:cNvPr id="4" name="Image frame"/>
          <p:cNvSpPr/>
          <p:nvPr/>
        </p:nvSpPr>
        <p:spPr>
          <a:xfrm>
            <a:off x="548640" y="1194435"/>
            <a:ext cx="3931920" cy="2457450"/>
          </a:xfrm>
          <a:prstGeom prst="rect">
            <a:avLst/>
          </a:prstGeom>
          <a:ln w="9525">
            <a:solidFill>
              <a:srgbClr val="C9D2D5"/>
            </a:solidFill>
            <a:prstDash val="solid"/>
          </a:ln>
        </p:spPr>
      </p:sp>
      <p:pic>
        <p:nvPicPr>
          <p:cNvPr id="5" name="Landing timeline" descr="C:/Users/prana/Virtusa_Jatayu2026/DOCS/screenshots/03_landing_timeline.png">    </p:cNvPr>
          <p:cNvPicPr>
            <a:picLocks noChangeAspect="1"/>
          </p:cNvPicPr>
          <p:nvPr/>
        </p:nvPicPr>
        <p:blipFill>
          <a:blip r:embed="rId2"/>
          <a:stretch>
            <a:fillRect/>
          </a:stretch>
        </p:blipFill>
        <p:spPr>
          <a:xfrm>
            <a:off x="4663440" y="1194435"/>
            <a:ext cx="3931920" cy="2457450"/>
          </a:xfrm>
          <a:prstGeom prst="rect">
            <a:avLst/>
          </a:prstGeom>
        </p:spPr>
      </p:pic>
      <p:sp>
        <p:nvSpPr>
          <p:cNvPr id="6" name="Image frame"/>
          <p:cNvSpPr/>
          <p:nvPr/>
        </p:nvSpPr>
        <p:spPr>
          <a:xfrm>
            <a:off x="4663440" y="1194435"/>
            <a:ext cx="3931920" cy="2457450"/>
          </a:xfrm>
          <a:prstGeom prst="rect">
            <a:avLst/>
          </a:prstGeom>
          <a:ln w="9525">
            <a:solidFill>
              <a:srgbClr val="C9D2D5"/>
            </a:solidFill>
            <a:prstDash val="solid"/>
          </a:ln>
        </p:spPr>
      </p:sp>
      <p:sp>
        <p:nvSpPr>
          <p:cNvPr id="7" name="Text 3"/>
          <p:cNvSpPr txBox="1"/>
          <p:nvPr/>
        </p:nvSpPr>
        <p:spPr>
          <a:xfrm>
            <a:off x="548640" y="38862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A live monitor and a run sheet that fills as an example note is dictated.</a:t>
            </a:r>
            <a:endParaRPr lang="en-US" sz="1300" dirty="0"/>
          </a:p>
        </p:txBody>
      </p:sp>
      <p:sp>
        <p:nvSpPr>
          <p:cNvPr id="8" name="Text 4"/>
          <p:cNvSpPr txBox="1"/>
          <p:nvPr/>
        </p:nvSpPr>
        <p:spPr>
          <a:xfrm>
            <a:off x="4663440" y="38862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A scroll-driven timeline of one call, 14:32 to 14:51, showing what the system does at each step.</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Offline demo, modes, mobile</a:t>
            </a:r>
            <a:endParaRPr lang="en-US" sz="2800" dirty="0"/>
          </a:p>
        </p:txBody>
      </p:sp>
      <p:pic>
        <p:nvPicPr>
          <p:cNvPr id="3" name="Sync demo" descr="C:/Users/prana/Virtusa_Jatayu2026/DOCS/screenshots/04_landing_sync.png">    </p:cNvPr>
          <p:cNvPicPr>
            <a:picLocks noChangeAspect="1"/>
          </p:cNvPicPr>
          <p:nvPr/>
        </p:nvPicPr>
        <p:blipFill>
          <a:blip r:embed="rId1"/>
          <a:stretch>
            <a:fillRect/>
          </a:stretch>
        </p:blipFill>
        <p:spPr>
          <a:xfrm>
            <a:off x="548640" y="1211580"/>
            <a:ext cx="3291840" cy="2057400"/>
          </a:xfrm>
          <a:prstGeom prst="rect">
            <a:avLst/>
          </a:prstGeom>
        </p:spPr>
      </p:pic>
      <p:sp>
        <p:nvSpPr>
          <p:cNvPr id="4" name="Image frame"/>
          <p:cNvSpPr/>
          <p:nvPr/>
        </p:nvSpPr>
        <p:spPr>
          <a:xfrm>
            <a:off x="548640" y="1211580"/>
            <a:ext cx="3291840" cy="2057400"/>
          </a:xfrm>
          <a:prstGeom prst="rect">
            <a:avLst/>
          </a:prstGeom>
          <a:ln w="9525">
            <a:solidFill>
              <a:srgbClr val="C9D2D5"/>
            </a:solidFill>
            <a:prstDash val="solid"/>
          </a:ln>
        </p:spPr>
      </p:sp>
      <p:pic>
        <p:nvPicPr>
          <p:cNvPr id="5" name="Modes" descr="C:/Users/prana/Virtusa_Jatayu2026/DOCS/screenshots/02_landing_modes.png">    </p:cNvPr>
          <p:cNvPicPr>
            <a:picLocks noChangeAspect="1"/>
          </p:cNvPicPr>
          <p:nvPr/>
        </p:nvPicPr>
        <p:blipFill>
          <a:blip r:embed="rId2"/>
          <a:stretch>
            <a:fillRect/>
          </a:stretch>
        </p:blipFill>
        <p:spPr>
          <a:xfrm>
            <a:off x="3977640" y="1211580"/>
            <a:ext cx="3291840" cy="2057400"/>
          </a:xfrm>
          <a:prstGeom prst="rect">
            <a:avLst/>
          </a:prstGeom>
        </p:spPr>
      </p:pic>
      <p:sp>
        <p:nvSpPr>
          <p:cNvPr id="6" name="Image frame"/>
          <p:cNvSpPr/>
          <p:nvPr/>
        </p:nvSpPr>
        <p:spPr>
          <a:xfrm>
            <a:off x="3977640" y="1211580"/>
            <a:ext cx="3291840" cy="2057400"/>
          </a:xfrm>
          <a:prstGeom prst="rect">
            <a:avLst/>
          </a:prstGeom>
          <a:ln w="9525">
            <a:solidFill>
              <a:srgbClr val="C9D2D5"/>
            </a:solidFill>
            <a:prstDash val="solid"/>
          </a:ln>
        </p:spPr>
      </p:sp>
      <p:pic>
        <p:nvPicPr>
          <p:cNvPr id="7" name="Mobile landing" descr="C:/Users/prana/Virtusa_Jatayu2026/DOCS/screenshots/17_landing_mobile.png">    </p:cNvPr>
          <p:cNvPicPr>
            <a:picLocks noChangeAspect="1"/>
          </p:cNvPicPr>
          <p:nvPr/>
        </p:nvPicPr>
        <p:blipFill>
          <a:blip r:embed="rId3"/>
          <a:stretch>
            <a:fillRect/>
          </a:stretch>
        </p:blipFill>
        <p:spPr>
          <a:xfrm>
            <a:off x="7452360" y="1143000"/>
            <a:ext cx="1234440" cy="2671455"/>
          </a:xfrm>
          <a:prstGeom prst="rect">
            <a:avLst/>
          </a:prstGeom>
        </p:spPr>
      </p:pic>
      <p:sp>
        <p:nvSpPr>
          <p:cNvPr id="8" name="Image frame"/>
          <p:cNvSpPr/>
          <p:nvPr/>
        </p:nvSpPr>
        <p:spPr>
          <a:xfrm>
            <a:off x="7452360" y="1143000"/>
            <a:ext cx="1234440" cy="2671455"/>
          </a:xfrm>
          <a:prstGeom prst="rect">
            <a:avLst/>
          </a:prstGeom>
          <a:ln w="9525">
            <a:solidFill>
              <a:srgbClr val="C9D2D5"/>
            </a:solidFill>
            <a:prstDash val="solid"/>
          </a:ln>
        </p:spPr>
      </p:sp>
      <p:sp>
        <p:nvSpPr>
          <p:cNvPr id="9" name="Text 4"/>
          <p:cNvSpPr txBox="1"/>
          <p:nvPr/>
        </p:nvSpPr>
        <p:spPr>
          <a:xfrm>
            <a:off x="548640" y="3474720"/>
            <a:ext cx="3291840" cy="82296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Records queue on the device while offline and sync when the switch goes online.</a:t>
            </a:r>
            <a:endParaRPr lang="en-US" sz="1300" dirty="0"/>
          </a:p>
        </p:txBody>
      </p:sp>
      <p:sp>
        <p:nvSpPr>
          <p:cNvPr id="10" name="Text 5"/>
          <p:cNvSpPr txBox="1"/>
          <p:nvPr/>
        </p:nvSpPr>
        <p:spPr>
          <a:xfrm>
            <a:off x="3977640" y="3474720"/>
            <a:ext cx="3291840" cy="82296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Voice, typed text or a photo: three ways in, one checked draft.</a:t>
            </a:r>
            <a:endParaRPr lang="en-US" sz="1300" dirty="0"/>
          </a:p>
        </p:txBody>
      </p:sp>
      <p:sp>
        <p:nvSpPr>
          <p:cNvPr id="11" name="Text 6"/>
          <p:cNvSpPr txBox="1"/>
          <p:nvPr/>
        </p:nvSpPr>
        <p:spPr>
          <a:xfrm>
            <a:off x="7452360" y="4526280"/>
            <a:ext cx="1234440" cy="228600"/>
          </a:xfrm>
          <a:prstGeom prst="rect">
            <a:avLst/>
          </a:prstGeom>
          <a:noFill/>
          <a:ln/>
        </p:spPr>
        <p:txBody>
          <a:bodyPr wrap="square" lIns="0" tIns="0" rIns="0" bIns="0" rtlCol="0" anchor="t"/>
          <a:lstStyle/>
          <a:p>
            <a:pPr algn="ctr" indent="0" marL="0">
              <a:buNone/>
            </a:pPr>
            <a:r>
              <a:rPr lang="en-US" sz="1100" dirty="0">
                <a:solidFill>
                  <a:schemeClr val="accent6"/>
                </a:solidFill>
                <a:latin typeface="Calibri" pitchFamily="34" charset="0"/>
                <a:ea typeface="Calibri" pitchFamily="34" charset="-122"/>
                <a:cs typeface="Calibri" pitchFamily="34" charset="-120"/>
              </a:rPr>
              <a:t>Phone width</a:t>
            </a:r>
            <a:endParaRPr lang="en-US" sz="11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Field app: capture</a:t>
            </a:r>
            <a:endParaRPr lang="en-US" sz="2800" dirty="0"/>
          </a:p>
        </p:txBody>
      </p:sp>
      <p:pic>
        <p:nvPicPr>
          <p:cNvPr id="3" name="Capture screen" descr="C:/Users/prana/Virtusa_Jatayu2026/DOCS/screenshots/06_app_capture.png">    </p:cNvPr>
          <p:cNvPicPr>
            <a:picLocks noChangeAspect="1"/>
          </p:cNvPicPr>
          <p:nvPr/>
        </p:nvPicPr>
        <p:blipFill>
          <a:blip r:embed="rId1"/>
          <a:stretch>
            <a:fillRect/>
          </a:stretch>
        </p:blipFill>
        <p:spPr>
          <a:xfrm>
            <a:off x="548640" y="1194435"/>
            <a:ext cx="3931920" cy="2457450"/>
          </a:xfrm>
          <a:prstGeom prst="rect">
            <a:avLst/>
          </a:prstGeom>
        </p:spPr>
      </p:pic>
      <p:sp>
        <p:nvSpPr>
          <p:cNvPr id="4" name="Image frame"/>
          <p:cNvSpPr/>
          <p:nvPr/>
        </p:nvSpPr>
        <p:spPr>
          <a:xfrm>
            <a:off x="548640" y="1194435"/>
            <a:ext cx="3931920" cy="2457450"/>
          </a:xfrm>
          <a:prstGeom prst="rect">
            <a:avLst/>
          </a:prstGeom>
          <a:ln w="9525">
            <a:solidFill>
              <a:srgbClr val="C9D2D5"/>
            </a:solidFill>
            <a:prstDash val="solid"/>
          </a:ln>
        </p:spPr>
      </p:sp>
      <p:pic>
        <p:nvPicPr>
          <p:cNvPr id="5" name="Recording screen" descr="C:/Users/prana/Virtusa_Jatayu2026/DOCS/screenshots/07_app_recording.png">    </p:cNvPr>
          <p:cNvPicPr>
            <a:picLocks noChangeAspect="1"/>
          </p:cNvPicPr>
          <p:nvPr/>
        </p:nvPicPr>
        <p:blipFill>
          <a:blip r:embed="rId2"/>
          <a:stretch>
            <a:fillRect/>
          </a:stretch>
        </p:blipFill>
        <p:spPr>
          <a:xfrm>
            <a:off x="4663440" y="1194435"/>
            <a:ext cx="3931920" cy="2457450"/>
          </a:xfrm>
          <a:prstGeom prst="rect">
            <a:avLst/>
          </a:prstGeom>
        </p:spPr>
      </p:pic>
      <p:sp>
        <p:nvSpPr>
          <p:cNvPr id="6" name="Image frame"/>
          <p:cNvSpPr/>
          <p:nvPr/>
        </p:nvSpPr>
        <p:spPr>
          <a:xfrm>
            <a:off x="4663440" y="1194435"/>
            <a:ext cx="3931920" cy="2457450"/>
          </a:xfrm>
          <a:prstGeom prst="rect">
            <a:avLst/>
          </a:prstGeom>
          <a:ln w="9525">
            <a:solidFill>
              <a:srgbClr val="C9D2D5"/>
            </a:solidFill>
            <a:prstDash val="solid"/>
          </a:ln>
        </p:spPr>
      </p:sp>
      <p:sp>
        <p:nvSpPr>
          <p:cNvPr id="7" name="Text 3"/>
          <p:cNvSpPr txBox="1"/>
          <p:nvPr/>
        </p:nvSpPr>
        <p:spPr>
          <a:xfrm>
            <a:off x="548640" y="38862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Record, type or photograph. The ONLINE / OFFLINE switch sits in the bar.</a:t>
            </a:r>
            <a:endParaRPr lang="en-US" sz="1300" dirty="0"/>
          </a:p>
        </p:txBody>
      </p:sp>
      <p:sp>
        <p:nvSpPr>
          <p:cNvPr id="8" name="Text 4"/>
          <p:cNvSpPr txBox="1"/>
          <p:nvPr/>
        </p:nvSpPr>
        <p:spPr>
          <a:xfrm>
            <a:off x="4663440" y="38862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While recording, a live waveform and transcript show on a monitor-style panel.</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Review: flags stay loud</a:t>
            </a:r>
            <a:endParaRPr lang="en-US" sz="2800" dirty="0"/>
          </a:p>
        </p:txBody>
      </p:sp>
      <p:pic>
        <p:nvPicPr>
          <p:cNvPr id="3" name="Review screen" descr="C:/Users/prana/Virtusa_Jatayu2026/DOCS/screenshots/09_app_review.png">    </p:cNvPr>
          <p:cNvPicPr>
            <a:picLocks noChangeAspect="1"/>
          </p:cNvPicPr>
          <p:nvPr/>
        </p:nvPicPr>
        <p:blipFill>
          <a:blip r:embed="rId1"/>
          <a:stretch>
            <a:fillRect/>
          </a:stretch>
        </p:blipFill>
        <p:spPr>
          <a:xfrm>
            <a:off x="548640" y="1148715"/>
            <a:ext cx="5394960" cy="3371850"/>
          </a:xfrm>
          <a:prstGeom prst="rect">
            <a:avLst/>
          </a:prstGeom>
        </p:spPr>
      </p:pic>
      <p:sp>
        <p:nvSpPr>
          <p:cNvPr id="4" name="Image frame"/>
          <p:cNvSpPr/>
          <p:nvPr/>
        </p:nvSpPr>
        <p:spPr>
          <a:xfrm>
            <a:off x="548640" y="1148715"/>
            <a:ext cx="5394960" cy="3371850"/>
          </a:xfrm>
          <a:prstGeom prst="rect">
            <a:avLst/>
          </a:prstGeom>
          <a:ln w="9525">
            <a:solidFill>
              <a:srgbClr val="C9D2D5"/>
            </a:solidFill>
            <a:prstDash val="solid"/>
          </a:ln>
        </p:spPr>
      </p:sp>
      <p:sp>
        <p:nvSpPr>
          <p:cNvPr id="5" name="Text 2"/>
          <p:cNvSpPr txBox="1"/>
          <p:nvPr/>
        </p:nvSpPr>
        <p:spPr>
          <a:xfrm>
            <a:off x="6217920" y="1280160"/>
            <a:ext cx="246888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Side by side</a:t>
            </a:r>
            <a:endParaRPr lang="en-US" sz="1500" dirty="0"/>
          </a:p>
        </p:txBody>
      </p:sp>
      <p:sp>
        <p:nvSpPr>
          <p:cNvPr id="6" name="Text 3"/>
          <p:cNvSpPr txBox="1"/>
          <p:nvPr/>
        </p:nvSpPr>
        <p:spPr>
          <a:xfrm>
            <a:off x="6217920" y="1600200"/>
            <a:ext cx="246888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the original words next to the extracted items</a:t>
            </a:r>
            <a:endParaRPr lang="en-US" sz="1300" dirty="0"/>
          </a:p>
        </p:txBody>
      </p:sp>
      <p:sp>
        <p:nvSpPr>
          <p:cNvPr id="7" name="Text 4"/>
          <p:cNvSpPr txBox="1"/>
          <p:nvPr/>
        </p:nvSpPr>
        <p:spPr>
          <a:xfrm>
            <a:off x="6217920" y="2331720"/>
            <a:ext cx="246888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Reasons shown</a:t>
            </a:r>
            <a:endParaRPr lang="en-US" sz="1500" dirty="0"/>
          </a:p>
        </p:txBody>
      </p:sp>
      <p:sp>
        <p:nvSpPr>
          <p:cNvPr id="8" name="Text 5"/>
          <p:cNvSpPr txBox="1"/>
          <p:nvPr/>
        </p:nvSpPr>
        <p:spPr>
          <a:xfrm>
            <a:off x="6217920" y="2651760"/>
            <a:ext cx="246888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each flag says what is missing or uncertain</a:t>
            </a:r>
            <a:endParaRPr lang="en-US" sz="1300" dirty="0"/>
          </a:p>
        </p:txBody>
      </p:sp>
      <p:sp>
        <p:nvSpPr>
          <p:cNvPr id="9" name="Text 6"/>
          <p:cNvSpPr txBox="1"/>
          <p:nvPr/>
        </p:nvSpPr>
        <p:spPr>
          <a:xfrm>
            <a:off x="6217920" y="3383280"/>
            <a:ext cx="246888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Confirm stays locked</a:t>
            </a:r>
            <a:endParaRPr lang="en-US" sz="1500" dirty="0"/>
          </a:p>
        </p:txBody>
      </p:sp>
      <p:sp>
        <p:nvSpPr>
          <p:cNvPr id="10" name="Text 7"/>
          <p:cNvSpPr txBox="1"/>
          <p:nvPr/>
        </p:nvSpPr>
        <p:spPr>
          <a:xfrm>
            <a:off x="6217920" y="3703320"/>
            <a:ext cx="246888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until every flag is accepted or the item removed</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Seal and ledger</a:t>
            </a:r>
            <a:endParaRPr lang="en-US" sz="2800" dirty="0"/>
          </a:p>
        </p:txBody>
      </p:sp>
      <p:pic>
        <p:nvPicPr>
          <p:cNvPr id="3" name="Sealed screen" descr="C:/Users/prana/Virtusa_Jatayu2026/DOCS/screenshots/11_app_sealed.png">    </p:cNvPr>
          <p:cNvPicPr>
            <a:picLocks noChangeAspect="1"/>
          </p:cNvPicPr>
          <p:nvPr/>
        </p:nvPicPr>
        <p:blipFill>
          <a:blip r:embed="rId1"/>
          <a:stretch>
            <a:fillRect/>
          </a:stretch>
        </p:blipFill>
        <p:spPr>
          <a:xfrm>
            <a:off x="548640" y="1194435"/>
            <a:ext cx="3931920" cy="2457450"/>
          </a:xfrm>
          <a:prstGeom prst="rect">
            <a:avLst/>
          </a:prstGeom>
        </p:spPr>
      </p:pic>
      <p:sp>
        <p:nvSpPr>
          <p:cNvPr id="4" name="Image frame"/>
          <p:cNvSpPr/>
          <p:nvPr/>
        </p:nvSpPr>
        <p:spPr>
          <a:xfrm>
            <a:off x="548640" y="1194435"/>
            <a:ext cx="3931920" cy="2457450"/>
          </a:xfrm>
          <a:prstGeom prst="rect">
            <a:avLst/>
          </a:prstGeom>
          <a:ln w="9525">
            <a:solidFill>
              <a:srgbClr val="C9D2D5"/>
            </a:solidFill>
            <a:prstDash val="solid"/>
          </a:ln>
        </p:spPr>
      </p:sp>
      <p:pic>
        <p:nvPicPr>
          <p:cNvPr id="5" name="Ledger screen" descr="C:/Users/prana/Virtusa_Jatayu2026/DOCS/screenshots/12_app_ledger.png">    </p:cNvPr>
          <p:cNvPicPr>
            <a:picLocks noChangeAspect="1"/>
          </p:cNvPicPr>
          <p:nvPr/>
        </p:nvPicPr>
        <p:blipFill>
          <a:blip r:embed="rId2"/>
          <a:stretch>
            <a:fillRect/>
          </a:stretch>
        </p:blipFill>
        <p:spPr>
          <a:xfrm>
            <a:off x="4663440" y="1194435"/>
            <a:ext cx="3931920" cy="2457450"/>
          </a:xfrm>
          <a:prstGeom prst="rect">
            <a:avLst/>
          </a:prstGeom>
        </p:spPr>
      </p:pic>
      <p:sp>
        <p:nvSpPr>
          <p:cNvPr id="6" name="Image frame"/>
          <p:cNvSpPr/>
          <p:nvPr/>
        </p:nvSpPr>
        <p:spPr>
          <a:xfrm>
            <a:off x="4663440" y="1194435"/>
            <a:ext cx="3931920" cy="2457450"/>
          </a:xfrm>
          <a:prstGeom prst="rect">
            <a:avLst/>
          </a:prstGeom>
          <a:ln w="9525">
            <a:solidFill>
              <a:srgbClr val="C9D2D5"/>
            </a:solidFill>
            <a:prstDash val="solid"/>
          </a:ln>
        </p:spPr>
      </p:sp>
      <p:sp>
        <p:nvSpPr>
          <p:cNvPr id="7" name="Text 3"/>
          <p:cNvSpPr txBox="1"/>
          <p:nvPr/>
        </p:nvSpPr>
        <p:spPr>
          <a:xfrm>
            <a:off x="548640" y="38862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Sealing shows the record ID and the SHA-256 hash, with a stamp.</a:t>
            </a:r>
            <a:endParaRPr lang="en-US" sz="1300" dirty="0"/>
          </a:p>
        </p:txBody>
      </p:sp>
      <p:sp>
        <p:nvSpPr>
          <p:cNvPr id="8" name="Text 4"/>
          <p:cNvSpPr txBox="1"/>
          <p:nvPr/>
        </p:nvSpPr>
        <p:spPr>
          <a:xfrm>
            <a:off x="4663440" y="38862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The ledger re-verifies the whole chain on demand.</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Handover report</a:t>
            </a:r>
            <a:endParaRPr lang="en-US" sz="2800" dirty="0"/>
          </a:p>
        </p:txBody>
      </p:sp>
      <p:pic>
        <p:nvPicPr>
          <p:cNvPr id="3" name="Handover PDF" descr="C:/Users/prana/Virtusa_Jatayu2026/DOCS/screenshots/18_handover_pdf.png">    </p:cNvPr>
          <p:cNvPicPr>
            <a:picLocks noChangeAspect="1"/>
          </p:cNvPicPr>
          <p:nvPr/>
        </p:nvPicPr>
        <p:blipFill>
          <a:blip r:embed="rId1"/>
          <a:stretch>
            <a:fillRect/>
          </a:stretch>
        </p:blipFill>
        <p:spPr>
          <a:xfrm>
            <a:off x="1091396" y="1097280"/>
            <a:ext cx="3120729" cy="3520440"/>
          </a:xfrm>
          <a:prstGeom prst="rect">
            <a:avLst/>
          </a:prstGeom>
        </p:spPr>
      </p:pic>
      <p:sp>
        <p:nvSpPr>
          <p:cNvPr id="4" name="Image frame"/>
          <p:cNvSpPr/>
          <p:nvPr/>
        </p:nvSpPr>
        <p:spPr>
          <a:xfrm>
            <a:off x="1091396" y="1097280"/>
            <a:ext cx="3120729" cy="3520440"/>
          </a:xfrm>
          <a:prstGeom prst="rect">
            <a:avLst/>
          </a:prstGeom>
          <a:ln w="9525">
            <a:solidFill>
              <a:srgbClr val="C9D2D5"/>
            </a:solidFill>
            <a:prstDash val="solid"/>
          </a:ln>
        </p:spPr>
      </p:sp>
      <p:sp>
        <p:nvSpPr>
          <p:cNvPr id="5" name="Text 2"/>
          <p:cNvSpPr txBox="1"/>
          <p:nvPr/>
        </p:nvSpPr>
        <p:spPr>
          <a:xfrm>
            <a:off x="5029200" y="1280160"/>
            <a:ext cx="3657600" cy="274320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Encounter, date, who confirmed it, how it was captured</a:t>
            </a:r>
            <a:endParaRPr lang="en-US" sz="1500" dirty="0"/>
          </a:p>
          <a:p>
            <a:pPr marL="228600" indent="-2286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Medications and procedures in time order</a:t>
            </a:r>
            <a:endParaRPr lang="en-US" sz="1500" dirty="0"/>
          </a:p>
          <a:p>
            <a:pPr marL="228600" indent="-2286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The verbatim field note</a:t>
            </a:r>
            <a:endParaRPr lang="en-US" sz="1500" dirty="0"/>
          </a:p>
          <a:p>
            <a:pPr marL="228600" indent="-2286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Record ID and the full SHA-256 hash</a:t>
            </a:r>
            <a:endParaRPr lang="en-US" sz="1500" dirty="0"/>
          </a:p>
          <a:p>
            <a:pPr marL="228600" indent="-2286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A sign-off box for the receiving clinician</a:t>
            </a:r>
            <a:endParaRPr lang="en-US" sz="1500" dirty="0"/>
          </a:p>
        </p:txBody>
      </p:sp>
      <p:sp>
        <p:nvSpPr>
          <p:cNvPr id="6" name="Text 3"/>
          <p:cNvSpPr txBox="1"/>
          <p:nvPr/>
        </p:nvSpPr>
        <p:spPr>
          <a:xfrm>
            <a:off x="5029200" y="4114800"/>
            <a:ext cx="3657600" cy="365760"/>
          </a:xfrm>
          <a:prstGeom prst="rect">
            <a:avLst/>
          </a:prstGeom>
          <a:noFill/>
          <a:ln/>
        </p:spPr>
        <p:txBody>
          <a:bodyPr wrap="square" lIns="0" tIns="0" rIns="0" bIns="0" rtlCol="0" anchor="t"/>
          <a:lstStyle/>
          <a:p>
            <a:pPr indent="0" marL="0">
              <a:buNone/>
            </a:pPr>
            <a:r>
              <a:rPr lang="en-US" sz="1300" b="1" dirty="0">
                <a:solidFill>
                  <a:schemeClr val="accent6"/>
                </a:solidFill>
                <a:latin typeface="Calibri" pitchFamily="34" charset="0"/>
                <a:ea typeface="Calibri" pitchFamily="34" charset="-122"/>
                <a:cs typeface="Calibri" pitchFamily="34" charset="-120"/>
              </a:rPr>
              <a:t>Plain, one page, no machine-written narrative.</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Supervisor dashboard</a:t>
            </a:r>
            <a:endParaRPr lang="en-US" sz="2800" dirty="0"/>
          </a:p>
        </p:txBody>
      </p:sp>
      <p:pic>
        <p:nvPicPr>
          <p:cNvPr id="3" name="Dashboard" descr="C:/Users/prana/Virtusa_Jatayu2026/DOCS/screenshots/15_dashboard.png">    </p:cNvPr>
          <p:cNvPicPr>
            <a:picLocks noChangeAspect="1"/>
          </p:cNvPicPr>
          <p:nvPr/>
        </p:nvPicPr>
        <p:blipFill>
          <a:blip r:embed="rId1"/>
          <a:stretch>
            <a:fillRect/>
          </a:stretch>
        </p:blipFill>
        <p:spPr>
          <a:xfrm>
            <a:off x="548640" y="1194435"/>
            <a:ext cx="3931920" cy="2457450"/>
          </a:xfrm>
          <a:prstGeom prst="rect">
            <a:avLst/>
          </a:prstGeom>
        </p:spPr>
      </p:pic>
      <p:sp>
        <p:nvSpPr>
          <p:cNvPr id="4" name="Image frame"/>
          <p:cNvSpPr/>
          <p:nvPr/>
        </p:nvSpPr>
        <p:spPr>
          <a:xfrm>
            <a:off x="548640" y="1194435"/>
            <a:ext cx="3931920" cy="2457450"/>
          </a:xfrm>
          <a:prstGeom prst="rect">
            <a:avLst/>
          </a:prstGeom>
          <a:ln w="9525">
            <a:solidFill>
              <a:srgbClr val="C9D2D5"/>
            </a:solidFill>
            <a:prstDash val="solid"/>
          </a:ln>
        </p:spPr>
      </p:sp>
      <p:pic>
        <p:nvPicPr>
          <p:cNvPr id="5" name="Audit explorer" descr="C:/Users/prana/Virtusa_Jatayu2026/DOCS/screenshots/16_dashboard_audit.png">    </p:cNvPr>
          <p:cNvPicPr>
            <a:picLocks noChangeAspect="1"/>
          </p:cNvPicPr>
          <p:nvPr/>
        </p:nvPicPr>
        <p:blipFill>
          <a:blip r:embed="rId2"/>
          <a:stretch>
            <a:fillRect/>
          </a:stretch>
        </p:blipFill>
        <p:spPr>
          <a:xfrm>
            <a:off x="4663440" y="1194435"/>
            <a:ext cx="3931920" cy="2457450"/>
          </a:xfrm>
          <a:prstGeom prst="rect">
            <a:avLst/>
          </a:prstGeom>
        </p:spPr>
      </p:pic>
      <p:sp>
        <p:nvSpPr>
          <p:cNvPr id="6" name="Image frame"/>
          <p:cNvSpPr/>
          <p:nvPr/>
        </p:nvSpPr>
        <p:spPr>
          <a:xfrm>
            <a:off x="4663440" y="1194435"/>
            <a:ext cx="3931920" cy="2457450"/>
          </a:xfrm>
          <a:prstGeom prst="rect">
            <a:avLst/>
          </a:prstGeom>
          <a:ln w="9525">
            <a:solidFill>
              <a:srgbClr val="C9D2D5"/>
            </a:solidFill>
            <a:prstDash val="solid"/>
          </a:ln>
        </p:spPr>
      </p:sp>
      <p:sp>
        <p:nvSpPr>
          <p:cNvPr id="7" name="Text 3"/>
          <p:cNvSpPr txBox="1"/>
          <p:nvPr/>
        </p:nvSpPr>
        <p:spPr>
          <a:xfrm>
            <a:off x="548640" y="3886200"/>
            <a:ext cx="3931920" cy="7315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Read-only: counts, a shift board with one lane per vehicle, a 14-day sparkline and the encounter table.</a:t>
            </a:r>
            <a:endParaRPr lang="en-US" sz="1300" dirty="0"/>
          </a:p>
        </p:txBody>
      </p:sp>
      <p:sp>
        <p:nvSpPr>
          <p:cNvPr id="8" name="Text 4"/>
          <p:cNvSpPr txBox="1"/>
          <p:nvPr/>
        </p:nvSpPr>
        <p:spPr>
          <a:xfrm>
            <a:off x="4663440" y="3886200"/>
            <a:ext cx="3931920" cy="7315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Audit explorer: every synced block with its previous hash and block hash. Shown with sample data.</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One design language</a:t>
            </a:r>
            <a:endParaRPr lang="en-US" sz="2800" dirty="0"/>
          </a:p>
        </p:txBody>
      </p:sp>
      <p:pic>
        <p:nvPicPr>
          <p:cNvPr id="3" name="Logo" descr="Sanjeevani Lekh logo: a leaf with a heartbeat through it">    </p:cNvPr>
          <p:cNvPicPr>
            <a:picLocks noChangeAspect="1"/>
          </p:cNvPicPr>
          <p:nvPr/>
        </p:nvPicPr>
        <p:blipFill>
          <a:blip r:embed="rId1"/>
          <a:stretch>
            <a:fillRect/>
          </a:stretch>
        </p:blipFill>
        <p:spPr>
          <a:xfrm>
            <a:off x="548640" y="1280160"/>
            <a:ext cx="1554480" cy="1554480"/>
          </a:xfrm>
          <a:prstGeom prst="rect">
            <a:avLst/>
          </a:prstGeom>
        </p:spPr>
      </p:pic>
      <p:sp>
        <p:nvSpPr>
          <p:cNvPr id="4" name="Text 1"/>
          <p:cNvSpPr txBox="1"/>
          <p:nvPr/>
        </p:nvSpPr>
        <p:spPr>
          <a:xfrm>
            <a:off x="548640" y="2971800"/>
            <a:ext cx="219456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A leaf (the Sanjeevani herb) with a heartbeat through it.</a:t>
            </a:r>
            <a:endParaRPr lang="en-US" sz="1300" dirty="0"/>
          </a:p>
        </p:txBody>
      </p:sp>
      <p:sp>
        <p:nvSpPr>
          <p:cNvPr id="5" name="Swatch Ink"/>
          <p:cNvSpPr/>
          <p:nvPr/>
        </p:nvSpPr>
        <p:spPr>
          <a:xfrm>
            <a:off x="3017520" y="1280160"/>
            <a:ext cx="1783080" cy="731520"/>
          </a:xfrm>
          <a:prstGeom prst="roundRect">
            <a:avLst>
              <a:gd name="adj" fmla="val 8750"/>
            </a:avLst>
          </a:prstGeom>
          <a:solidFill>
            <a:srgbClr val="0C1B22"/>
          </a:solidFill>
          <a:ln w="9525">
            <a:solidFill>
              <a:srgbClr val="C9D2D5"/>
            </a:solidFill>
            <a:prstDash val="solid"/>
          </a:ln>
        </p:spPr>
      </p:sp>
      <p:sp>
        <p:nvSpPr>
          <p:cNvPr id="6" name="Text 3"/>
          <p:cNvSpPr txBox="1"/>
          <p:nvPr/>
        </p:nvSpPr>
        <p:spPr>
          <a:xfrm>
            <a:off x="3017520" y="1280160"/>
            <a:ext cx="1783080" cy="73152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Ink  0C1B22</a:t>
            </a:r>
            <a:endParaRPr lang="en-US" sz="1200" dirty="0"/>
          </a:p>
        </p:txBody>
      </p:sp>
      <p:sp>
        <p:nvSpPr>
          <p:cNvPr id="7" name="Swatch Paper"/>
          <p:cNvSpPr/>
          <p:nvPr/>
        </p:nvSpPr>
        <p:spPr>
          <a:xfrm>
            <a:off x="4937760" y="1280160"/>
            <a:ext cx="1783080" cy="731520"/>
          </a:xfrm>
          <a:prstGeom prst="roundRect">
            <a:avLst>
              <a:gd name="adj" fmla="val 8750"/>
            </a:avLst>
          </a:prstGeom>
          <a:solidFill>
            <a:srgbClr val="EBF0EE"/>
          </a:solidFill>
          <a:ln w="9525">
            <a:solidFill>
              <a:srgbClr val="C9D2D5"/>
            </a:solidFill>
            <a:prstDash val="solid"/>
          </a:ln>
        </p:spPr>
      </p:sp>
      <p:sp>
        <p:nvSpPr>
          <p:cNvPr id="8" name="Text 5"/>
          <p:cNvSpPr txBox="1"/>
          <p:nvPr/>
        </p:nvSpPr>
        <p:spPr>
          <a:xfrm>
            <a:off x="4937760" y="1280160"/>
            <a:ext cx="1783080" cy="73152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Paper  EBF0EE</a:t>
            </a:r>
            <a:endParaRPr lang="en-US" sz="1200" dirty="0"/>
          </a:p>
        </p:txBody>
      </p:sp>
      <p:sp>
        <p:nvSpPr>
          <p:cNvPr id="9" name="Swatch Herb"/>
          <p:cNvSpPr/>
          <p:nvPr/>
        </p:nvSpPr>
        <p:spPr>
          <a:xfrm>
            <a:off x="6858000" y="1280160"/>
            <a:ext cx="1783080" cy="731520"/>
          </a:xfrm>
          <a:prstGeom prst="roundRect">
            <a:avLst>
              <a:gd name="adj" fmla="val 8750"/>
            </a:avLst>
          </a:prstGeom>
          <a:solidFill>
            <a:srgbClr val="0E7A5C"/>
          </a:solidFill>
          <a:ln w="9525">
            <a:solidFill>
              <a:srgbClr val="C9D2D5"/>
            </a:solidFill>
            <a:prstDash val="solid"/>
          </a:ln>
        </p:spPr>
      </p:sp>
      <p:sp>
        <p:nvSpPr>
          <p:cNvPr id="10" name="Text 7"/>
          <p:cNvSpPr txBox="1"/>
          <p:nvPr/>
        </p:nvSpPr>
        <p:spPr>
          <a:xfrm>
            <a:off x="6858000" y="1280160"/>
            <a:ext cx="1783080" cy="73152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Herb  0E7A5C</a:t>
            </a:r>
            <a:endParaRPr lang="en-US" sz="1200" dirty="0"/>
          </a:p>
        </p:txBody>
      </p:sp>
      <p:sp>
        <p:nvSpPr>
          <p:cNvPr id="11" name="Swatch Phosphor"/>
          <p:cNvSpPr/>
          <p:nvPr/>
        </p:nvSpPr>
        <p:spPr>
          <a:xfrm>
            <a:off x="3017520" y="2286000"/>
            <a:ext cx="1783080" cy="731520"/>
          </a:xfrm>
          <a:prstGeom prst="roundRect">
            <a:avLst>
              <a:gd name="adj" fmla="val 8750"/>
            </a:avLst>
          </a:prstGeom>
          <a:solidFill>
            <a:srgbClr val="4BF2A2"/>
          </a:solidFill>
          <a:ln w="9525">
            <a:solidFill>
              <a:srgbClr val="C9D2D5"/>
            </a:solidFill>
            <a:prstDash val="solid"/>
          </a:ln>
        </p:spPr>
      </p:sp>
      <p:sp>
        <p:nvSpPr>
          <p:cNvPr id="12" name="Text 9"/>
          <p:cNvSpPr txBox="1"/>
          <p:nvPr/>
        </p:nvSpPr>
        <p:spPr>
          <a:xfrm>
            <a:off x="3017520" y="2286000"/>
            <a:ext cx="1783080" cy="73152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Phosphor  4BF2A2</a:t>
            </a:r>
            <a:endParaRPr lang="en-US" sz="1200" dirty="0"/>
          </a:p>
        </p:txBody>
      </p:sp>
      <p:sp>
        <p:nvSpPr>
          <p:cNvPr id="13" name="Swatch Flag"/>
          <p:cNvSpPr/>
          <p:nvPr/>
        </p:nvSpPr>
        <p:spPr>
          <a:xfrm>
            <a:off x="4937760" y="2286000"/>
            <a:ext cx="1783080" cy="731520"/>
          </a:xfrm>
          <a:prstGeom prst="roundRect">
            <a:avLst>
              <a:gd name="adj" fmla="val 8750"/>
            </a:avLst>
          </a:prstGeom>
          <a:solidFill>
            <a:srgbClr val="A96400"/>
          </a:solidFill>
          <a:ln w="9525">
            <a:solidFill>
              <a:srgbClr val="C9D2D5"/>
            </a:solidFill>
            <a:prstDash val="solid"/>
          </a:ln>
        </p:spPr>
      </p:sp>
      <p:sp>
        <p:nvSpPr>
          <p:cNvPr id="14" name="Text 11"/>
          <p:cNvSpPr txBox="1"/>
          <p:nvPr/>
        </p:nvSpPr>
        <p:spPr>
          <a:xfrm>
            <a:off x="4937760" y="2286000"/>
            <a:ext cx="1783080" cy="73152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Flag  A96400</a:t>
            </a:r>
            <a:endParaRPr lang="en-US" sz="1200" dirty="0"/>
          </a:p>
        </p:txBody>
      </p:sp>
      <p:sp>
        <p:nvSpPr>
          <p:cNvPr id="15" name="Swatch Alert"/>
          <p:cNvSpPr/>
          <p:nvPr/>
        </p:nvSpPr>
        <p:spPr>
          <a:xfrm>
            <a:off x="6858000" y="2286000"/>
            <a:ext cx="1783080" cy="731520"/>
          </a:xfrm>
          <a:prstGeom prst="roundRect">
            <a:avLst>
              <a:gd name="adj" fmla="val 8750"/>
            </a:avLst>
          </a:prstGeom>
          <a:solidFill>
            <a:srgbClr val="CC3238"/>
          </a:solidFill>
          <a:ln w="9525">
            <a:solidFill>
              <a:srgbClr val="C9D2D5"/>
            </a:solidFill>
            <a:prstDash val="solid"/>
          </a:ln>
        </p:spPr>
      </p:sp>
      <p:sp>
        <p:nvSpPr>
          <p:cNvPr id="16" name="Text 13"/>
          <p:cNvSpPr txBox="1"/>
          <p:nvPr/>
        </p:nvSpPr>
        <p:spPr>
          <a:xfrm>
            <a:off x="6858000" y="2286000"/>
            <a:ext cx="1783080" cy="73152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Alert  CC3238</a:t>
            </a:r>
            <a:endParaRPr lang="en-US" sz="1200" dirty="0"/>
          </a:p>
        </p:txBody>
      </p:sp>
      <p:sp>
        <p:nvSpPr>
          <p:cNvPr id="17" name="Text 14"/>
          <p:cNvSpPr txBox="1"/>
          <p:nvPr/>
        </p:nvSpPr>
        <p:spPr>
          <a:xfrm>
            <a:off x="3017520" y="3429000"/>
            <a:ext cx="56692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Headings: Bricolage Grotesque.  Text and data: IBM Plex Sans and Mono.  Wordmark: Tiro Devanagari.</a:t>
            </a:r>
            <a:endParaRPr lang="en-US" sz="1400" dirty="0"/>
          </a:p>
        </p:txBody>
      </p:sp>
      <p:sp>
        <p:nvSpPr>
          <p:cNvPr id="18" name="Text 15"/>
          <p:cNvSpPr txBox="1"/>
          <p:nvPr/>
        </p:nvSpPr>
        <p:spPr>
          <a:xfrm>
            <a:off x="3017520" y="3931920"/>
            <a:ext cx="5669280" cy="54864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ECG paper for the record, a dark monitor panel only where something is live.</a:t>
            </a:r>
            <a:endParaRPr lang="en-US" sz="14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Measured on 20 synthetic notes</a:t>
            </a:r>
            <a:endParaRPr lang="en-US" sz="2800" dirty="0"/>
          </a:p>
        </p:txBody>
      </p:sp>
      <p:graphicFrame>
        <p:nvGraphicFramePr>
          <p:cNvPr id="3" name="Chart 0" descr=""/>
          <p:cNvGraphicFramePr/>
          <p:nvPr/>
        </p:nvGraphicFramePr>
        <p:xfrm>
          <a:off x="54864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914400"/>
            <a:ext cx="2743200" cy="182880"/>
          </a:xfrm>
          <a:prstGeom prst="rect">
            <a:avLst/>
          </a:prstGeom>
          <a:noFill/>
          <a:ln/>
        </p:spPr>
        <p:txBody>
          <a:bodyPr wrap="square" lIns="0" tIns="0" rIns="0" bIns="0" rtlCol="0" anchor="t"/>
          <a:lstStyle/>
          <a:p>
            <a:pPr indent="0" marL="0">
              <a:buNone/>
            </a:pPr>
            <a:r>
              <a:rPr lang="en-US" sz="1000" dirty="0">
                <a:solidFill>
                  <a:schemeClr val="accent6"/>
                </a:solidFill>
                <a:latin typeface="Calibri" pitchFamily="34" charset="0"/>
                <a:ea typeface="Calibri" pitchFamily="34" charset="-122"/>
                <a:cs typeface="Calibri" pitchFamily="34" charset="-120"/>
              </a:rPr>
              <a:t>Score, percent</a:t>
            </a:r>
            <a:endParaRPr lang="en-US" sz="1000" dirty="0"/>
          </a:p>
        </p:txBody>
      </p:sp>
      <p:sp>
        <p:nvSpPr>
          <p:cNvPr id="5" name="Text 2"/>
          <p:cNvSpPr txBox="1"/>
          <p:nvPr/>
        </p:nvSpPr>
        <p:spPr>
          <a:xfrm>
            <a:off x="5943600" y="1280160"/>
            <a:ext cx="2743200"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Medications</a:t>
            </a:r>
            <a:endParaRPr lang="en-US" sz="1400" dirty="0"/>
          </a:p>
        </p:txBody>
      </p:sp>
      <p:sp>
        <p:nvSpPr>
          <p:cNvPr id="6" name="Text 3"/>
          <p:cNvSpPr txBox="1"/>
          <p:nvPr/>
        </p:nvSpPr>
        <p:spPr>
          <a:xfrm>
            <a:off x="5943600" y="1572768"/>
            <a:ext cx="2743200" cy="5486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rules 24 of 27 (6 extra); Groq 27 of 27 (0 extra)</a:t>
            </a:r>
            <a:endParaRPr lang="en-US" sz="1200" dirty="0"/>
          </a:p>
        </p:txBody>
      </p:sp>
      <p:sp>
        <p:nvSpPr>
          <p:cNvPr id="7" name="Text 4"/>
          <p:cNvSpPr txBox="1"/>
          <p:nvPr/>
        </p:nvSpPr>
        <p:spPr>
          <a:xfrm>
            <a:off x="5943600" y="2148840"/>
            <a:ext cx="2743200"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Procedures</a:t>
            </a:r>
            <a:endParaRPr lang="en-US" sz="1400" dirty="0"/>
          </a:p>
        </p:txBody>
      </p:sp>
      <p:sp>
        <p:nvSpPr>
          <p:cNvPr id="8" name="Text 5"/>
          <p:cNvSpPr txBox="1"/>
          <p:nvPr/>
        </p:nvSpPr>
        <p:spPr>
          <a:xfrm>
            <a:off x="5943600" y="2441448"/>
            <a:ext cx="2743200" cy="5486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rules 10 of 15 (7 extra); Groq 13 of 15 (1 extra)</a:t>
            </a:r>
            <a:endParaRPr lang="en-US" sz="1200" dirty="0"/>
          </a:p>
        </p:txBody>
      </p:sp>
      <p:sp>
        <p:nvSpPr>
          <p:cNvPr id="9" name="Text 6"/>
          <p:cNvSpPr txBox="1"/>
          <p:nvPr/>
        </p:nvSpPr>
        <p:spPr>
          <a:xfrm>
            <a:off x="5943600" y="3017520"/>
            <a:ext cx="2743200"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Speed</a:t>
            </a:r>
            <a:endParaRPr lang="en-US" sz="1400" dirty="0"/>
          </a:p>
        </p:txBody>
      </p:sp>
      <p:sp>
        <p:nvSpPr>
          <p:cNvPr id="10" name="Text 7"/>
          <p:cNvSpPr txBox="1"/>
          <p:nvPr/>
        </p:nvSpPr>
        <p:spPr>
          <a:xfrm>
            <a:off x="5943600" y="3310128"/>
            <a:ext cx="2743200" cy="5486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rules about 0.1 s; Groq about 1.4 s</a:t>
            </a:r>
            <a:endParaRPr lang="en-US" sz="1200" dirty="0"/>
          </a:p>
        </p:txBody>
      </p:sp>
      <p:sp>
        <p:nvSpPr>
          <p:cNvPr id="11" name="Text 8"/>
          <p:cNvSpPr txBox="1"/>
          <p:nvPr/>
        </p:nvSpPr>
        <p:spPr>
          <a:xfrm>
            <a:off x="5943600" y="3886200"/>
            <a:ext cx="2743200" cy="685800"/>
          </a:xfrm>
          <a:prstGeom prst="rect">
            <a:avLst/>
          </a:prstGeom>
          <a:noFill/>
          <a:ln/>
        </p:spPr>
        <p:txBody>
          <a:bodyPr wrap="square" lIns="0" tIns="0" rIns="0" bIns="0" rtlCol="0" anchor="t"/>
          <a:lstStyle/>
          <a:p>
            <a:pPr indent="0" marL="0">
              <a:buNone/>
            </a:pPr>
            <a:r>
              <a:rPr lang="en-US" sz="1100" i="1" dirty="0">
                <a:solidFill>
                  <a:schemeClr val="accent6"/>
                </a:solidFill>
                <a:latin typeface="Calibri" pitchFamily="34" charset="0"/>
                <a:ea typeface="Calibri" pitchFamily="34" charset="-122"/>
                <a:cs typeface="Calibri" pitchFamily="34" charset="-120"/>
              </a:rPr>
              <a:t>Small synthetic set written by the team. The local Ollama model was not measured here.</a:t>
            </a:r>
            <a:endParaRPr lang="en-US" sz="11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Testing and quality</a:t>
            </a:r>
            <a:endParaRPr lang="en-US" sz="2800" dirty="0"/>
          </a:p>
        </p:txBody>
      </p:sp>
      <p:sp>
        <p:nvSpPr>
          <p:cNvPr id="3" name="Shape 1"/>
          <p:cNvSpPr/>
          <p:nvPr/>
        </p:nvSpPr>
        <p:spPr>
          <a:xfrm>
            <a:off x="548640" y="1234440"/>
            <a:ext cx="1828800" cy="1417320"/>
          </a:xfrm>
          <a:prstGeom prst="roundRect">
            <a:avLst>
              <a:gd name="adj" fmla="val 5161"/>
            </a:avLst>
          </a:prstGeom>
          <a:solidFill>
            <a:schemeClr val="bg2"/>
          </a:solidFill>
          <a:ln w="12700">
            <a:solidFill>
              <a:schemeClr val="bg2"/>
            </a:solidFill>
            <a:prstDash val="solid"/>
          </a:ln>
        </p:spPr>
      </p:sp>
      <p:sp>
        <p:nvSpPr>
          <p:cNvPr id="4" name="Text 2"/>
          <p:cNvSpPr txBox="1"/>
          <p:nvPr/>
        </p:nvSpPr>
        <p:spPr>
          <a:xfrm>
            <a:off x="548640" y="1325880"/>
            <a:ext cx="1828800" cy="777240"/>
          </a:xfrm>
          <a:prstGeom prst="rect">
            <a:avLst/>
          </a:prstGeom>
          <a:noFill/>
          <a:ln/>
        </p:spPr>
        <p:txBody>
          <a:bodyPr wrap="square" lIns="0" tIns="0" rIns="0" bIns="0" rtlCol="0" anchor="ctr"/>
          <a:lstStyle/>
          <a:p>
            <a:pPr algn="ctr" indent="0" marL="0">
              <a:buNone/>
            </a:pPr>
            <a:r>
              <a:rPr lang="en-US" sz="4400" b="1" dirty="0">
                <a:solidFill>
                  <a:schemeClr val="accent1"/>
                </a:solidFill>
                <a:latin typeface="Arial" pitchFamily="34" charset="0"/>
                <a:ea typeface="Arial" pitchFamily="34" charset="-122"/>
                <a:cs typeface="Arial" pitchFamily="34" charset="-120"/>
              </a:rPr>
              <a:t>94</a:t>
            </a:r>
            <a:endParaRPr lang="en-US" sz="4400" dirty="0"/>
          </a:p>
        </p:txBody>
      </p:sp>
      <p:sp>
        <p:nvSpPr>
          <p:cNvPr id="5" name="Text 3"/>
          <p:cNvSpPr txBox="1"/>
          <p:nvPr/>
        </p:nvSpPr>
        <p:spPr>
          <a:xfrm>
            <a:off x="640080" y="2103120"/>
            <a:ext cx="1645920" cy="45720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automated tests</a:t>
            </a:r>
            <a:endParaRPr lang="en-US" sz="1300" dirty="0"/>
          </a:p>
        </p:txBody>
      </p:sp>
      <p:sp>
        <p:nvSpPr>
          <p:cNvPr id="6" name="Shape 4"/>
          <p:cNvSpPr/>
          <p:nvPr/>
        </p:nvSpPr>
        <p:spPr>
          <a:xfrm>
            <a:off x="2560320" y="1234440"/>
            <a:ext cx="1828800" cy="1417320"/>
          </a:xfrm>
          <a:prstGeom prst="roundRect">
            <a:avLst>
              <a:gd name="adj" fmla="val 5161"/>
            </a:avLst>
          </a:prstGeom>
          <a:solidFill>
            <a:schemeClr val="bg2"/>
          </a:solidFill>
          <a:ln w="12700">
            <a:solidFill>
              <a:schemeClr val="bg2"/>
            </a:solidFill>
            <a:prstDash val="solid"/>
          </a:ln>
        </p:spPr>
      </p:sp>
      <p:sp>
        <p:nvSpPr>
          <p:cNvPr id="7" name="Text 5"/>
          <p:cNvSpPr txBox="1"/>
          <p:nvPr/>
        </p:nvSpPr>
        <p:spPr>
          <a:xfrm>
            <a:off x="2560320" y="1325880"/>
            <a:ext cx="1828800" cy="777240"/>
          </a:xfrm>
          <a:prstGeom prst="rect">
            <a:avLst/>
          </a:prstGeom>
          <a:noFill/>
          <a:ln/>
        </p:spPr>
        <p:txBody>
          <a:bodyPr wrap="square" lIns="0" tIns="0" rIns="0" bIns="0" rtlCol="0" anchor="ctr"/>
          <a:lstStyle/>
          <a:p>
            <a:pPr algn="ctr" indent="0" marL="0">
              <a:buNone/>
            </a:pPr>
            <a:r>
              <a:rPr lang="en-US" sz="4400" b="1" dirty="0">
                <a:solidFill>
                  <a:schemeClr val="accent1"/>
                </a:solidFill>
                <a:latin typeface="Arial" pitchFamily="34" charset="0"/>
                <a:ea typeface="Arial" pitchFamily="34" charset="-122"/>
                <a:cs typeface="Arial" pitchFamily="34" charset="-120"/>
              </a:rPr>
              <a:t>85</a:t>
            </a:r>
            <a:endParaRPr lang="en-US" sz="4400" dirty="0"/>
          </a:p>
        </p:txBody>
      </p:sp>
      <p:sp>
        <p:nvSpPr>
          <p:cNvPr id="8" name="Text 6"/>
          <p:cNvSpPr txBox="1"/>
          <p:nvPr/>
        </p:nvSpPr>
        <p:spPr>
          <a:xfrm>
            <a:off x="2651760" y="2103120"/>
            <a:ext cx="1645920" cy="45720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pass in a clean install</a:t>
            </a:r>
            <a:endParaRPr lang="en-US" sz="1300" dirty="0"/>
          </a:p>
        </p:txBody>
      </p:sp>
      <p:sp>
        <p:nvSpPr>
          <p:cNvPr id="9" name="Shape 7"/>
          <p:cNvSpPr/>
          <p:nvPr/>
        </p:nvSpPr>
        <p:spPr>
          <a:xfrm>
            <a:off x="4572000" y="1234440"/>
            <a:ext cx="1828800" cy="1417320"/>
          </a:xfrm>
          <a:prstGeom prst="roundRect">
            <a:avLst>
              <a:gd name="adj" fmla="val 5161"/>
            </a:avLst>
          </a:prstGeom>
          <a:solidFill>
            <a:schemeClr val="bg2"/>
          </a:solidFill>
          <a:ln w="12700">
            <a:solidFill>
              <a:schemeClr val="bg2"/>
            </a:solidFill>
            <a:prstDash val="solid"/>
          </a:ln>
        </p:spPr>
      </p:sp>
      <p:sp>
        <p:nvSpPr>
          <p:cNvPr id="10" name="Text 8"/>
          <p:cNvSpPr txBox="1"/>
          <p:nvPr/>
        </p:nvSpPr>
        <p:spPr>
          <a:xfrm>
            <a:off x="4572000" y="1325880"/>
            <a:ext cx="1828800" cy="777240"/>
          </a:xfrm>
          <a:prstGeom prst="rect">
            <a:avLst/>
          </a:prstGeom>
          <a:noFill/>
          <a:ln/>
        </p:spPr>
        <p:txBody>
          <a:bodyPr wrap="square" lIns="0" tIns="0" rIns="0" bIns="0" rtlCol="0" anchor="ctr"/>
          <a:lstStyle/>
          <a:p>
            <a:pPr algn="ctr" indent="0" marL="0">
              <a:buNone/>
            </a:pPr>
            <a:r>
              <a:rPr lang="en-US" sz="4400" b="1" dirty="0">
                <a:solidFill>
                  <a:schemeClr val="accent1"/>
                </a:solidFill>
                <a:latin typeface="Arial" pitchFamily="34" charset="0"/>
                <a:ea typeface="Arial" pitchFamily="34" charset="-122"/>
                <a:cs typeface="Arial" pitchFamily="34" charset="-120"/>
              </a:rPr>
              <a:t>14</a:t>
            </a:r>
            <a:endParaRPr lang="en-US" sz="4400" dirty="0"/>
          </a:p>
        </p:txBody>
      </p:sp>
      <p:sp>
        <p:nvSpPr>
          <p:cNvPr id="11" name="Text 9"/>
          <p:cNvSpPr txBox="1"/>
          <p:nvPr/>
        </p:nvSpPr>
        <p:spPr>
          <a:xfrm>
            <a:off x="4663440" y="2103120"/>
            <a:ext cx="1645920" cy="45720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test files</a:t>
            </a:r>
            <a:endParaRPr lang="en-US" sz="1300" dirty="0"/>
          </a:p>
        </p:txBody>
      </p:sp>
      <p:sp>
        <p:nvSpPr>
          <p:cNvPr id="12" name="Shape 10"/>
          <p:cNvSpPr/>
          <p:nvPr/>
        </p:nvSpPr>
        <p:spPr>
          <a:xfrm>
            <a:off x="6583680" y="1234440"/>
            <a:ext cx="1828800" cy="1417320"/>
          </a:xfrm>
          <a:prstGeom prst="roundRect">
            <a:avLst>
              <a:gd name="adj" fmla="val 5161"/>
            </a:avLst>
          </a:prstGeom>
          <a:solidFill>
            <a:schemeClr val="bg2"/>
          </a:solidFill>
          <a:ln w="12700">
            <a:solidFill>
              <a:schemeClr val="bg2"/>
            </a:solidFill>
            <a:prstDash val="solid"/>
          </a:ln>
        </p:spPr>
      </p:sp>
      <p:sp>
        <p:nvSpPr>
          <p:cNvPr id="13" name="Text 11"/>
          <p:cNvSpPr txBox="1"/>
          <p:nvPr/>
        </p:nvSpPr>
        <p:spPr>
          <a:xfrm>
            <a:off x="6583680" y="1325880"/>
            <a:ext cx="1828800" cy="777240"/>
          </a:xfrm>
          <a:prstGeom prst="rect">
            <a:avLst/>
          </a:prstGeom>
          <a:noFill/>
          <a:ln/>
        </p:spPr>
        <p:txBody>
          <a:bodyPr wrap="square" lIns="0" tIns="0" rIns="0" bIns="0" rtlCol="0" anchor="ctr"/>
          <a:lstStyle/>
          <a:p>
            <a:pPr algn="ctr" indent="0" marL="0">
              <a:buNone/>
            </a:pPr>
            <a:r>
              <a:rPr lang="en-US" sz="4400" b="1" dirty="0">
                <a:solidFill>
                  <a:schemeClr val="accent1"/>
                </a:solidFill>
                <a:latin typeface="Arial" pitchFamily="34" charset="0"/>
                <a:ea typeface="Arial" pitchFamily="34" charset="-122"/>
                <a:cs typeface="Arial" pitchFamily="34" charset="-120"/>
              </a:rPr>
              <a:t>20</a:t>
            </a:r>
            <a:endParaRPr lang="en-US" sz="4400" dirty="0"/>
          </a:p>
        </p:txBody>
      </p:sp>
      <p:sp>
        <p:nvSpPr>
          <p:cNvPr id="14" name="Text 12"/>
          <p:cNvSpPr txBox="1"/>
          <p:nvPr/>
        </p:nvSpPr>
        <p:spPr>
          <a:xfrm>
            <a:off x="6675120" y="2103120"/>
            <a:ext cx="1645920" cy="45720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benchmark notes</a:t>
            </a:r>
            <a:endParaRPr lang="en-US" sz="1300" dirty="0"/>
          </a:p>
        </p:txBody>
      </p:sp>
      <p:sp>
        <p:nvSpPr>
          <p:cNvPr id="15" name="Text 13"/>
          <p:cNvSpPr txBox="1"/>
          <p:nvPr/>
        </p:nvSpPr>
        <p:spPr>
          <a:xfrm>
            <a:off x="548640" y="2926080"/>
            <a:ext cx="8046720" cy="16459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The 7 other tests only need optional model downloads (clinical NER and TrOCR).</a:t>
            </a:r>
            <a:endParaRPr lang="en-US" sz="1500" dirty="0"/>
          </a:p>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Covered: audit chain and triggers, validation rules, extraction fallback, FHIR mapping, routes, reports, sync, and online/offline routing with Groq mocked.</a:t>
            </a:r>
            <a:endParaRPr lang="en-US" sz="1500" dirty="0"/>
          </a:p>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Not covered: browser UI tests, and speech and handwriting accuracy.</a:t>
            </a:r>
            <a:endParaRPr lang="en-US" sz="15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Limits and next steps</a:t>
            </a:r>
            <a:endParaRPr lang="en-US" sz="2800" dirty="0"/>
          </a:p>
        </p:txBody>
      </p:sp>
      <p:sp>
        <p:nvSpPr>
          <p:cNvPr id="3" name="Text 1"/>
          <p:cNvSpPr txBox="1"/>
          <p:nvPr/>
        </p:nvSpPr>
        <p:spPr>
          <a:xfrm>
            <a:off x="548640" y="1188720"/>
            <a:ext cx="3840480" cy="32004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Today</a:t>
            </a:r>
            <a:endParaRPr lang="en-US" sz="1800" dirty="0"/>
          </a:p>
        </p:txBody>
      </p:sp>
      <p:sp>
        <p:nvSpPr>
          <p:cNvPr id="4" name="Text 2"/>
          <p:cNvSpPr txBox="1"/>
          <p:nvPr/>
        </p:nvSpPr>
        <p:spPr>
          <a:xfrm>
            <a:off x="548640" y="1600200"/>
            <a:ext cx="3840480" cy="29260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Not a medical device and not clinically validated</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The drug list has 17 drugs; others are flagged</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Online mode sends text and audio to a third party</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The chain detects tampering; it does not prove time</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The dashboard is read-only</a:t>
            </a:r>
            <a:endParaRPr lang="en-US" sz="1400" dirty="0"/>
          </a:p>
        </p:txBody>
      </p:sp>
      <p:sp>
        <p:nvSpPr>
          <p:cNvPr id="5" name="Text 3"/>
          <p:cNvSpPr txBox="1"/>
          <p:nvPr/>
        </p:nvSpPr>
        <p:spPr>
          <a:xfrm>
            <a:off x="4754880" y="1188720"/>
            <a:ext cx="3840480" cy="32004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Reasonable next steps</a:t>
            </a:r>
            <a:endParaRPr lang="en-US" sz="1800" dirty="0"/>
          </a:p>
        </p:txBody>
      </p:sp>
      <p:sp>
        <p:nvSpPr>
          <p:cNvPr id="6" name="Text 4"/>
          <p:cNvSpPr txBox="1"/>
          <p:nvPr/>
        </p:nvSpPr>
        <p:spPr>
          <a:xfrm>
            <a:off x="4754880" y="1600200"/>
            <a:ext cx="3840480" cy="29260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Measure the local model and Whisper on the same benchmark</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Grow the benchmark beyond 20 notes</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Anchor the latest hash outside the device</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Add automated browser tests for review and confirm</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Broaden the drug reference</a:t>
            </a:r>
            <a:endParaRPr lang="en-US" sz="14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Run it</a:t>
            </a:r>
            <a:endParaRPr lang="en-US" sz="2800" dirty="0"/>
          </a:p>
        </p:txBody>
      </p:sp>
      <p:sp>
        <p:nvSpPr>
          <p:cNvPr id="3" name="Code card"/>
          <p:cNvSpPr/>
          <p:nvPr/>
        </p:nvSpPr>
        <p:spPr>
          <a:xfrm>
            <a:off x="548640" y="1188720"/>
            <a:ext cx="4937760" cy="3291840"/>
          </a:xfrm>
          <a:prstGeom prst="roundRect">
            <a:avLst>
              <a:gd name="adj" fmla="val 2222"/>
            </a:avLst>
          </a:prstGeom>
          <a:solidFill>
            <a:schemeClr val="tx2"/>
          </a:solidFill>
          <a:ln w="12700">
            <a:solidFill>
              <a:schemeClr val="tx2"/>
            </a:solidFill>
            <a:prstDash val="solid"/>
          </a:ln>
        </p:spPr>
      </p:sp>
      <p:sp>
        <p:nvSpPr>
          <p:cNvPr id="4" name="Text 2"/>
          <p:cNvSpPr txBox="1"/>
          <p:nvPr/>
        </p:nvSpPr>
        <p:spPr>
          <a:xfrm>
            <a:off x="777240" y="1325880"/>
            <a:ext cx="4572000" cy="3017520"/>
          </a:xfrm>
          <a:prstGeom prst="rect">
            <a:avLst/>
          </a:prstGeom>
          <a:noFill/>
          <a:ln/>
        </p:spPr>
        <p:txBody>
          <a:bodyPr wrap="square" lIns="0" tIns="0" rIns="0" bIns="0" rtlCol="0" anchor="t"/>
          <a:lstStyle/>
          <a:p>
            <a:pPr indent="0" marL="0">
              <a:buNone/>
            </a:pPr>
            <a:r>
              <a:rPr lang="en-US" sz="1200" dirty="0">
                <a:solidFill>
                  <a:srgbClr val="D6E4DF"/>
                </a:solidFill>
                <a:latin typeface="Consolas" pitchFamily="34" charset="0"/>
                <a:ea typeface="Consolas" pitchFamily="34" charset="-122"/>
                <a:cs typeface="Consolas" pitchFamily="34" charset="-120"/>
              </a:rPr>
              <a:t># backend</a:t>
            </a:r>
            <a:endParaRPr lang="en-US" sz="1200" dirty="0"/>
          </a:p>
          <a:p>
            <a:pPr indent="0" marL="0">
              <a:buNone/>
            </a:pPr>
            <a:r>
              <a:rPr lang="en-US" sz="1200" dirty="0">
                <a:solidFill>
                  <a:srgbClr val="D6E4DF"/>
                </a:solidFill>
                <a:latin typeface="Consolas" pitchFamily="34" charset="0"/>
                <a:ea typeface="Consolas" pitchFamily="34" charset="-122"/>
                <a:cs typeface="Consolas" pitchFamily="34" charset="-120"/>
              </a:rPr>
              <a:t>cd backend</a:t>
            </a:r>
            <a:endParaRPr lang="en-US" sz="1200" dirty="0"/>
          </a:p>
          <a:p>
            <a:pPr indent="0" marL="0">
              <a:buNone/>
            </a:pPr>
            <a:r>
              <a:rPr lang="en-US" sz="1200" dirty="0">
                <a:solidFill>
                  <a:srgbClr val="D6E4DF"/>
                </a:solidFill>
                <a:latin typeface="Consolas" pitchFamily="34" charset="0"/>
                <a:ea typeface="Consolas" pitchFamily="34" charset="-122"/>
                <a:cs typeface="Consolas" pitchFamily="34" charset="-120"/>
              </a:rPr>
              <a:t>python -m venv .venv</a:t>
            </a:r>
            <a:endParaRPr lang="en-US" sz="1200" dirty="0"/>
          </a:p>
          <a:p>
            <a:pPr indent="0" marL="0">
              <a:buNone/>
            </a:pPr>
            <a:r>
              <a:rPr lang="en-US" sz="1200" dirty="0">
                <a:solidFill>
                  <a:srgbClr val="D6E4DF"/>
                </a:solidFill>
                <a:latin typeface="Consolas" pitchFamily="34" charset="0"/>
                <a:ea typeface="Consolas" pitchFamily="34" charset="-122"/>
                <a:cs typeface="Consolas" pitchFamily="34" charset="-120"/>
              </a:rPr>
              <a:t>pip install -r requirements.txt</a:t>
            </a:r>
            <a:endParaRPr lang="en-US" sz="1200" dirty="0"/>
          </a:p>
          <a:p>
            <a:pPr indent="0" marL="0">
              <a:buNone/>
            </a:pPr>
            <a:r>
              <a:rPr lang="en-US" sz="1200" dirty="0">
                <a:solidFill>
                  <a:srgbClr val="D6E4DF"/>
                </a:solidFill>
                <a:latin typeface="Consolas" pitchFamily="34" charset="0"/>
                <a:ea typeface="Consolas" pitchFamily="34" charset="-122"/>
                <a:cs typeface="Consolas" pitchFamily="34" charset="-120"/>
              </a:rPr>
              <a:t>uvicorn app.main:app --port 8000</a:t>
            </a:r>
            <a:endParaRPr lang="en-US" sz="1200" dirty="0"/>
          </a:p>
          <a:p>
            <a:pPr indent="0" marL="0">
              <a:buNone/>
            </a:pPr>
            <a:endParaRPr lang="en-US" sz="1200" dirty="0"/>
          </a:p>
          <a:p>
            <a:pPr indent="0" marL="0">
              <a:buNone/>
            </a:pPr>
            <a:r>
              <a:rPr lang="en-US" sz="1200" dirty="0">
                <a:solidFill>
                  <a:srgbClr val="D6E4DF"/>
                </a:solidFill>
                <a:latin typeface="Consolas" pitchFamily="34" charset="0"/>
                <a:ea typeface="Consolas" pitchFamily="34" charset="-122"/>
                <a:cs typeface="Consolas" pitchFamily="34" charset="-120"/>
              </a:rPr>
              <a:t># responder app (served by the backend)</a:t>
            </a:r>
            <a:endParaRPr lang="en-US" sz="1200" dirty="0"/>
          </a:p>
          <a:p>
            <a:pPr indent="0" marL="0">
              <a:buNone/>
            </a:pPr>
            <a:r>
              <a:rPr lang="en-US" sz="1200" dirty="0">
                <a:solidFill>
                  <a:srgbClr val="D6E4DF"/>
                </a:solidFill>
                <a:latin typeface="Consolas" pitchFamily="34" charset="0"/>
                <a:ea typeface="Consolas" pitchFamily="34" charset="-122"/>
                <a:cs typeface="Consolas" pitchFamily="34" charset="-120"/>
              </a:rPr>
              <a:t>cd local-ui &amp;&amp; npm install &amp;&amp; npm run build</a:t>
            </a:r>
            <a:endParaRPr lang="en-US" sz="1200" dirty="0"/>
          </a:p>
          <a:p>
            <a:pPr indent="0" marL="0">
              <a:buNone/>
            </a:pPr>
            <a:endParaRPr lang="en-US" sz="1200" dirty="0"/>
          </a:p>
          <a:p>
            <a:pPr indent="0" marL="0">
              <a:buNone/>
            </a:pPr>
            <a:r>
              <a:rPr lang="en-US" sz="1200" dirty="0">
                <a:solidFill>
                  <a:srgbClr val="D6E4DF"/>
                </a:solidFill>
                <a:latin typeface="Consolas" pitchFamily="34" charset="0"/>
                <a:ea typeface="Consolas" pitchFamily="34" charset="-122"/>
                <a:cs typeface="Consolas" pitchFamily="34" charset="-120"/>
              </a:rPr>
              <a:t># supervisor dashboard (optional)</a:t>
            </a:r>
            <a:endParaRPr lang="en-US" sz="1200" dirty="0"/>
          </a:p>
          <a:p>
            <a:pPr indent="0" marL="0">
              <a:buNone/>
            </a:pPr>
            <a:r>
              <a:rPr lang="en-US" sz="1200" dirty="0">
                <a:solidFill>
                  <a:srgbClr val="D6E4DF"/>
                </a:solidFill>
                <a:latin typeface="Consolas" pitchFamily="34" charset="0"/>
                <a:ea typeface="Consolas" pitchFamily="34" charset="-122"/>
                <a:cs typeface="Consolas" pitchFamily="34" charset="-120"/>
              </a:rPr>
              <a:t>cd dashboard &amp;&amp; npm install &amp;&amp; npm run dev</a:t>
            </a:r>
            <a:endParaRPr lang="en-US" sz="1200" dirty="0"/>
          </a:p>
        </p:txBody>
      </p:sp>
      <p:sp>
        <p:nvSpPr>
          <p:cNvPr id="5" name="Text 3"/>
          <p:cNvSpPr txBox="1"/>
          <p:nvPr/>
        </p:nvSpPr>
        <p:spPr>
          <a:xfrm>
            <a:off x="5760720" y="1234440"/>
            <a:ext cx="2926080" cy="274320"/>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backend/.env</a:t>
            </a:r>
            <a:endParaRPr lang="en-US" sz="1400" dirty="0"/>
          </a:p>
        </p:txBody>
      </p:sp>
      <p:sp>
        <p:nvSpPr>
          <p:cNvPr id="6" name="Text 4"/>
          <p:cNvSpPr txBox="1"/>
          <p:nvPr/>
        </p:nvSpPr>
        <p:spPr>
          <a:xfrm>
            <a:off x="5760720" y="1554480"/>
            <a:ext cx="2926080" cy="7315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GROQ_API_KEY for online mode; OLLAMA_BASE_URL and LLM_MODEL for offline</a:t>
            </a:r>
            <a:endParaRPr lang="en-US" sz="1300" dirty="0"/>
          </a:p>
        </p:txBody>
      </p:sp>
      <p:sp>
        <p:nvSpPr>
          <p:cNvPr id="7" name="Text 5"/>
          <p:cNvSpPr txBox="1"/>
          <p:nvPr/>
        </p:nvSpPr>
        <p:spPr>
          <a:xfrm>
            <a:off x="5760720" y="2331720"/>
            <a:ext cx="2926080" cy="274320"/>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PROCESSING_MODE</a:t>
            </a:r>
            <a:endParaRPr lang="en-US" sz="1400" dirty="0"/>
          </a:p>
        </p:txBody>
      </p:sp>
      <p:sp>
        <p:nvSpPr>
          <p:cNvPr id="8" name="Text 6"/>
          <p:cNvSpPr txBox="1"/>
          <p:nvPr/>
        </p:nvSpPr>
        <p:spPr>
          <a:xfrm>
            <a:off x="5760720" y="2651760"/>
            <a:ext cx="2926080" cy="7315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auto, or offline to never use the cloud</a:t>
            </a:r>
            <a:endParaRPr lang="en-US" sz="1300" dirty="0"/>
          </a:p>
        </p:txBody>
      </p:sp>
      <p:sp>
        <p:nvSpPr>
          <p:cNvPr id="9" name="Text 7"/>
          <p:cNvSpPr txBox="1"/>
          <p:nvPr/>
        </p:nvSpPr>
        <p:spPr>
          <a:xfrm>
            <a:off x="5760720" y="3429000"/>
            <a:ext cx="2926080" cy="274320"/>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Open</a:t>
            </a:r>
            <a:endParaRPr lang="en-US" sz="1400" dirty="0"/>
          </a:p>
        </p:txBody>
      </p:sp>
      <p:sp>
        <p:nvSpPr>
          <p:cNvPr id="10" name="Text 8"/>
          <p:cNvSpPr txBox="1"/>
          <p:nvPr/>
        </p:nvSpPr>
        <p:spPr>
          <a:xfrm>
            <a:off x="5760720" y="3749040"/>
            <a:ext cx="2926080" cy="7315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localhost:8000 for the app, /docs for documentation</a:t>
            </a:r>
            <a:endParaRPr lang="en-US" sz="1300" dirty="0"/>
          </a:p>
        </p:txBody>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Logo" descr="Sanjeevani Lekh logo">    </p:cNvPr>
          <p:cNvPicPr>
            <a:picLocks noChangeAspect="1"/>
          </p:cNvPicPr>
          <p:nvPr/>
        </p:nvPicPr>
        <p:blipFill>
          <a:blip r:embed="rId1"/>
          <a:stretch>
            <a:fillRect/>
          </a:stretch>
        </p:blipFill>
        <p:spPr>
          <a:xfrm>
            <a:off x="548640" y="548640"/>
            <a:ext cx="548640" cy="548640"/>
          </a:xfrm>
          <a:prstGeom prst="rect">
            <a:avLst/>
          </a:prstGeom>
        </p:spPr>
      </p:pic>
      <p:sp>
        <p:nvSpPr>
          <p:cNvPr id="3" name="Text 0"/>
          <p:cNvSpPr txBox="1"/>
          <p:nvPr/>
        </p:nvSpPr>
        <p:spPr>
          <a:xfrm>
            <a:off x="548640" y="1554480"/>
            <a:ext cx="7315200" cy="914400"/>
          </a:xfrm>
          <a:prstGeom prst="rect">
            <a:avLst/>
          </a:prstGeom>
          <a:noFill/>
          <a:ln/>
        </p:spPr>
        <p:txBody>
          <a:bodyPr wrap="square" lIns="0" tIns="0" rIns="0" bIns="0" rtlCol="0" anchor="t"/>
          <a:lstStyle/>
          <a:p>
            <a:pPr indent="0" marL="0">
              <a:buNone/>
            </a:pPr>
            <a:r>
              <a:rPr lang="en-US" sz="4400" b="1" dirty="0">
                <a:solidFill>
                  <a:schemeClr val="bg1"/>
                </a:solidFill>
                <a:latin typeface="Arial" pitchFamily="34" charset="0"/>
                <a:ea typeface="Arial" pitchFamily="34" charset="-122"/>
                <a:cs typeface="Arial" pitchFamily="34" charset="-120"/>
              </a:rPr>
              <a:t>Thank you</a:t>
            </a:r>
            <a:endParaRPr lang="en-US" sz="4400" dirty="0"/>
          </a:p>
        </p:txBody>
      </p:sp>
      <p:sp>
        <p:nvSpPr>
          <p:cNvPr id="4" name="Text 1"/>
          <p:cNvSpPr txBox="1"/>
          <p:nvPr/>
        </p:nvSpPr>
        <p:spPr>
          <a:xfrm>
            <a:off x="548640" y="2560320"/>
            <a:ext cx="7315200" cy="45720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Sanjeevani Lekh: every dose, written down while your hands are busy.</a:t>
            </a:r>
            <a:endParaRPr lang="en-US" sz="2000" dirty="0"/>
          </a:p>
        </p:txBody>
      </p:sp>
      <p:sp>
        <p:nvSpPr>
          <p:cNvPr id="5" name="Text 2"/>
          <p:cNvSpPr txBox="1"/>
          <p:nvPr/>
        </p:nvSpPr>
        <p:spPr>
          <a:xfrm>
            <a:off x="548640" y="3474720"/>
            <a:ext cx="7315200" cy="320040"/>
          </a:xfrm>
          <a:prstGeom prst="rect">
            <a:avLst/>
          </a:prstGeom>
          <a:noFill/>
          <a:ln/>
        </p:spPr>
        <p:txBody>
          <a:bodyPr wrap="square" lIns="0" tIns="0" rIns="0" bIns="0" rtlCol="0" anchor="t"/>
          <a:lstStyle/>
          <a:p>
            <a:pPr indent="0" marL="0">
              <a:buNone/>
            </a:pPr>
            <a:r>
              <a:rPr lang="en-US" sz="1400" dirty="0">
                <a:solidFill>
                  <a:srgbClr val="A9BDB6"/>
                </a:solidFill>
                <a:latin typeface="Calibri" pitchFamily="34" charset="0"/>
                <a:ea typeface="Calibri" pitchFamily="34" charset="-122"/>
                <a:cs typeface="Calibri" pitchFamily="34" charset="-120"/>
              </a:rPr>
              <a:t>Milind Verma  |  Nikhil Agrawal  |  Gaurav Kumar  |  Riya Mehta</a:t>
            </a:r>
            <a:endParaRPr lang="en-US" sz="1400" dirty="0"/>
          </a:p>
        </p:txBody>
      </p:sp>
      <p:sp>
        <p:nvSpPr>
          <p:cNvPr id="6" name="Text 3"/>
          <p:cNvSpPr txBox="1"/>
          <p:nvPr/>
        </p:nvSpPr>
        <p:spPr>
          <a:xfrm>
            <a:off x="548640" y="3840480"/>
            <a:ext cx="7315200" cy="32004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github.com/Milindverma24/Virtusa_Jatayu2026</a:t>
            </a:r>
            <a:endParaRPr lang="en-US" sz="1400" dirty="0"/>
          </a:p>
        </p:txBody>
      </p:sp>
      <p:sp>
        <p:nvSpPr>
          <p:cNvPr id="7" name="Text 4"/>
          <p:cNvSpPr txBox="1"/>
          <p:nvPr/>
        </p:nvSpPr>
        <p:spPr>
          <a:xfrm>
            <a:off x="548640" y="4526280"/>
            <a:ext cx="7315200" cy="274320"/>
          </a:xfrm>
          <a:prstGeom prst="rect">
            <a:avLst/>
          </a:prstGeom>
          <a:noFill/>
          <a:ln/>
        </p:spPr>
        <p:txBody>
          <a:bodyPr wrap="square" lIns="0" tIns="0" rIns="0" bIns="0" rtlCol="0" anchor="t"/>
          <a:lstStyle/>
          <a:p>
            <a:pPr indent="0" marL="0">
              <a:buNone/>
            </a:pPr>
            <a:r>
              <a:rPr lang="en-US" sz="1100" dirty="0">
                <a:solidFill>
                  <a:srgbClr val="A9BDB6"/>
                </a:solidFill>
                <a:latin typeface="Calibri" pitchFamily="34" charset="0"/>
                <a:ea typeface="Calibri" pitchFamily="34" charset="-122"/>
                <a:cs typeface="Calibri" pitchFamily="34" charset="-120"/>
              </a:rPr>
              <a:t>Research and portfolio project. Not a medical device.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Appendix: detailed architecture</a:t>
            </a:r>
            <a:endParaRPr lang="en-US" sz="2800" dirty="0"/>
          </a:p>
        </p:txBody>
      </p:sp>
      <p:pic>
        <p:nvPicPr>
          <p:cNvPr id="3" name="Detailed architecture diagram" descr="Detailed system architecture diagram">    </p:cNvPr>
          <p:cNvPicPr>
            <a:picLocks noChangeAspect="1"/>
          </p:cNvPicPr>
          <p:nvPr/>
        </p:nvPicPr>
        <p:blipFill>
          <a:blip r:embed="rId1"/>
          <a:stretch>
            <a:fillRect/>
          </a:stretch>
        </p:blipFill>
        <p:spPr>
          <a:xfrm>
            <a:off x="1586204" y="1051560"/>
            <a:ext cx="5971592" cy="3657600"/>
          </a:xfrm>
          <a:prstGeom prst="rect">
            <a:avLst/>
          </a:prstGeom>
        </p:spPr>
      </p:pic>
      <p:sp>
        <p:nvSpPr>
          <p:cNvPr id="4" name="Image frame"/>
          <p:cNvSpPr/>
          <p:nvPr/>
        </p:nvSpPr>
        <p:spPr>
          <a:xfrm>
            <a:off x="1586204" y="1051560"/>
            <a:ext cx="5971592" cy="3657600"/>
          </a:xfrm>
          <a:prstGeom prst="rect">
            <a:avLst/>
          </a:prstGeom>
          <a:ln w="9525">
            <a:solidFill>
              <a:srgbClr val="C9D2D5"/>
            </a:solidFill>
            <a:prstDash val="solid"/>
          </a:ln>
        </p:spPr>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Appendix: end-to-end sequence</a:t>
            </a:r>
            <a:endParaRPr lang="en-US" sz="2800" dirty="0"/>
          </a:p>
        </p:txBody>
      </p:sp>
      <p:pic>
        <p:nvPicPr>
          <p:cNvPr id="3" name="Sequence diagram" descr="Sequence diagram for one note">    </p:cNvPr>
          <p:cNvPicPr>
            <a:picLocks noChangeAspect="1"/>
          </p:cNvPicPr>
          <p:nvPr/>
        </p:nvPicPr>
        <p:blipFill>
          <a:blip r:embed="rId1"/>
          <a:stretch>
            <a:fillRect/>
          </a:stretch>
        </p:blipFill>
        <p:spPr>
          <a:xfrm>
            <a:off x="1926771" y="1005840"/>
            <a:ext cx="5290457" cy="3703320"/>
          </a:xfrm>
          <a:prstGeom prst="rect">
            <a:avLst/>
          </a:prstGeom>
        </p:spPr>
      </p:pic>
      <p:sp>
        <p:nvSpPr>
          <p:cNvPr id="4" name="Image frame"/>
          <p:cNvSpPr/>
          <p:nvPr/>
        </p:nvSpPr>
        <p:spPr>
          <a:xfrm>
            <a:off x="1926771" y="1005840"/>
            <a:ext cx="5290457" cy="3703320"/>
          </a:xfrm>
          <a:prstGeom prst="rect">
            <a:avLst/>
          </a:prstGeom>
          <a:ln w="9525">
            <a:solidFill>
              <a:srgbClr val="C9D2D5"/>
            </a:solidFill>
            <a:prstDash val="solid"/>
          </a:ln>
        </p:spPr>
      </p:sp>
      <p:sp>
        <p:nvSpPr>
          <p:cNvPr id="25" name="Slide Number Placeholder 0"/>
          <p:cNvSpPr>
            <a:spLocks noGrp="1"/>
          </p:cNvSpPr>
          <p:nvPr>
            <p:ph type="sldNum" sz="quarter" idx="4294967295"/>
          </p:nvPr>
        </p:nvSpPr>
        <p:spPr>
          <a:xfrm>
            <a:off x="8229600" y="47274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Sanjeevani Lekh">
  <a:themeElements>
    <a:clrScheme name="Sanjeevani Lekh">
      <a:dk1>
        <a:srgbClr val="0C1B22"/>
      </a:dk1>
      <a:lt1>
        <a:srgbClr val="FFFFFF"/>
      </a:lt1>
      <a:dk2>
        <a:srgbClr val="06100F"/>
      </a:dk2>
      <a:lt2>
        <a:srgbClr val="EBF0EE"/>
      </a:lt2>
      <a:accent1>
        <a:srgbClr val="0E7A5C"/>
      </a:accent1>
      <a:accent2>
        <a:srgbClr val="4BF2A2"/>
      </a:accent2>
      <a:accent3>
        <a:srgbClr val="A96400"/>
      </a:accent3>
      <a:accent4>
        <a:srgbClr val="2A63D6"/>
      </a:accent4>
      <a:accent5>
        <a:srgbClr val="CC3238"/>
      </a:accent5>
      <a:accent6>
        <a:srgbClr val="5B6B71"/>
      </a:accent6>
      <a:hlink>
        <a:srgbClr val="2A63D6"/>
      </a:hlink>
      <a:folHlink>
        <a:srgbClr val="5B6B71"/>
      </a:folHlink>
    </a:clrScheme>
    <a:fontScheme name="Sanjeevani Lek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Sanjeevani Lekh project deck</dc:title>
  <dc:subject>PptxGenJS Presentation</dc:subject>
  <dc:creator>Sanjeevani Lekh team</dc:creator>
  <cp:lastModifiedBy>Sanjeevani Lekh team</cp:lastModifiedBy>
  <cp:revision>1</cp:revision>
  <dcterms:created xsi:type="dcterms:W3CDTF">2026-10-23T19:51:28Z</dcterms:created>
  <dcterms:modified xsi:type="dcterms:W3CDTF">2026-10-23T19:51:28Z</dcterms:modified>
</cp:coreProperties>
</file>