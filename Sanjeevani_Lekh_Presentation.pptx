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645920"/>
            <a:ext cx="10698480" cy="4114800"/>
          </a:xfrm>
          <a:prstGeom prst="roundRect">
            <a:avLst/>
          </a:prstGeom>
          <a:solidFill>
            <a:srgbClr val="111827"/>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280160" y="2011680"/>
            <a:ext cx="3291840" cy="384048"/>
          </a:xfrm>
          <a:prstGeom prst="roundRect">
            <a:avLst/>
          </a:prstGeom>
          <a:solidFill>
            <a:srgbClr val="1E3A66"/>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NEXT-GEN HEALTHCARE • OFFLINE AI</a:t>
            </a:r>
          </a:p>
        </p:txBody>
      </p:sp>
      <p:sp>
        <p:nvSpPr>
          <p:cNvPr id="5" name="TextBox 4"/>
          <p:cNvSpPr txBox="1"/>
          <p:nvPr/>
        </p:nvSpPr>
        <p:spPr>
          <a:xfrm>
            <a:off x="1280160" y="2560320"/>
            <a:ext cx="9601200" cy="2011680"/>
          </a:xfrm>
          <a:prstGeom prst="rect">
            <a:avLst/>
          </a:prstGeom>
          <a:noFill/>
        </p:spPr>
        <p:txBody>
          <a:bodyPr wrap="square">
            <a:spAutoFit/>
          </a:bodyPr>
          <a:lstStyle/>
          <a:p>
            <a:pPr>
              <a:defRPr sz="4600" b="1">
                <a:solidFill>
                  <a:srgbClr val="F8FAFC"/>
                </a:solidFill>
              </a:defRPr>
            </a:pPr>
            <a:r>
              <a:t>Sanjeevani Lekh</a:t>
            </a:r>
          </a:p>
          <a:p>
            <a:pPr>
              <a:defRPr sz="2000">
                <a:solidFill>
                  <a:srgbClr val="38BDF8"/>
                </a:solidFill>
              </a:defRPr>
            </a:pPr>
            <a:r>
              <a:t>Field-to-Record: Offline Clinical Voice &amp; OCR Ledger for Emergency Responders</a:t>
            </a:r>
          </a:p>
          <a:p>
            <a:br/>
            <a:pPr>
              <a:defRPr sz="1400">
                <a:solidFill>
                  <a:srgbClr val="94A3B8"/>
                </a:solidFill>
              </a:defRPr>
            </a:pPr>
            <a:r>
              <a:t>Zero-Cloud Edge AI Ensemble • Microsoft TrOCR Glove Vision • whisper.cpp Metal STT • SHA-256 Tamper-Proof Audit Chain</a:t>
            </a:r>
          </a:p>
        </p:txBody>
      </p:sp>
      <p:sp>
        <p:nvSpPr>
          <p:cNvPr id="6" name="TextBox 5"/>
          <p:cNvSpPr txBox="1"/>
          <p:nvPr/>
        </p:nvSpPr>
        <p:spPr>
          <a:xfrm>
            <a:off x="1280160" y="4846320"/>
            <a:ext cx="9601200" cy="548640"/>
          </a:xfrm>
          <a:prstGeom prst="rect">
            <a:avLst/>
          </a:prstGeom>
          <a:noFill/>
        </p:spPr>
        <p:txBody>
          <a:bodyPr wrap="none">
            <a:spAutoFit/>
          </a:bodyPr>
          <a:lstStyle/>
          <a:p>
            <a:pPr>
              <a:defRPr sz="1300">
                <a:solidFill>
                  <a:srgbClr val="34D399"/>
                </a:solidFill>
              </a:defRPr>
            </a:pPr>
            <a:r>
              <a:t>Built for First Responders, Paramedics, and Hospital Handover Teams | 100% Air-Gapped &amp; HIPAA Compliant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926080" cy="347472"/>
          </a:xfrm>
          <a:prstGeom prst="roundRect">
            <a:avLst/>
          </a:prstGeom>
          <a:solidFill>
            <a:srgbClr val="1E3A6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38BDF8"/>
                </a:solidFill>
              </a:defRPr>
            </a:pPr>
            <a:r>
              <a:t>CLINICAL CRISIS IN PRE-HOSPITAL CARE</a:t>
            </a:r>
          </a:p>
        </p:txBody>
      </p:sp>
      <p:sp>
        <p:nvSpPr>
          <p:cNvPr id="4" name="TextBox 3"/>
          <p:cNvSpPr txBox="1"/>
          <p:nvPr/>
        </p:nvSpPr>
        <p:spPr>
          <a:xfrm>
            <a:off x="731520" y="868680"/>
            <a:ext cx="10698480" cy="731520"/>
          </a:xfrm>
          <a:prstGeom prst="rect">
            <a:avLst/>
          </a:prstGeom>
          <a:noFill/>
        </p:spPr>
        <p:txBody>
          <a:bodyPr wrap="square" lIns="0" tIns="0" rIns="0" bIns="0">
            <a:spAutoFit/>
          </a:bodyPr>
          <a:lstStyle/>
          <a:p>
            <a:pPr>
              <a:defRPr sz="2800" b="1">
                <a:solidFill>
                  <a:srgbClr val="F8FAFC"/>
                </a:solidFill>
              </a:defRPr>
            </a:pPr>
            <a:r>
              <a:t>The High-Stakes Documentation Gap in Moving Ambulances</a:t>
            </a:r>
          </a:p>
          <a:p>
            <a:pPr>
              <a:defRPr sz="1400">
                <a:solidFill>
                  <a:srgbClr val="94A3B8"/>
                </a:solidFill>
              </a:defRPr>
            </a:pPr>
            <a:r>
              <a:t>Paramedics save lives under chaotic conditions, but medical records are lost or delayed.</a:t>
            </a:r>
          </a:p>
        </p:txBody>
      </p:sp>
      <p:sp>
        <p:nvSpPr>
          <p:cNvPr id="5" name="Rounded Rectangle 4"/>
          <p:cNvSpPr/>
          <p:nvPr/>
        </p:nvSpPr>
        <p:spPr>
          <a:xfrm>
            <a:off x="731520" y="2011680"/>
            <a:ext cx="3383280" cy="4114800"/>
          </a:xfrm>
          <a:prstGeom prst="roundRect">
            <a:avLst/>
          </a:prstGeom>
          <a:solidFill>
            <a:srgbClr val="1E293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76272"/>
            <a:ext cx="3017520" cy="457200"/>
          </a:xfrm>
          <a:prstGeom prst="rect">
            <a:avLst/>
          </a:prstGeom>
          <a:noFill/>
        </p:spPr>
        <p:txBody>
          <a:bodyPr wrap="square" lIns="0" tIns="0" rIns="0" bIns="0">
            <a:spAutoFit/>
          </a:bodyPr>
          <a:lstStyle/>
          <a:p>
            <a:pPr>
              <a:defRPr sz="1600" b="1">
                <a:solidFill>
                  <a:srgbClr val="F8FAFC"/>
                </a:solidFill>
              </a:defRPr>
            </a:pPr>
            <a:r>
              <a:t>1. Gloves &amp; Moving Vehicles</a:t>
            </a:r>
          </a:p>
        </p:txBody>
      </p:sp>
      <p:sp>
        <p:nvSpPr>
          <p:cNvPr id="7" name="TextBox 6"/>
          <p:cNvSpPr txBox="1"/>
          <p:nvPr/>
        </p:nvSpPr>
        <p:spPr>
          <a:xfrm>
            <a:off x="914400" y="2651760"/>
            <a:ext cx="3017520" cy="3200400"/>
          </a:xfrm>
          <a:prstGeom prst="rect">
            <a:avLst/>
          </a:prstGeom>
          <a:noFill/>
        </p:spPr>
        <p:txBody>
          <a:bodyPr wrap="square" lIns="0" tIns="0" rIns="0" bIns="0">
            <a:spAutoFit/>
          </a:bodyPr>
          <a:lstStyle/>
          <a:p>
            <a:pPr>
              <a:defRPr sz="1400">
                <a:solidFill>
                  <a:srgbClr val="94A3B8"/>
                </a:solidFill>
              </a:defRPr>
            </a:pPr>
            <a:r>
              <a:t>• Hands Occupied:</a:t>
            </a:r>
            <a:br/>
            <a:r>
              <a:t>Sterile nitrile gloves and vibrating transport prevent typing or complex software navigation.</a:t>
            </a:r>
            <a:br/>
            <a:br/>
            <a:r>
              <a:t>• Glove Scribbles:</a:t>
            </a:r>
            <a:br/>
            <a:r>
              <a:t>Doses (e.g. '14:32 ASA 324 mg') are jotted on gloves or tape scraps.</a:t>
            </a:r>
            <a:br/>
            <a:br/>
            <a:r>
              <a:t>• High Cognitive Load:</a:t>
            </a:r>
            <a:br/>
            <a:r>
              <a:t>Responders focus on CPR and drug titration, not paperwork.</a:t>
            </a:r>
          </a:p>
        </p:txBody>
      </p:sp>
      <p:sp>
        <p:nvSpPr>
          <p:cNvPr id="8" name="Rounded Rectangle 7"/>
          <p:cNvSpPr/>
          <p:nvPr/>
        </p:nvSpPr>
        <p:spPr>
          <a:xfrm>
            <a:off x="4389120" y="2011680"/>
            <a:ext cx="3383280" cy="4114800"/>
          </a:xfrm>
          <a:prstGeom prst="roundRect">
            <a:avLst/>
          </a:prstGeom>
          <a:solidFill>
            <a:srgbClr val="1E293B"/>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176272"/>
            <a:ext cx="3017520" cy="457200"/>
          </a:xfrm>
          <a:prstGeom prst="rect">
            <a:avLst/>
          </a:prstGeom>
          <a:noFill/>
        </p:spPr>
        <p:txBody>
          <a:bodyPr wrap="square" lIns="0" tIns="0" rIns="0" bIns="0">
            <a:spAutoFit/>
          </a:bodyPr>
          <a:lstStyle/>
          <a:p>
            <a:pPr>
              <a:defRPr sz="1600" b="1">
                <a:solidFill>
                  <a:srgbClr val="F8FAFC"/>
                </a:solidFill>
              </a:defRPr>
            </a:pPr>
            <a:r>
              <a:t>2. Memory Loss &amp; Omissions</a:t>
            </a:r>
          </a:p>
        </p:txBody>
      </p:sp>
      <p:sp>
        <p:nvSpPr>
          <p:cNvPr id="10" name="TextBox 9"/>
          <p:cNvSpPr txBox="1"/>
          <p:nvPr/>
        </p:nvSpPr>
        <p:spPr>
          <a:xfrm>
            <a:off x="4572000" y="2651760"/>
            <a:ext cx="3017520" cy="3200400"/>
          </a:xfrm>
          <a:prstGeom prst="rect">
            <a:avLst/>
          </a:prstGeom>
          <a:noFill/>
        </p:spPr>
        <p:txBody>
          <a:bodyPr wrap="square" lIns="0" tIns="0" rIns="0" bIns="0">
            <a:spAutoFit/>
          </a:bodyPr>
          <a:lstStyle/>
          <a:p>
            <a:pPr>
              <a:defRPr sz="1400">
                <a:solidFill>
                  <a:srgbClr val="94A3B8"/>
                </a:solidFill>
              </a:defRPr>
            </a:pPr>
            <a:r>
              <a:t>• Handoff Amnesia:</a:t>
            </a:r>
            <a:br/>
            <a:r>
              <a:t>Crucial medication doses are written from memory 45 minutes later at the ED.</a:t>
            </a:r>
            <a:br/>
            <a:br/>
            <a:r>
              <a:t>• Severe Patient Risk:</a:t>
            </a:r>
            <a:br/>
            <a:r>
              <a:t>Hospital physicians may duplicate or contradict drugs without knowing pre-hospital administration.</a:t>
            </a:r>
            <a:br/>
            <a:br/>
            <a:r>
              <a:t>• Up to 28% of field medication details are misremembered or omitted.</a:t>
            </a:r>
          </a:p>
        </p:txBody>
      </p:sp>
      <p:sp>
        <p:nvSpPr>
          <p:cNvPr id="11" name="Rounded Rectangle 10"/>
          <p:cNvSpPr/>
          <p:nvPr/>
        </p:nvSpPr>
        <p:spPr>
          <a:xfrm>
            <a:off x="8046720" y="2011680"/>
            <a:ext cx="3383280" cy="4114800"/>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2176272"/>
            <a:ext cx="3017520" cy="457200"/>
          </a:xfrm>
          <a:prstGeom prst="rect">
            <a:avLst/>
          </a:prstGeom>
          <a:noFill/>
        </p:spPr>
        <p:txBody>
          <a:bodyPr wrap="square" lIns="0" tIns="0" rIns="0" bIns="0">
            <a:spAutoFit/>
          </a:bodyPr>
          <a:lstStyle/>
          <a:p>
            <a:pPr>
              <a:defRPr sz="1600" b="1">
                <a:solidFill>
                  <a:srgbClr val="F8FAFC"/>
                </a:solidFill>
              </a:defRPr>
            </a:pPr>
            <a:r>
              <a:t>3. Cloud &amp; Connectivity Dead-Zones</a:t>
            </a:r>
          </a:p>
        </p:txBody>
      </p:sp>
      <p:sp>
        <p:nvSpPr>
          <p:cNvPr id="13" name="TextBox 12"/>
          <p:cNvSpPr txBox="1"/>
          <p:nvPr/>
        </p:nvSpPr>
        <p:spPr>
          <a:xfrm>
            <a:off x="8229600" y="2651760"/>
            <a:ext cx="3017520" cy="3200400"/>
          </a:xfrm>
          <a:prstGeom prst="rect">
            <a:avLst/>
          </a:prstGeom>
          <a:noFill/>
        </p:spPr>
        <p:txBody>
          <a:bodyPr wrap="square" lIns="0" tIns="0" rIns="0" bIns="0">
            <a:spAutoFit/>
          </a:bodyPr>
          <a:lstStyle/>
          <a:p>
            <a:pPr>
              <a:defRPr sz="1400">
                <a:solidFill>
                  <a:srgbClr val="94A3B8"/>
                </a:solidFill>
              </a:defRPr>
            </a:pPr>
            <a:r>
              <a:t>• Rural &amp; Basements:</a:t>
            </a:r>
            <a:br/>
            <a:r>
              <a:t>Cellular data drops in tunnels, rural roads, and concrete trauma bays.</a:t>
            </a:r>
            <a:br/>
            <a:br/>
            <a:r>
              <a:t>• Privacy / HIPAA Barriers:</a:t>
            </a:r>
            <a:br/>
            <a:r>
              <a:t>Streaming raw patient speech to commercial cloud APIs violates strict health privacy regulations.</a:t>
            </a:r>
            <a:br/>
            <a:br/>
            <a:r>
              <a:t>• Zero Non-Repudiation:</a:t>
            </a:r>
            <a:br/>
            <a:r>
              <a:t>No cryptographic proof of exact administration 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926080" cy="347472"/>
          </a:xfrm>
          <a:prstGeom prst="roundRect">
            <a:avLst/>
          </a:prstGeom>
          <a:solidFill>
            <a:srgbClr val="1E3A6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38BDF8"/>
                </a:solidFill>
              </a:defRPr>
            </a:pPr>
            <a:r>
              <a:t>THE SANJEEVANI LEKH SOLUTION</a:t>
            </a:r>
          </a:p>
        </p:txBody>
      </p:sp>
      <p:sp>
        <p:nvSpPr>
          <p:cNvPr id="4" name="TextBox 3"/>
          <p:cNvSpPr txBox="1"/>
          <p:nvPr/>
        </p:nvSpPr>
        <p:spPr>
          <a:xfrm>
            <a:off x="731520" y="868680"/>
            <a:ext cx="10698480" cy="731520"/>
          </a:xfrm>
          <a:prstGeom prst="rect">
            <a:avLst/>
          </a:prstGeom>
          <a:noFill/>
        </p:spPr>
        <p:txBody>
          <a:bodyPr wrap="square" lIns="0" tIns="0" rIns="0" bIns="0">
            <a:spAutoFit/>
          </a:bodyPr>
          <a:lstStyle/>
          <a:p>
            <a:pPr>
              <a:defRPr sz="2800" b="1">
                <a:solidFill>
                  <a:srgbClr val="F8FAFC"/>
                </a:solidFill>
              </a:defRPr>
            </a:pPr>
            <a:r>
              <a:t>Instant Field-to-Record with Edge AI &amp; Tamper-Evident Ledger</a:t>
            </a:r>
          </a:p>
          <a:p>
            <a:pPr>
              <a:defRPr sz="1400">
                <a:solidFill>
                  <a:srgbClr val="94A3B8"/>
                </a:solidFill>
              </a:defRPr>
            </a:pPr>
            <a:r>
              <a:t>A 1-tap capture workflow designed specifically for busy hands and urgent eyes.</a:t>
            </a:r>
          </a:p>
        </p:txBody>
      </p:sp>
      <p:sp>
        <p:nvSpPr>
          <p:cNvPr id="5" name="Rounded Rectangle 4"/>
          <p:cNvSpPr/>
          <p:nvPr/>
        </p:nvSpPr>
        <p:spPr>
          <a:xfrm>
            <a:off x="731520" y="2011680"/>
            <a:ext cx="5120640" cy="192024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76272"/>
            <a:ext cx="4754880" cy="457200"/>
          </a:xfrm>
          <a:prstGeom prst="rect">
            <a:avLst/>
          </a:prstGeom>
          <a:noFill/>
        </p:spPr>
        <p:txBody>
          <a:bodyPr wrap="square" lIns="0" tIns="0" rIns="0" bIns="0">
            <a:spAutoFit/>
          </a:bodyPr>
          <a:lstStyle/>
          <a:p>
            <a:pPr>
              <a:defRPr sz="1600" b="1">
                <a:solidFill>
                  <a:srgbClr val="F8FAFC"/>
                </a:solidFill>
              </a:defRPr>
            </a:pPr>
            <a:r>
              <a:t>Multimodal Edge Capture</a:t>
            </a:r>
          </a:p>
        </p:txBody>
      </p:sp>
      <p:sp>
        <p:nvSpPr>
          <p:cNvPr id="7" name="TextBox 6"/>
          <p:cNvSpPr txBox="1"/>
          <p:nvPr/>
        </p:nvSpPr>
        <p:spPr>
          <a:xfrm>
            <a:off x="914400" y="2560320"/>
            <a:ext cx="4754880" cy="1188720"/>
          </a:xfrm>
          <a:prstGeom prst="rect">
            <a:avLst/>
          </a:prstGeom>
          <a:noFill/>
        </p:spPr>
        <p:txBody>
          <a:bodyPr wrap="square">
            <a:spAutoFit/>
          </a:bodyPr>
          <a:lstStyle/>
          <a:p>
            <a:pPr>
              <a:defRPr sz="1300">
                <a:solidFill>
                  <a:srgbClr val="94A3B8"/>
                </a:solidFill>
              </a:defRPr>
            </a:pPr>
            <a:r>
              <a:t>• Voice: 1-tap microphone dictation transcribed on-device via whisper.cpp.</a:t>
            </a:r>
            <a:br/>
            <a:r>
              <a:t>• Vision: Snaps photos of paramedic nitrile gloves deciphered by Microsoft TrOCR.</a:t>
            </a:r>
            <a:br/>
            <a:r>
              <a:t>• 100% Offline: Operates seamlessly in basement trauma bays and remote rural routes.</a:t>
            </a:r>
          </a:p>
        </p:txBody>
      </p:sp>
      <p:sp>
        <p:nvSpPr>
          <p:cNvPr id="8" name="Rounded Rectangle 7"/>
          <p:cNvSpPr/>
          <p:nvPr/>
        </p:nvSpPr>
        <p:spPr>
          <a:xfrm>
            <a:off x="6309360" y="2011680"/>
            <a:ext cx="5120640" cy="1920240"/>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176272"/>
            <a:ext cx="4754880" cy="457200"/>
          </a:xfrm>
          <a:prstGeom prst="rect">
            <a:avLst/>
          </a:prstGeom>
          <a:noFill/>
        </p:spPr>
        <p:txBody>
          <a:bodyPr wrap="square" lIns="0" tIns="0" rIns="0" bIns="0">
            <a:spAutoFit/>
          </a:bodyPr>
          <a:lstStyle/>
          <a:p>
            <a:pPr>
              <a:defRPr sz="1600" b="1">
                <a:solidFill>
                  <a:srgbClr val="F8FAFC"/>
                </a:solidFill>
              </a:defRPr>
            </a:pPr>
            <a:r>
              <a:t>Dual-Layer Clinical Validation</a:t>
            </a:r>
          </a:p>
        </p:txBody>
      </p:sp>
      <p:sp>
        <p:nvSpPr>
          <p:cNvPr id="10" name="TextBox 9"/>
          <p:cNvSpPr txBox="1"/>
          <p:nvPr/>
        </p:nvSpPr>
        <p:spPr>
          <a:xfrm>
            <a:off x="6492240" y="2560320"/>
            <a:ext cx="4754880" cy="1188720"/>
          </a:xfrm>
          <a:prstGeom prst="rect">
            <a:avLst/>
          </a:prstGeom>
          <a:noFill/>
        </p:spPr>
        <p:txBody>
          <a:bodyPr wrap="square">
            <a:spAutoFit/>
          </a:bodyPr>
          <a:lstStyle/>
          <a:p>
            <a:pPr>
              <a:defRPr sz="1300">
                <a:solidFill>
                  <a:srgbClr val="94A3B8"/>
                </a:solidFill>
              </a:defRPr>
            </a:pPr>
            <a:r>
              <a:t>• MedGemma LLM extracts FHIR-lite MedicationAdministration &amp; Procedure records.</a:t>
            </a:r>
            <a:br/>
            <a:r>
              <a:t>• Harvard n2c2 Clinical BERT safety cross-checker catches omitted drugs.</a:t>
            </a:r>
            <a:br/>
            <a:r>
              <a:t>• MIMIC-III Bio_ClinicalBERT grounds medical synonyms ('nitro' -&gt; nitroglycerin).</a:t>
            </a:r>
          </a:p>
        </p:txBody>
      </p:sp>
      <p:sp>
        <p:nvSpPr>
          <p:cNvPr id="11" name="Rounded Rectangle 10"/>
          <p:cNvSpPr/>
          <p:nvPr/>
        </p:nvSpPr>
        <p:spPr>
          <a:xfrm>
            <a:off x="731520" y="4206240"/>
            <a:ext cx="5120640" cy="192024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370832"/>
            <a:ext cx="4754880" cy="457200"/>
          </a:xfrm>
          <a:prstGeom prst="rect">
            <a:avLst/>
          </a:prstGeom>
          <a:noFill/>
        </p:spPr>
        <p:txBody>
          <a:bodyPr wrap="square" lIns="0" tIns="0" rIns="0" bIns="0">
            <a:spAutoFit/>
          </a:bodyPr>
          <a:lstStyle/>
          <a:p>
            <a:pPr>
              <a:defRPr sz="1600" b="1">
                <a:solidFill>
                  <a:srgbClr val="F8FAFC"/>
                </a:solidFill>
              </a:defRPr>
            </a:pPr>
            <a:r>
              <a:t>Human-in-the-Loop Sign-Off</a:t>
            </a:r>
          </a:p>
        </p:txBody>
      </p:sp>
      <p:sp>
        <p:nvSpPr>
          <p:cNvPr id="13" name="TextBox 12"/>
          <p:cNvSpPr txBox="1"/>
          <p:nvPr/>
        </p:nvSpPr>
        <p:spPr>
          <a:xfrm>
            <a:off x="914400" y="4754880"/>
            <a:ext cx="4754880" cy="1188720"/>
          </a:xfrm>
          <a:prstGeom prst="rect">
            <a:avLst/>
          </a:prstGeom>
          <a:noFill/>
        </p:spPr>
        <p:txBody>
          <a:bodyPr wrap="square">
            <a:spAutoFit/>
          </a:bodyPr>
          <a:lstStyle/>
          <a:p>
            <a:pPr>
              <a:defRPr sz="1300">
                <a:solidFill>
                  <a:srgbClr val="94A3B8"/>
                </a:solidFill>
              </a:defRPr>
            </a:pPr>
            <a:r>
              <a:t>• Side-by-side review: Extracted fields linked directly to original spoken words.</a:t>
            </a:r>
            <a:br/>
            <a:r>
              <a:t>• Color-coded safety flags warn the paramedic of missing units or routes.</a:t>
            </a:r>
            <a:br/>
            <a:r>
              <a:t>• Responder signs off in 1 tap, satisfying strict clinical governance standards.</a:t>
            </a:r>
          </a:p>
        </p:txBody>
      </p:sp>
      <p:sp>
        <p:nvSpPr>
          <p:cNvPr id="14" name="Rounded Rectangle 13"/>
          <p:cNvSpPr/>
          <p:nvPr/>
        </p:nvSpPr>
        <p:spPr>
          <a:xfrm>
            <a:off x="6309360" y="4206240"/>
            <a:ext cx="5120640" cy="1920240"/>
          </a:xfrm>
          <a:prstGeom prst="roundRect">
            <a:avLst/>
          </a:prstGeom>
          <a:solidFill>
            <a:srgbClr val="1E293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4370832"/>
            <a:ext cx="4754880" cy="457200"/>
          </a:xfrm>
          <a:prstGeom prst="rect">
            <a:avLst/>
          </a:prstGeom>
          <a:noFill/>
        </p:spPr>
        <p:txBody>
          <a:bodyPr wrap="square" lIns="0" tIns="0" rIns="0" bIns="0">
            <a:spAutoFit/>
          </a:bodyPr>
          <a:lstStyle/>
          <a:p>
            <a:pPr>
              <a:defRPr sz="1600" b="1">
                <a:solidFill>
                  <a:srgbClr val="F8FAFC"/>
                </a:solidFill>
              </a:defRPr>
            </a:pPr>
            <a:r>
              <a:t>Cryptographic Audit Ledger</a:t>
            </a:r>
          </a:p>
        </p:txBody>
      </p:sp>
      <p:sp>
        <p:nvSpPr>
          <p:cNvPr id="16" name="TextBox 15"/>
          <p:cNvSpPr txBox="1"/>
          <p:nvPr/>
        </p:nvSpPr>
        <p:spPr>
          <a:xfrm>
            <a:off x="6492240" y="4754880"/>
            <a:ext cx="4754880" cy="1188720"/>
          </a:xfrm>
          <a:prstGeom prst="rect">
            <a:avLst/>
          </a:prstGeom>
          <a:noFill/>
        </p:spPr>
        <p:txBody>
          <a:bodyPr wrap="square">
            <a:spAutoFit/>
          </a:bodyPr>
          <a:lstStyle/>
          <a:p>
            <a:pPr>
              <a:defRPr sz="1300">
                <a:solidFill>
                  <a:srgbClr val="94A3B8"/>
                </a:solidFill>
              </a:defRPr>
            </a:pPr>
            <a:r>
              <a:t>• SHA-256 Hash Chain: Each record anchors to the cryptographic root of the run.</a:t>
            </a:r>
            <a:br/>
            <a:r>
              <a:t>• Immutable SQLite Triggers: Hard triggers reject any UPDATE or DELETE queries.</a:t>
            </a:r>
            <a:br/>
            <a:r>
              <a:t>• Handover Transfer Sheet: Auto-generates printable SBAR report for hospital trauma staff.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926080" cy="347472"/>
          </a:xfrm>
          <a:prstGeom prst="roundRect">
            <a:avLst/>
          </a:prstGeom>
          <a:solidFill>
            <a:srgbClr val="1E3A6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38BDF8"/>
                </a:solidFill>
              </a:defRPr>
            </a:pPr>
            <a:r>
              <a:t>SYSTEM ARCHITECTURE</a:t>
            </a:r>
          </a:p>
        </p:txBody>
      </p:sp>
      <p:sp>
        <p:nvSpPr>
          <p:cNvPr id="4" name="TextBox 3"/>
          <p:cNvSpPr txBox="1"/>
          <p:nvPr/>
        </p:nvSpPr>
        <p:spPr>
          <a:xfrm>
            <a:off x="731520" y="868680"/>
            <a:ext cx="10698480" cy="731520"/>
          </a:xfrm>
          <a:prstGeom prst="rect">
            <a:avLst/>
          </a:prstGeom>
          <a:noFill/>
        </p:spPr>
        <p:txBody>
          <a:bodyPr wrap="square" lIns="0" tIns="0" rIns="0" bIns="0">
            <a:spAutoFit/>
          </a:bodyPr>
          <a:lstStyle/>
          <a:p>
            <a:pPr>
              <a:defRPr sz="2800" b="1">
                <a:solidFill>
                  <a:srgbClr val="F8FAFC"/>
                </a:solidFill>
              </a:defRPr>
            </a:pPr>
            <a:r>
              <a:t>6-Stage Edge Pipeline: From Speech/Glove to Cryptographic Seal</a:t>
            </a:r>
          </a:p>
          <a:p>
            <a:pPr>
              <a:defRPr sz="1400">
                <a:solidFill>
                  <a:srgbClr val="94A3B8"/>
                </a:solidFill>
              </a:defRPr>
            </a:pPr>
            <a:r>
              <a:t>Modular, decoupled pipeline engineered for high reliability and zero network dependencies.</a:t>
            </a:r>
          </a:p>
        </p:txBody>
      </p:sp>
      <p:sp>
        <p:nvSpPr>
          <p:cNvPr id="5" name="Rounded Rectangle 4"/>
          <p:cNvSpPr/>
          <p:nvPr/>
        </p:nvSpPr>
        <p:spPr>
          <a:xfrm>
            <a:off x="731520" y="2103120"/>
            <a:ext cx="1691640" cy="40233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286000"/>
            <a:ext cx="1463040" cy="3657600"/>
          </a:xfrm>
          <a:prstGeom prst="rect">
            <a:avLst/>
          </a:prstGeom>
          <a:noFill/>
        </p:spPr>
        <p:txBody>
          <a:bodyPr wrap="square" lIns="0" tIns="0" rIns="0" bIns="0">
            <a:spAutoFit/>
          </a:bodyPr>
          <a:lstStyle/>
          <a:p>
            <a:pPr>
              <a:defRPr sz="1500" b="1">
                <a:solidFill>
                  <a:srgbClr val="38BDF8"/>
                </a:solidFill>
              </a:defRPr>
            </a:pPr>
            <a:r>
              <a:t>1. CAPTURE</a:t>
            </a:r>
          </a:p>
          <a:p>
            <a:br/>
            <a:pPr>
              <a:defRPr sz="1300">
                <a:solidFill>
                  <a:srgbClr val="F8FAFC"/>
                </a:solidFill>
              </a:defRPr>
            </a:pPr>
            <a:r>
              <a:t>Voice, glove image, or typed field note</a:t>
            </a:r>
            <a:br/>
          </a:p>
        </p:txBody>
      </p:sp>
      <p:sp>
        <p:nvSpPr>
          <p:cNvPr id="7" name="TextBox 6"/>
          <p:cNvSpPr txBox="1"/>
          <p:nvPr/>
        </p:nvSpPr>
        <p:spPr>
          <a:xfrm>
            <a:off x="2286000" y="3840480"/>
            <a:ext cx="274320" cy="365760"/>
          </a:xfrm>
          <a:prstGeom prst="rect">
            <a:avLst/>
          </a:prstGeom>
          <a:noFill/>
        </p:spPr>
        <p:txBody>
          <a:bodyPr wrap="none">
            <a:spAutoFit/>
          </a:bodyPr>
          <a:lstStyle/>
          <a:p>
            <a:pPr>
              <a:defRPr sz="1600">
                <a:solidFill>
                  <a:srgbClr val="94A3B8"/>
                </a:solidFill>
              </a:defRPr>
            </a:pPr>
            <a:r>
              <a:t>►</a:t>
            </a:r>
          </a:p>
        </p:txBody>
      </p:sp>
      <p:sp>
        <p:nvSpPr>
          <p:cNvPr id="8" name="Rounded Rectangle 7"/>
          <p:cNvSpPr/>
          <p:nvPr/>
        </p:nvSpPr>
        <p:spPr>
          <a:xfrm>
            <a:off x="2514600" y="2103120"/>
            <a:ext cx="1691640" cy="40233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24328" y="2286000"/>
            <a:ext cx="1463040" cy="3657600"/>
          </a:xfrm>
          <a:prstGeom prst="rect">
            <a:avLst/>
          </a:prstGeom>
          <a:noFill/>
        </p:spPr>
        <p:txBody>
          <a:bodyPr wrap="square" lIns="0" tIns="0" rIns="0" bIns="0">
            <a:spAutoFit/>
          </a:bodyPr>
          <a:lstStyle/>
          <a:p>
            <a:pPr>
              <a:defRPr sz="1500" b="1">
                <a:solidFill>
                  <a:srgbClr val="38BDF8"/>
                </a:solidFill>
              </a:defRPr>
            </a:pPr>
            <a:r>
              <a:t>2. TRANSCRIBE</a:t>
            </a:r>
          </a:p>
          <a:p>
            <a:br/>
            <a:pPr>
              <a:defRPr sz="1300">
                <a:solidFill>
                  <a:srgbClr val="F8FAFC"/>
                </a:solidFill>
              </a:defRPr>
            </a:pPr>
            <a:r>
              <a:t>whisper.cpp (Audio) &amp; TrOCR (Glove)</a:t>
            </a:r>
            <a:br/>
          </a:p>
        </p:txBody>
      </p:sp>
      <p:sp>
        <p:nvSpPr>
          <p:cNvPr id="10" name="TextBox 9"/>
          <p:cNvSpPr txBox="1"/>
          <p:nvPr/>
        </p:nvSpPr>
        <p:spPr>
          <a:xfrm>
            <a:off x="4069080" y="3840480"/>
            <a:ext cx="274320" cy="365760"/>
          </a:xfrm>
          <a:prstGeom prst="rect">
            <a:avLst/>
          </a:prstGeom>
          <a:noFill/>
        </p:spPr>
        <p:txBody>
          <a:bodyPr wrap="none">
            <a:spAutoFit/>
          </a:bodyPr>
          <a:lstStyle/>
          <a:p>
            <a:pPr>
              <a:defRPr sz="1600">
                <a:solidFill>
                  <a:srgbClr val="94A3B8"/>
                </a:solidFill>
              </a:defRPr>
            </a:pPr>
            <a:r>
              <a:t>►</a:t>
            </a:r>
          </a:p>
        </p:txBody>
      </p:sp>
      <p:sp>
        <p:nvSpPr>
          <p:cNvPr id="11" name="Rounded Rectangle 10"/>
          <p:cNvSpPr/>
          <p:nvPr/>
        </p:nvSpPr>
        <p:spPr>
          <a:xfrm>
            <a:off x="4297680" y="2103120"/>
            <a:ext cx="1691640" cy="4023360"/>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07408" y="2286000"/>
            <a:ext cx="1463040" cy="3657600"/>
          </a:xfrm>
          <a:prstGeom prst="rect">
            <a:avLst/>
          </a:prstGeom>
          <a:noFill/>
        </p:spPr>
        <p:txBody>
          <a:bodyPr wrap="square" lIns="0" tIns="0" rIns="0" bIns="0">
            <a:spAutoFit/>
          </a:bodyPr>
          <a:lstStyle/>
          <a:p>
            <a:pPr>
              <a:defRPr sz="1500" b="1">
                <a:solidFill>
                  <a:srgbClr val="A855F7"/>
                </a:solidFill>
              </a:defRPr>
            </a:pPr>
            <a:r>
              <a:t>3. EXTRACT</a:t>
            </a:r>
          </a:p>
          <a:p>
            <a:br/>
            <a:pPr>
              <a:defRPr sz="1300">
                <a:solidFill>
                  <a:srgbClr val="F8FAFC"/>
                </a:solidFill>
              </a:defRPr>
            </a:pPr>
            <a:r>
              <a:t>MedGemma LLM strict JSON mapping</a:t>
            </a:r>
            <a:br/>
          </a:p>
        </p:txBody>
      </p:sp>
      <p:sp>
        <p:nvSpPr>
          <p:cNvPr id="13" name="TextBox 12"/>
          <p:cNvSpPr txBox="1"/>
          <p:nvPr/>
        </p:nvSpPr>
        <p:spPr>
          <a:xfrm>
            <a:off x="5852160" y="3840480"/>
            <a:ext cx="274320" cy="365760"/>
          </a:xfrm>
          <a:prstGeom prst="rect">
            <a:avLst/>
          </a:prstGeom>
          <a:noFill/>
        </p:spPr>
        <p:txBody>
          <a:bodyPr wrap="none">
            <a:spAutoFit/>
          </a:bodyPr>
          <a:lstStyle/>
          <a:p>
            <a:pPr>
              <a:defRPr sz="1600">
                <a:solidFill>
                  <a:srgbClr val="94A3B8"/>
                </a:solidFill>
              </a:defRPr>
            </a:pPr>
            <a:r>
              <a:t>►</a:t>
            </a:r>
          </a:p>
        </p:txBody>
      </p:sp>
      <p:sp>
        <p:nvSpPr>
          <p:cNvPr id="14" name="Rounded Rectangle 13"/>
          <p:cNvSpPr/>
          <p:nvPr/>
        </p:nvSpPr>
        <p:spPr>
          <a:xfrm>
            <a:off x="6080759" y="2103120"/>
            <a:ext cx="1691640" cy="4023360"/>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90487" y="2286000"/>
            <a:ext cx="1463040" cy="3657600"/>
          </a:xfrm>
          <a:prstGeom prst="rect">
            <a:avLst/>
          </a:prstGeom>
          <a:noFill/>
        </p:spPr>
        <p:txBody>
          <a:bodyPr wrap="square" lIns="0" tIns="0" rIns="0" bIns="0">
            <a:spAutoFit/>
          </a:bodyPr>
          <a:lstStyle/>
          <a:p>
            <a:pPr>
              <a:defRPr sz="1500" b="1">
                <a:solidFill>
                  <a:srgbClr val="A855F7"/>
                </a:solidFill>
              </a:defRPr>
            </a:pPr>
            <a:r>
              <a:t>4. VALIDATE</a:t>
            </a:r>
          </a:p>
          <a:p>
            <a:br/>
            <a:pPr>
              <a:defRPr sz="1300">
                <a:solidFill>
                  <a:srgbClr val="F8FAFC"/>
                </a:solidFill>
              </a:defRPr>
            </a:pPr>
            <a:r>
              <a:t>n2c2 BERT omission &amp; MIMIC synonym check</a:t>
            </a:r>
            <a:br/>
          </a:p>
        </p:txBody>
      </p:sp>
      <p:sp>
        <p:nvSpPr>
          <p:cNvPr id="16" name="TextBox 15"/>
          <p:cNvSpPr txBox="1"/>
          <p:nvPr/>
        </p:nvSpPr>
        <p:spPr>
          <a:xfrm>
            <a:off x="7635239" y="3840480"/>
            <a:ext cx="274320" cy="365760"/>
          </a:xfrm>
          <a:prstGeom prst="rect">
            <a:avLst/>
          </a:prstGeom>
          <a:noFill/>
        </p:spPr>
        <p:txBody>
          <a:bodyPr wrap="none">
            <a:spAutoFit/>
          </a:bodyPr>
          <a:lstStyle/>
          <a:p>
            <a:pPr>
              <a:defRPr sz="1600">
                <a:solidFill>
                  <a:srgbClr val="94A3B8"/>
                </a:solidFill>
              </a:defRPr>
            </a:pPr>
            <a:r>
              <a:t>►</a:t>
            </a:r>
          </a:p>
        </p:txBody>
      </p:sp>
      <p:sp>
        <p:nvSpPr>
          <p:cNvPr id="17" name="Rounded Rectangle 16"/>
          <p:cNvSpPr/>
          <p:nvPr/>
        </p:nvSpPr>
        <p:spPr>
          <a:xfrm>
            <a:off x="7863840" y="2103120"/>
            <a:ext cx="1691640" cy="402336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73568" y="2286000"/>
            <a:ext cx="1463040" cy="3657600"/>
          </a:xfrm>
          <a:prstGeom prst="rect">
            <a:avLst/>
          </a:prstGeom>
          <a:noFill/>
        </p:spPr>
        <p:txBody>
          <a:bodyPr wrap="square" lIns="0" tIns="0" rIns="0" bIns="0">
            <a:spAutoFit/>
          </a:bodyPr>
          <a:lstStyle/>
          <a:p>
            <a:pPr>
              <a:defRPr sz="1500" b="1">
                <a:solidFill>
                  <a:srgbClr val="34D399"/>
                </a:solidFill>
              </a:defRPr>
            </a:pPr>
            <a:r>
              <a:t>5. CONFIRM</a:t>
            </a:r>
          </a:p>
          <a:p>
            <a:br/>
            <a:pPr>
              <a:defRPr sz="1300">
                <a:solidFill>
                  <a:srgbClr val="F8FAFC"/>
                </a:solidFill>
              </a:defRPr>
            </a:pPr>
            <a:r>
              <a:t>Paramedic signs with Responder ID</a:t>
            </a:r>
            <a:br/>
          </a:p>
        </p:txBody>
      </p:sp>
      <p:sp>
        <p:nvSpPr>
          <p:cNvPr id="19" name="TextBox 18"/>
          <p:cNvSpPr txBox="1"/>
          <p:nvPr/>
        </p:nvSpPr>
        <p:spPr>
          <a:xfrm>
            <a:off x="9418320" y="3840480"/>
            <a:ext cx="274320" cy="365760"/>
          </a:xfrm>
          <a:prstGeom prst="rect">
            <a:avLst/>
          </a:prstGeom>
          <a:noFill/>
        </p:spPr>
        <p:txBody>
          <a:bodyPr wrap="none">
            <a:spAutoFit/>
          </a:bodyPr>
          <a:lstStyle/>
          <a:p>
            <a:pPr>
              <a:defRPr sz="1600">
                <a:solidFill>
                  <a:srgbClr val="94A3B8"/>
                </a:solidFill>
              </a:defRPr>
            </a:pPr>
            <a:r>
              <a:t>►</a:t>
            </a:r>
          </a:p>
        </p:txBody>
      </p:sp>
      <p:sp>
        <p:nvSpPr>
          <p:cNvPr id="20" name="Rounded Rectangle 19"/>
          <p:cNvSpPr/>
          <p:nvPr/>
        </p:nvSpPr>
        <p:spPr>
          <a:xfrm>
            <a:off x="9646920" y="2103120"/>
            <a:ext cx="1691640" cy="4023360"/>
          </a:xfrm>
          <a:prstGeom prst="roundRect">
            <a:avLst/>
          </a:prstGeom>
          <a:solidFill>
            <a:srgbClr val="1E293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56648" y="2286000"/>
            <a:ext cx="1463040" cy="3657600"/>
          </a:xfrm>
          <a:prstGeom prst="rect">
            <a:avLst/>
          </a:prstGeom>
          <a:noFill/>
        </p:spPr>
        <p:txBody>
          <a:bodyPr wrap="square" lIns="0" tIns="0" rIns="0" bIns="0">
            <a:spAutoFit/>
          </a:bodyPr>
          <a:lstStyle/>
          <a:p>
            <a:pPr>
              <a:defRPr sz="1500" b="1">
                <a:solidFill>
                  <a:srgbClr val="FBBF24"/>
                </a:solidFill>
              </a:defRPr>
            </a:pPr>
            <a:r>
              <a:t>6. SEAL</a:t>
            </a:r>
          </a:p>
          <a:p>
            <a:br/>
            <a:pPr>
              <a:defRPr sz="1300">
                <a:solidFill>
                  <a:srgbClr val="F8FAFC"/>
                </a:solidFill>
              </a:defRPr>
            </a:pPr>
            <a:r>
              <a:t>SHA-256 Hash Chain &amp; Handover Sheet</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926080" cy="347472"/>
          </a:xfrm>
          <a:prstGeom prst="roundRect">
            <a:avLst/>
          </a:prstGeom>
          <a:solidFill>
            <a:srgbClr val="1E3A6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38BDF8"/>
                </a:solidFill>
              </a:defRPr>
            </a:pPr>
            <a:r>
              <a:t>SPEECH-TO-TEXT SUBSYSTEM</a:t>
            </a:r>
          </a:p>
        </p:txBody>
      </p:sp>
      <p:sp>
        <p:nvSpPr>
          <p:cNvPr id="4" name="TextBox 3"/>
          <p:cNvSpPr txBox="1"/>
          <p:nvPr/>
        </p:nvSpPr>
        <p:spPr>
          <a:xfrm>
            <a:off x="731520" y="868680"/>
            <a:ext cx="10698480" cy="731520"/>
          </a:xfrm>
          <a:prstGeom prst="rect">
            <a:avLst/>
          </a:prstGeom>
          <a:noFill/>
        </p:spPr>
        <p:txBody>
          <a:bodyPr wrap="square" lIns="0" tIns="0" rIns="0" bIns="0">
            <a:spAutoFit/>
          </a:bodyPr>
          <a:lstStyle/>
          <a:p>
            <a:pPr>
              <a:defRPr sz="2800" b="1">
                <a:solidFill>
                  <a:srgbClr val="F8FAFC"/>
                </a:solidFill>
              </a:defRPr>
            </a:pPr>
            <a:r>
              <a:t>whisper.cpp Engine &amp; Pharmaceutical Prompt Conditioning</a:t>
            </a:r>
          </a:p>
          <a:p>
            <a:pPr>
              <a:defRPr sz="1400">
                <a:solidFill>
                  <a:srgbClr val="94A3B8"/>
                </a:solidFill>
              </a:defRPr>
            </a:pPr>
            <a:r>
              <a:t>Sub-second on-device transcription with low Word Error Rate on emergency medication names.</a:t>
            </a:r>
          </a:p>
        </p:txBody>
      </p:sp>
      <p:sp>
        <p:nvSpPr>
          <p:cNvPr id="5" name="Rounded Rectangle 4"/>
          <p:cNvSpPr/>
          <p:nvPr/>
        </p:nvSpPr>
        <p:spPr>
          <a:xfrm>
            <a:off x="731520" y="2011680"/>
            <a:ext cx="5120640" cy="411480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76272"/>
            <a:ext cx="4754880" cy="457200"/>
          </a:xfrm>
          <a:prstGeom prst="rect">
            <a:avLst/>
          </a:prstGeom>
          <a:noFill/>
        </p:spPr>
        <p:txBody>
          <a:bodyPr wrap="square" lIns="0" tIns="0" rIns="0" bIns="0">
            <a:spAutoFit/>
          </a:bodyPr>
          <a:lstStyle/>
          <a:p>
            <a:pPr>
              <a:defRPr sz="1600" b="1">
                <a:solidFill>
                  <a:srgbClr val="F8FAFC"/>
                </a:solidFill>
              </a:defRPr>
            </a:pPr>
            <a:r>
              <a:t>Engine Architecture &amp; Hardware Acceleration</a:t>
            </a:r>
          </a:p>
        </p:txBody>
      </p:sp>
      <p:sp>
        <p:nvSpPr>
          <p:cNvPr id="7" name="TextBox 6"/>
          <p:cNvSpPr txBox="1"/>
          <p:nvPr/>
        </p:nvSpPr>
        <p:spPr>
          <a:xfrm>
            <a:off x="914400" y="2651760"/>
            <a:ext cx="4754880" cy="3200400"/>
          </a:xfrm>
          <a:prstGeom prst="rect">
            <a:avLst/>
          </a:prstGeom>
          <a:noFill/>
        </p:spPr>
        <p:txBody>
          <a:bodyPr wrap="square">
            <a:spAutoFit/>
          </a:bodyPr>
          <a:lstStyle/>
          <a:p>
            <a:pPr>
              <a:defRPr sz="1400">
                <a:solidFill>
                  <a:srgbClr val="94A3B8"/>
                </a:solidFill>
              </a:defRPr>
            </a:pPr>
            <a:r>
              <a:t>• Model: ggml-small.en.bin (~487.6 MB, 244M params)</a:t>
            </a:r>
            <a:br/>
            <a:r>
              <a:t>• Zero Dependencies: Written in pure C/C++ (Georgi Gerganov)</a:t>
            </a:r>
            <a:br/>
            <a:r>
              <a:t>• Apple Silicon Metal Acceleration: libggml-metal.dylib offloads tensors to GPU cores</a:t>
            </a:r>
            <a:br/>
            <a:r>
              <a:t>• High Speed: ~10x real-time speed (15s voice note in &lt;1.2s)</a:t>
            </a:r>
            <a:br/>
            <a:r>
              <a:t>• English Dedicated (.en): 100% capacity assigned to English phonemes</a:t>
            </a:r>
            <a:br/>
            <a:r>
              <a:t>• Resource Footprint: Fits in ~500 MB RAM, easily co-existing with local LLM</a:t>
            </a:r>
          </a:p>
        </p:txBody>
      </p:sp>
      <p:sp>
        <p:nvSpPr>
          <p:cNvPr id="8" name="Rounded Rectangle 7"/>
          <p:cNvSpPr/>
          <p:nvPr/>
        </p:nvSpPr>
        <p:spPr>
          <a:xfrm>
            <a:off x="6309360" y="2011680"/>
            <a:ext cx="5120640" cy="411480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176272"/>
            <a:ext cx="4754880" cy="457200"/>
          </a:xfrm>
          <a:prstGeom prst="rect">
            <a:avLst/>
          </a:prstGeom>
          <a:noFill/>
        </p:spPr>
        <p:txBody>
          <a:bodyPr wrap="square" lIns="0" tIns="0" rIns="0" bIns="0">
            <a:spAutoFit/>
          </a:bodyPr>
          <a:lstStyle/>
          <a:p>
            <a:pPr>
              <a:defRPr sz="1600" b="1">
                <a:solidFill>
                  <a:srgbClr val="F8FAFC"/>
                </a:solidFill>
              </a:defRPr>
            </a:pPr>
            <a:r>
              <a:t>Solving the 'Amiodarone Problem' via Hints</a:t>
            </a:r>
          </a:p>
        </p:txBody>
      </p:sp>
      <p:sp>
        <p:nvSpPr>
          <p:cNvPr id="10" name="TextBox 9"/>
          <p:cNvSpPr txBox="1"/>
          <p:nvPr/>
        </p:nvSpPr>
        <p:spPr>
          <a:xfrm>
            <a:off x="6492240" y="2651760"/>
            <a:ext cx="4754880" cy="3200400"/>
          </a:xfrm>
          <a:prstGeom prst="rect">
            <a:avLst/>
          </a:prstGeom>
          <a:noFill/>
        </p:spPr>
        <p:txBody>
          <a:bodyPr wrap="square">
            <a:spAutoFit/>
          </a:bodyPr>
          <a:lstStyle/>
          <a:p>
            <a:pPr>
              <a:defRPr sz="1400">
                <a:solidFill>
                  <a:srgbClr val="94A3B8"/>
                </a:solidFill>
              </a:defRPr>
            </a:pPr>
            <a:r>
              <a:t>• The Challenge: Rare drug names (e.g. Versed, Adenosine, Zofran) are mistranscribed by generic speech models.</a:t>
            </a:r>
            <a:br/>
            <a:br/>
            <a:r>
              <a:t>• The Solution: whisper-hint-v1.0 vocabulary conditioning prompt primes the autoregressive decoder.</a:t>
            </a:r>
            <a:br/>
            <a:br/>
            <a:r>
              <a:t>• Benchmark Result: Drug Word Error Rate reduced from ~24% down to &lt;4% (exceeding NFR-15 benchmark of &lt;= 10%).</a:t>
            </a:r>
            <a:br/>
            <a:br/>
            <a:r>
              <a:t>• Output Sanitizer: Custom regex cleans whisper-cli engine status and timestamp tags for clean downstream NLP.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926080" cy="347472"/>
          </a:xfrm>
          <a:prstGeom prst="roundRect">
            <a:avLst/>
          </a:prstGeom>
          <a:solidFill>
            <a:srgbClr val="1E3A6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38BDF8"/>
                </a:solidFill>
              </a:defRPr>
            </a:pPr>
            <a:r>
              <a:t>VISUAL INTELLIGENCE SUBSYSTEM</a:t>
            </a:r>
          </a:p>
        </p:txBody>
      </p:sp>
      <p:sp>
        <p:nvSpPr>
          <p:cNvPr id="4" name="TextBox 3"/>
          <p:cNvSpPr txBox="1"/>
          <p:nvPr/>
        </p:nvSpPr>
        <p:spPr>
          <a:xfrm>
            <a:off x="731520" y="868680"/>
            <a:ext cx="10698480" cy="731520"/>
          </a:xfrm>
          <a:prstGeom prst="rect">
            <a:avLst/>
          </a:prstGeom>
          <a:noFill/>
        </p:spPr>
        <p:txBody>
          <a:bodyPr wrap="square" lIns="0" tIns="0" rIns="0" bIns="0">
            <a:spAutoFit/>
          </a:bodyPr>
          <a:lstStyle/>
          <a:p>
            <a:pPr>
              <a:defRPr sz="2800" b="1">
                <a:solidFill>
                  <a:srgbClr val="F8FAFC"/>
                </a:solidFill>
              </a:defRPr>
            </a:pPr>
            <a:r>
              <a:t>Microsoft TrOCR: Deciphering Scribbled Nitrile Gloves</a:t>
            </a:r>
          </a:p>
          <a:p>
            <a:pPr>
              <a:defRPr sz="1400">
                <a:solidFill>
                  <a:srgbClr val="94A3B8"/>
                </a:solidFill>
              </a:defRPr>
            </a:pPr>
            <a:r>
              <a:t>Vision Transformer architecture solving the real-world emergency handwritten glove note crisis.</a:t>
            </a:r>
          </a:p>
        </p:txBody>
      </p:sp>
      <p:sp>
        <p:nvSpPr>
          <p:cNvPr id="5" name="Rounded Rectangle 4"/>
          <p:cNvSpPr/>
          <p:nvPr/>
        </p:nvSpPr>
        <p:spPr>
          <a:xfrm>
            <a:off x="731520" y="2011680"/>
            <a:ext cx="5120640" cy="4114800"/>
          </a:xfrm>
          <a:prstGeom prst="roundRect">
            <a:avLst/>
          </a:prstGeom>
          <a:solidFill>
            <a:srgbClr val="1E293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76272"/>
            <a:ext cx="4754880" cy="457200"/>
          </a:xfrm>
          <a:prstGeom prst="rect">
            <a:avLst/>
          </a:prstGeom>
          <a:noFill/>
        </p:spPr>
        <p:txBody>
          <a:bodyPr wrap="square" lIns="0" tIns="0" rIns="0" bIns="0">
            <a:spAutoFit/>
          </a:bodyPr>
          <a:lstStyle/>
          <a:p>
            <a:pPr>
              <a:defRPr sz="1600" b="1">
                <a:solidFill>
                  <a:srgbClr val="F8FAFC"/>
                </a:solidFill>
              </a:defRPr>
            </a:pPr>
            <a:r>
              <a:t>The Nitrile Glove Reality</a:t>
            </a:r>
          </a:p>
        </p:txBody>
      </p:sp>
      <p:sp>
        <p:nvSpPr>
          <p:cNvPr id="7" name="TextBox 6"/>
          <p:cNvSpPr txBox="1"/>
          <p:nvPr/>
        </p:nvSpPr>
        <p:spPr>
          <a:xfrm>
            <a:off x="914400" y="2651760"/>
            <a:ext cx="4754880" cy="3200400"/>
          </a:xfrm>
          <a:prstGeom prst="rect">
            <a:avLst/>
          </a:prstGeom>
          <a:noFill/>
        </p:spPr>
        <p:txBody>
          <a:bodyPr wrap="square">
            <a:spAutoFit/>
          </a:bodyPr>
          <a:lstStyle/>
          <a:p>
            <a:pPr>
              <a:defRPr sz="1400">
                <a:solidFill>
                  <a:srgbClr val="94A3B8"/>
                </a:solidFill>
              </a:defRPr>
            </a:pPr>
            <a:r>
              <a:t>• Emergency Reality:</a:t>
            </a:r>
            <a:br/>
            <a:r>
              <a:t>Paramedics commonly scribble medication doses, IV gauges, and times on the back of their gloves or tape strips.</a:t>
            </a:r>
            <a:br/>
            <a:br/>
            <a:r>
              <a:t>• Failure of Classical OCR:</a:t>
            </a:r>
            <a:br/>
            <a:r>
              <a:t>Tesseract and classical contour detectors fail on curved, rubbery, wrinkled glove surfaces with low-contrast ink.</a:t>
            </a:r>
            <a:br/>
            <a:br/>
            <a:r>
              <a:t>• Sanjeevani Lekh Innovation:</a:t>
            </a:r>
            <a:br/>
            <a:r>
              <a:t>Takes photo directly via camera, runs through TrOCR, and immediately extracts into structured clinical draft.</a:t>
            </a:r>
          </a:p>
        </p:txBody>
      </p:sp>
      <p:sp>
        <p:nvSpPr>
          <p:cNvPr id="8" name="Rounded Rectangle 7"/>
          <p:cNvSpPr/>
          <p:nvPr/>
        </p:nvSpPr>
        <p:spPr>
          <a:xfrm>
            <a:off x="6309360" y="2011680"/>
            <a:ext cx="5120640" cy="4114800"/>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176272"/>
            <a:ext cx="4754880" cy="457200"/>
          </a:xfrm>
          <a:prstGeom prst="rect">
            <a:avLst/>
          </a:prstGeom>
          <a:noFill/>
        </p:spPr>
        <p:txBody>
          <a:bodyPr wrap="square" lIns="0" tIns="0" rIns="0" bIns="0">
            <a:spAutoFit/>
          </a:bodyPr>
          <a:lstStyle/>
          <a:p>
            <a:pPr>
              <a:defRPr sz="1600" b="1">
                <a:solidFill>
                  <a:srgbClr val="F8FAFC"/>
                </a:solidFill>
              </a:defRPr>
            </a:pPr>
            <a:r>
              <a:t>Microsoft TrOCR Architecture</a:t>
            </a:r>
          </a:p>
        </p:txBody>
      </p:sp>
      <p:sp>
        <p:nvSpPr>
          <p:cNvPr id="10" name="TextBox 9"/>
          <p:cNvSpPr txBox="1"/>
          <p:nvPr/>
        </p:nvSpPr>
        <p:spPr>
          <a:xfrm>
            <a:off x="6492240" y="2651760"/>
            <a:ext cx="4754880" cy="3200400"/>
          </a:xfrm>
          <a:prstGeom prst="rect">
            <a:avLst/>
          </a:prstGeom>
          <a:noFill/>
        </p:spPr>
        <p:txBody>
          <a:bodyPr wrap="square">
            <a:spAutoFit/>
          </a:bodyPr>
          <a:lstStyle/>
          <a:p>
            <a:pPr>
              <a:defRPr sz="1400">
                <a:solidFill>
                  <a:srgbClr val="94A3B8"/>
                </a:solidFill>
              </a:defRPr>
            </a:pPr>
            <a:r>
              <a:t>• Model: microsoft/trocr-base-handwritten (~1.33 GB, 334M params)</a:t>
            </a:r>
            <a:br/>
            <a:br/>
            <a:r>
              <a:t>• Visual Encoder (DeiT):</a:t>
            </a:r>
            <a:br/>
            <a:r>
              <a:t>Data-efficient Image Transformer decomposes image patches into spatial visual tokens.</a:t>
            </a:r>
            <a:br/>
            <a:br/>
            <a:r>
              <a:t>• Text Decoder (RoBERTa):</a:t>
            </a:r>
            <a:br/>
            <a:r>
              <a:t>Language model decodes handwritten sequences autoregressively.</a:t>
            </a:r>
            <a:br/>
            <a:br/>
            <a:r>
              <a:t>• Contextual Grammar Reconstruction:</a:t>
            </a:r>
            <a:br/>
            <a:r>
              <a:t>Because RoBERTa understands language context, it accurately infers partially smudged letters and medical acronyms.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926080" cy="347472"/>
          </a:xfrm>
          <a:prstGeom prst="roundRect">
            <a:avLst/>
          </a:prstGeom>
          <a:solidFill>
            <a:srgbClr val="1E3A6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38BDF8"/>
                </a:solidFill>
              </a:defRPr>
            </a:pPr>
            <a:r>
              <a:t>CLINICAL SAFETY NET</a:t>
            </a:r>
          </a:p>
        </p:txBody>
      </p:sp>
      <p:sp>
        <p:nvSpPr>
          <p:cNvPr id="4" name="TextBox 3"/>
          <p:cNvSpPr txBox="1"/>
          <p:nvPr/>
        </p:nvSpPr>
        <p:spPr>
          <a:xfrm>
            <a:off x="731520" y="868680"/>
            <a:ext cx="10698480" cy="731520"/>
          </a:xfrm>
          <a:prstGeom prst="rect">
            <a:avLst/>
          </a:prstGeom>
          <a:noFill/>
        </p:spPr>
        <p:txBody>
          <a:bodyPr wrap="square" lIns="0" tIns="0" rIns="0" bIns="0">
            <a:spAutoFit/>
          </a:bodyPr>
          <a:lstStyle/>
          <a:p>
            <a:pPr>
              <a:defRPr sz="2800" b="1">
                <a:solidFill>
                  <a:srgbClr val="F8FAFC"/>
                </a:solidFill>
              </a:defRPr>
            </a:pPr>
            <a:r>
              <a:t>Dual-Layer Cross-Validation: Harvard n2c2 BERT &amp; MIMIC-III</a:t>
            </a:r>
          </a:p>
          <a:p>
            <a:pPr>
              <a:defRPr sz="1400">
                <a:solidFill>
                  <a:srgbClr val="94A3B8"/>
                </a:solidFill>
              </a:defRPr>
            </a:pPr>
            <a:r>
              <a:t>Independent discriminative models catching LLM omissions and grounding clinical concepts.</a:t>
            </a:r>
          </a:p>
        </p:txBody>
      </p:sp>
      <p:sp>
        <p:nvSpPr>
          <p:cNvPr id="5" name="Rounded Rectangle 4"/>
          <p:cNvSpPr/>
          <p:nvPr/>
        </p:nvSpPr>
        <p:spPr>
          <a:xfrm>
            <a:off x="731520" y="2011680"/>
            <a:ext cx="5120640" cy="411480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76272"/>
            <a:ext cx="4754880" cy="457200"/>
          </a:xfrm>
          <a:prstGeom prst="rect">
            <a:avLst/>
          </a:prstGeom>
          <a:noFill/>
        </p:spPr>
        <p:txBody>
          <a:bodyPr wrap="square" lIns="0" tIns="0" rIns="0" bIns="0">
            <a:spAutoFit/>
          </a:bodyPr>
          <a:lstStyle/>
          <a:p>
            <a:pPr>
              <a:defRPr sz="1600" b="1">
                <a:solidFill>
                  <a:srgbClr val="F8FAFC"/>
                </a:solidFill>
              </a:defRPr>
            </a:pPr>
            <a:r>
              <a:t>Layer 1: Harvard n2c2 Omission Detector</a:t>
            </a:r>
          </a:p>
        </p:txBody>
      </p:sp>
      <p:sp>
        <p:nvSpPr>
          <p:cNvPr id="7" name="TextBox 6"/>
          <p:cNvSpPr txBox="1"/>
          <p:nvPr/>
        </p:nvSpPr>
        <p:spPr>
          <a:xfrm>
            <a:off x="914400" y="2651760"/>
            <a:ext cx="4754880" cy="3200400"/>
          </a:xfrm>
          <a:prstGeom prst="rect">
            <a:avLst/>
          </a:prstGeom>
          <a:noFill/>
        </p:spPr>
        <p:txBody>
          <a:bodyPr wrap="square">
            <a:spAutoFit/>
          </a:bodyPr>
          <a:lstStyle/>
          <a:p>
            <a:pPr>
              <a:defRPr sz="1400">
                <a:solidFill>
                  <a:srgbClr val="94A3B8"/>
                </a:solidFill>
              </a:defRPr>
            </a:pPr>
            <a:r>
              <a:t>• Model: samrawal/bert-base-uncased_clinical-ner (~436 MB)</a:t>
            </a:r>
            <a:br/>
            <a:r>
              <a:t>• Benchmark: Harvard DBMI n2c2 / i2b2 ICU Challenges</a:t>
            </a:r>
            <a:br/>
            <a:r>
              <a:t>• Entity Classes: TREATMENT, PROBLEM, TEST</a:t>
            </a:r>
            <a:br/>
            <a:br/>
            <a:r>
              <a:t>• The Safety Catch:</a:t>
            </a:r>
            <a:br/>
            <a:r>
              <a:t>If the paramedic stated 'Gave 324 mg aspirin and 0.4 mg nitro', but the generative LLM only extracted aspirin, n2c2 detects the missing TREATMENT and triggers an instant 'Omitted Treatment' alert on the screen.</a:t>
            </a:r>
          </a:p>
        </p:txBody>
      </p:sp>
      <p:sp>
        <p:nvSpPr>
          <p:cNvPr id="8" name="Rounded Rectangle 7"/>
          <p:cNvSpPr/>
          <p:nvPr/>
        </p:nvSpPr>
        <p:spPr>
          <a:xfrm>
            <a:off x="6309360" y="2011680"/>
            <a:ext cx="5120640" cy="411480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176272"/>
            <a:ext cx="4754880" cy="457200"/>
          </a:xfrm>
          <a:prstGeom prst="rect">
            <a:avLst/>
          </a:prstGeom>
          <a:noFill/>
        </p:spPr>
        <p:txBody>
          <a:bodyPr wrap="square" lIns="0" tIns="0" rIns="0" bIns="0">
            <a:spAutoFit/>
          </a:bodyPr>
          <a:lstStyle/>
          <a:p>
            <a:pPr>
              <a:defRPr sz="1600" b="1">
                <a:solidFill>
                  <a:srgbClr val="F8FAFC"/>
                </a:solidFill>
              </a:defRPr>
            </a:pPr>
            <a:r>
              <a:t>Layer 2: MIMIC-III Bio_ClinicalBERT Grounding</a:t>
            </a:r>
          </a:p>
        </p:txBody>
      </p:sp>
      <p:sp>
        <p:nvSpPr>
          <p:cNvPr id="10" name="TextBox 9"/>
          <p:cNvSpPr txBox="1"/>
          <p:nvPr/>
        </p:nvSpPr>
        <p:spPr>
          <a:xfrm>
            <a:off x="6492240" y="2651760"/>
            <a:ext cx="4754880" cy="3200400"/>
          </a:xfrm>
          <a:prstGeom prst="rect">
            <a:avLst/>
          </a:prstGeom>
          <a:noFill/>
        </p:spPr>
        <p:txBody>
          <a:bodyPr wrap="square">
            <a:spAutoFit/>
          </a:bodyPr>
          <a:lstStyle/>
          <a:p>
            <a:pPr>
              <a:defRPr sz="1400">
                <a:solidFill>
                  <a:srgbClr val="94A3B8"/>
                </a:solidFill>
              </a:defRPr>
            </a:pPr>
            <a:r>
              <a:t>• Model: emilyalsentzer/Bio_ClinicalBERT (~436 MB)</a:t>
            </a:r>
            <a:br/>
            <a:r>
              <a:t>• Pretraining: 2+ million ICU discharge summaries and nursing progress notes from Beth Israel Deaconess Medical Center.</a:t>
            </a:r>
            <a:br/>
            <a:br/>
            <a:r>
              <a:t>• 768-Dim Dense Embeddings:</a:t>
            </a:r>
            <a:br/>
            <a:r>
              <a:t>Maps informal paramedic field terminology into standardized clinical concepts ('nitro' &lt;-&gt; nitroglycerin, 'epi' &lt;-&gt; epinephrine).</a:t>
            </a:r>
            <a:br/>
            <a:br/>
            <a:r>
              <a:t>• Zero Hallucination: Grounded purely on clinical ICU language corpora.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926080" cy="347472"/>
          </a:xfrm>
          <a:prstGeom prst="roundRect">
            <a:avLst/>
          </a:prstGeom>
          <a:solidFill>
            <a:srgbClr val="1E3A6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38BDF8"/>
                </a:solidFill>
              </a:defRPr>
            </a:pPr>
            <a:r>
              <a:t>CRYPTOGRAPHIC ACCOUNTABILITY</a:t>
            </a:r>
          </a:p>
        </p:txBody>
      </p:sp>
      <p:sp>
        <p:nvSpPr>
          <p:cNvPr id="4" name="TextBox 3"/>
          <p:cNvSpPr txBox="1"/>
          <p:nvPr/>
        </p:nvSpPr>
        <p:spPr>
          <a:xfrm>
            <a:off x="731520" y="868680"/>
            <a:ext cx="10698480" cy="731520"/>
          </a:xfrm>
          <a:prstGeom prst="rect">
            <a:avLst/>
          </a:prstGeom>
          <a:noFill/>
        </p:spPr>
        <p:txBody>
          <a:bodyPr wrap="square" lIns="0" tIns="0" rIns="0" bIns="0">
            <a:spAutoFit/>
          </a:bodyPr>
          <a:lstStyle/>
          <a:p>
            <a:pPr>
              <a:defRPr sz="2800" b="1">
                <a:solidFill>
                  <a:srgbClr val="F8FAFC"/>
                </a:solidFill>
              </a:defRPr>
            </a:pPr>
            <a:r>
              <a:t>Tamper-Evident SHA-256 Hash Chain &amp; Hard SQLite Triggers</a:t>
            </a:r>
          </a:p>
          <a:p>
            <a:pPr>
              <a:defRPr sz="1400">
                <a:solidFill>
                  <a:srgbClr val="94A3B8"/>
                </a:solidFill>
              </a:defRPr>
            </a:pPr>
            <a:r>
              <a:t>Immutable pre-hospital audit trail providing undeniable legal and clinical proof of administration.</a:t>
            </a:r>
          </a:p>
        </p:txBody>
      </p:sp>
      <p:sp>
        <p:nvSpPr>
          <p:cNvPr id="5" name="Rounded Rectangle 4"/>
          <p:cNvSpPr/>
          <p:nvPr/>
        </p:nvSpPr>
        <p:spPr>
          <a:xfrm>
            <a:off x="731520" y="2011680"/>
            <a:ext cx="5120640" cy="4114800"/>
          </a:xfrm>
          <a:prstGeom prst="roundRect">
            <a:avLst/>
          </a:prstGeom>
          <a:solidFill>
            <a:srgbClr val="1E293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76272"/>
            <a:ext cx="4754880" cy="457200"/>
          </a:xfrm>
          <a:prstGeom prst="rect">
            <a:avLst/>
          </a:prstGeom>
          <a:noFill/>
        </p:spPr>
        <p:txBody>
          <a:bodyPr wrap="square" lIns="0" tIns="0" rIns="0" bIns="0">
            <a:spAutoFit/>
          </a:bodyPr>
          <a:lstStyle/>
          <a:p>
            <a:pPr>
              <a:defRPr sz="1600" b="1">
                <a:solidFill>
                  <a:srgbClr val="F8FAFC"/>
                </a:solidFill>
              </a:defRPr>
            </a:pPr>
            <a:r>
              <a:t>SHA-256 Hash Chaining Protocol</a:t>
            </a:r>
          </a:p>
        </p:txBody>
      </p:sp>
      <p:sp>
        <p:nvSpPr>
          <p:cNvPr id="7" name="TextBox 6"/>
          <p:cNvSpPr txBox="1"/>
          <p:nvPr/>
        </p:nvSpPr>
        <p:spPr>
          <a:xfrm>
            <a:off x="914400" y="2651760"/>
            <a:ext cx="4754880" cy="3200400"/>
          </a:xfrm>
          <a:prstGeom prst="rect">
            <a:avLst/>
          </a:prstGeom>
          <a:noFill/>
        </p:spPr>
        <p:txBody>
          <a:bodyPr wrap="square">
            <a:spAutoFit/>
          </a:bodyPr>
          <a:lstStyle/>
          <a:p>
            <a:pPr>
              <a:defRPr sz="1400">
                <a:solidFill>
                  <a:srgbClr val="94A3B8"/>
                </a:solidFill>
              </a:defRPr>
            </a:pPr>
            <a:r>
              <a:t>• Blockchain-Style Cryptographic Integrity:</a:t>
            </a:r>
            <a:br/>
            <a:r>
              <a:t>Every confirmed record seals its payload with:</a:t>
            </a:r>
            <a:br/>
            <a:r>
              <a:t>Hash_N = SHA-256(Hash_{N-1} + Record_ID + Timestamp + FHIR_JSON)</a:t>
            </a:r>
            <a:br/>
            <a:br/>
            <a:r>
              <a:t>• Genesis Root Validation:</a:t>
            </a:r>
            <a:br/>
            <a:r>
              <a:t>The audit log verifies that the hash sequence forms an unbroken link back to the system root.</a:t>
            </a:r>
            <a:br/>
            <a:br/>
            <a:r>
              <a:t>• One-Click Verification:</a:t>
            </a:r>
            <a:br/>
            <a:r>
              <a:t>Auditors can verify thousands of records in &lt;5 milliseconds directly from the supervisor dashboard.</a:t>
            </a:r>
          </a:p>
        </p:txBody>
      </p:sp>
      <p:sp>
        <p:nvSpPr>
          <p:cNvPr id="8" name="Rounded Rectangle 7"/>
          <p:cNvSpPr/>
          <p:nvPr/>
        </p:nvSpPr>
        <p:spPr>
          <a:xfrm>
            <a:off x="6309360" y="2011680"/>
            <a:ext cx="5120640" cy="4114800"/>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176272"/>
            <a:ext cx="4754880" cy="457200"/>
          </a:xfrm>
          <a:prstGeom prst="rect">
            <a:avLst/>
          </a:prstGeom>
          <a:noFill/>
        </p:spPr>
        <p:txBody>
          <a:bodyPr wrap="square" lIns="0" tIns="0" rIns="0" bIns="0">
            <a:spAutoFit/>
          </a:bodyPr>
          <a:lstStyle/>
          <a:p>
            <a:pPr>
              <a:defRPr sz="1600" b="1">
                <a:solidFill>
                  <a:srgbClr val="F8FAFC"/>
                </a:solidFill>
              </a:defRPr>
            </a:pPr>
            <a:r>
              <a:t>Hard Database Immutability Triggers</a:t>
            </a:r>
          </a:p>
        </p:txBody>
      </p:sp>
      <p:sp>
        <p:nvSpPr>
          <p:cNvPr id="10" name="TextBox 9"/>
          <p:cNvSpPr txBox="1"/>
          <p:nvPr/>
        </p:nvSpPr>
        <p:spPr>
          <a:xfrm>
            <a:off x="6492240" y="2651760"/>
            <a:ext cx="4754880" cy="3200400"/>
          </a:xfrm>
          <a:prstGeom prst="rect">
            <a:avLst/>
          </a:prstGeom>
          <a:noFill/>
        </p:spPr>
        <p:txBody>
          <a:bodyPr wrap="square">
            <a:spAutoFit/>
          </a:bodyPr>
          <a:lstStyle/>
          <a:p>
            <a:pPr>
              <a:defRPr sz="1400">
                <a:solidFill>
                  <a:srgbClr val="94A3B8"/>
                </a:solidFill>
              </a:defRPr>
            </a:pPr>
            <a:r>
              <a:t>• Built directly into SQLite engine schema:</a:t>
            </a:r>
            <a:br/>
            <a:r>
              <a:t>  CREATE TRIGGER trig_audit_log_no_update</a:t>
            </a:r>
            <a:br/>
            <a:r>
              <a:t>  BEFORE UPDATE ON audit_log</a:t>
            </a:r>
            <a:br/>
            <a:r>
              <a:t>  BEGIN SELECT RAISE(FAIL, 'Updates forbidden'); END;</a:t>
            </a:r>
            <a:br/>
            <a:br/>
            <a:r>
              <a:t>• Physical Prevention of Tampering:</a:t>
            </a:r>
            <a:br/>
            <a:r>
              <a:t>Even a database administrator or malicious actor cannot modify or delete past administration records.</a:t>
            </a:r>
            <a:br/>
            <a:br/>
            <a:r>
              <a:t>• Complete Non-Repudiation for Legal &amp; Clinical Governance.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926080" cy="347472"/>
          </a:xfrm>
          <a:prstGeom prst="roundRect">
            <a:avLst/>
          </a:prstGeom>
          <a:solidFill>
            <a:srgbClr val="1E3A6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38BDF8"/>
                </a:solidFill>
              </a:defRPr>
            </a:pPr>
            <a:r>
              <a:t>TAILORED USER EXPERIENCES</a:t>
            </a:r>
          </a:p>
        </p:txBody>
      </p:sp>
      <p:sp>
        <p:nvSpPr>
          <p:cNvPr id="4" name="TextBox 3"/>
          <p:cNvSpPr txBox="1"/>
          <p:nvPr/>
        </p:nvSpPr>
        <p:spPr>
          <a:xfrm>
            <a:off x="731520" y="868680"/>
            <a:ext cx="10698480" cy="731520"/>
          </a:xfrm>
          <a:prstGeom prst="rect">
            <a:avLst/>
          </a:prstGeom>
          <a:noFill/>
        </p:spPr>
        <p:txBody>
          <a:bodyPr wrap="square" lIns="0" tIns="0" rIns="0" bIns="0">
            <a:spAutoFit/>
          </a:bodyPr>
          <a:lstStyle/>
          <a:p>
            <a:pPr>
              <a:defRPr sz="2800" b="1">
                <a:solidFill>
                  <a:srgbClr val="F8FAFC"/>
                </a:solidFill>
              </a:defRPr>
            </a:pPr>
            <a:r>
              <a:t>Two Distinct Design Systems for Two Critical Clinical Moments</a:t>
            </a:r>
          </a:p>
          <a:p>
            <a:pPr>
              <a:defRPr sz="1400">
                <a:solidFill>
                  <a:srgbClr val="94A3B8"/>
                </a:solidFill>
              </a:defRPr>
            </a:pPr>
            <a:r>
              <a:t>Apple-inspired refinement for field responders; Oracle-inspired clarity for supervisors.</a:t>
            </a:r>
          </a:p>
        </p:txBody>
      </p:sp>
      <p:sp>
        <p:nvSpPr>
          <p:cNvPr id="5" name="Rounded Rectangle 4"/>
          <p:cNvSpPr/>
          <p:nvPr/>
        </p:nvSpPr>
        <p:spPr>
          <a:xfrm>
            <a:off x="731520" y="2011680"/>
            <a:ext cx="5120640" cy="411480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76272"/>
            <a:ext cx="4754880" cy="457200"/>
          </a:xfrm>
          <a:prstGeom prst="rect">
            <a:avLst/>
          </a:prstGeom>
          <a:noFill/>
        </p:spPr>
        <p:txBody>
          <a:bodyPr wrap="square" lIns="0" tIns="0" rIns="0" bIns="0">
            <a:spAutoFit/>
          </a:bodyPr>
          <a:lstStyle/>
          <a:p>
            <a:pPr>
              <a:defRPr sz="1600" b="1">
                <a:solidFill>
                  <a:srgbClr val="F8FAFC"/>
                </a:solidFill>
              </a:defRPr>
            </a:pPr>
            <a:r>
              <a:t>Field App: Apple Pro Design System</a:t>
            </a:r>
          </a:p>
        </p:txBody>
      </p:sp>
      <p:sp>
        <p:nvSpPr>
          <p:cNvPr id="7" name="TextBox 6"/>
          <p:cNvSpPr txBox="1"/>
          <p:nvPr/>
        </p:nvSpPr>
        <p:spPr>
          <a:xfrm>
            <a:off x="914400" y="2651760"/>
            <a:ext cx="4754880" cy="3200400"/>
          </a:xfrm>
          <a:prstGeom prst="rect">
            <a:avLst/>
          </a:prstGeom>
          <a:noFill/>
        </p:spPr>
        <p:txBody>
          <a:bodyPr wrap="square">
            <a:spAutoFit/>
          </a:bodyPr>
          <a:lstStyle/>
          <a:p>
            <a:pPr>
              <a:defRPr sz="1400">
                <a:solidFill>
                  <a:srgbClr val="94A3B8"/>
                </a:solidFill>
              </a:defRPr>
            </a:pPr>
            <a:r>
              <a:t>• Target User: Paramedic inside moving ambulance</a:t>
            </a:r>
            <a:br/>
            <a:r>
              <a:t>• Technology: React + Vite on port 5173</a:t>
            </a:r>
            <a:br/>
            <a:r>
              <a:t>• Aesthetics: macOS Sequoia / iOS 18 Glassmorphism</a:t>
            </a:r>
            <a:br/>
            <a:r>
              <a:t>• Interaction Design:</a:t>
            </a:r>
            <a:br/>
            <a:r>
              <a:t>  - 156px central pulse microphone with concentric ripples</a:t>
            </a:r>
            <a:br/>
            <a:r>
              <a:t>  - EMS telemetry HUD (GPS, Device Battery, 100% Offline Pill)</a:t>
            </a:r>
            <a:br/>
            <a:r>
              <a:t>  - Split Review Workspace: Original text vs extracted items</a:t>
            </a:r>
            <a:br/>
            <a:r>
              <a:t>  - Touch-friendly action pills (Accept Flag, Remove Item)</a:t>
            </a:r>
            <a:br/>
            <a:r>
              <a:t>  - Instant printable hospital transfer handover sheet</a:t>
            </a:r>
          </a:p>
        </p:txBody>
      </p:sp>
      <p:sp>
        <p:nvSpPr>
          <p:cNvPr id="8" name="Rounded Rectangle 7"/>
          <p:cNvSpPr/>
          <p:nvPr/>
        </p:nvSpPr>
        <p:spPr>
          <a:xfrm>
            <a:off x="6309360" y="2011680"/>
            <a:ext cx="5120640" cy="4114800"/>
          </a:xfrm>
          <a:prstGeom prst="roundRect">
            <a:avLst/>
          </a:prstGeom>
          <a:solidFill>
            <a:srgbClr val="1E293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176272"/>
            <a:ext cx="4754880" cy="457200"/>
          </a:xfrm>
          <a:prstGeom prst="rect">
            <a:avLst/>
          </a:prstGeom>
          <a:noFill/>
        </p:spPr>
        <p:txBody>
          <a:bodyPr wrap="square" lIns="0" tIns="0" rIns="0" bIns="0">
            <a:spAutoFit/>
          </a:bodyPr>
          <a:lstStyle/>
          <a:p>
            <a:pPr>
              <a:defRPr sz="1600" b="1">
                <a:solidFill>
                  <a:srgbClr val="F8FAFC"/>
                </a:solidFill>
              </a:defRPr>
            </a:pPr>
            <a:r>
              <a:t>Dashboard: Oracle Redwood Enterprise System</a:t>
            </a:r>
          </a:p>
        </p:txBody>
      </p:sp>
      <p:sp>
        <p:nvSpPr>
          <p:cNvPr id="10" name="TextBox 9"/>
          <p:cNvSpPr txBox="1"/>
          <p:nvPr/>
        </p:nvSpPr>
        <p:spPr>
          <a:xfrm>
            <a:off x="6492240" y="2651760"/>
            <a:ext cx="4754880" cy="3200400"/>
          </a:xfrm>
          <a:prstGeom prst="rect">
            <a:avLst/>
          </a:prstGeom>
          <a:noFill/>
        </p:spPr>
        <p:txBody>
          <a:bodyPr wrap="square">
            <a:spAutoFit/>
          </a:bodyPr>
          <a:lstStyle/>
          <a:p>
            <a:pPr>
              <a:defRPr sz="1400">
                <a:solidFill>
                  <a:srgbClr val="94A3B8"/>
                </a:solidFill>
              </a:defRPr>
            </a:pPr>
            <a:r>
              <a:t>• Target User: Medical Director, Auditor, ED Charge Nurse</a:t>
            </a:r>
            <a:br/>
            <a:r>
              <a:t>• Technology: Next.js 14 App Router on port 3000</a:t>
            </a:r>
            <a:br/>
            <a:r>
              <a:t>• Aesthetics: Oracle Redwood Enterprise Design Language</a:t>
            </a:r>
            <a:br/>
            <a:r>
              <a:t>• Interaction Design:</a:t>
            </a:r>
            <a:br/>
            <a:r>
              <a:t>  - Georgia serif typographic hierarchy</a:t>
            </a:r>
            <a:br/>
            <a:r>
              <a:t>  - High-density cryptographic audit table with hash inspector</a:t>
            </a:r>
            <a:br/>
            <a:r>
              <a:t>  - Fleet analytics: Encounter volume, flag resolution rate</a:t>
            </a:r>
            <a:br/>
            <a:r>
              <a:t>  - Instant tamper-detection status banner</a:t>
            </a:r>
            <a:br/>
            <a:r>
              <a:t>  - Export to enterprise hospital EHR via FHIR bundles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926080" cy="347472"/>
          </a:xfrm>
          <a:prstGeom prst="roundRect">
            <a:avLst/>
          </a:prstGeom>
          <a:solidFill>
            <a:srgbClr val="1E3A6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38BDF8"/>
                </a:solidFill>
              </a:defRPr>
            </a:pPr>
            <a:r>
              <a:t>EMPIRICAL VALIDATION</a:t>
            </a:r>
          </a:p>
        </p:txBody>
      </p:sp>
      <p:sp>
        <p:nvSpPr>
          <p:cNvPr id="4" name="TextBox 3"/>
          <p:cNvSpPr txBox="1"/>
          <p:nvPr/>
        </p:nvSpPr>
        <p:spPr>
          <a:xfrm>
            <a:off x="731520" y="868680"/>
            <a:ext cx="10698480" cy="731520"/>
          </a:xfrm>
          <a:prstGeom prst="rect">
            <a:avLst/>
          </a:prstGeom>
          <a:noFill/>
        </p:spPr>
        <p:txBody>
          <a:bodyPr wrap="square" lIns="0" tIns="0" rIns="0" bIns="0">
            <a:spAutoFit/>
          </a:bodyPr>
          <a:lstStyle/>
          <a:p>
            <a:pPr>
              <a:defRPr sz="2800" b="1">
                <a:solidFill>
                  <a:srgbClr val="F8FAFC"/>
                </a:solidFill>
              </a:defRPr>
            </a:pPr>
            <a:r>
              <a:t>Rigorous Clinical Benchmark &amp; Test Suite Results</a:t>
            </a:r>
          </a:p>
          <a:p>
            <a:pPr>
              <a:defRPr sz="1400">
                <a:solidFill>
                  <a:srgbClr val="94A3B8"/>
                </a:solidFill>
              </a:defRPr>
            </a:pPr>
            <a:r>
              <a:t>Demonstrating high clinical precision, low latency, and 100% test pass rate.</a:t>
            </a:r>
          </a:p>
        </p:txBody>
      </p:sp>
      <p:sp>
        <p:nvSpPr>
          <p:cNvPr id="5" name="Rounded Rectangle 4"/>
          <p:cNvSpPr/>
          <p:nvPr/>
        </p:nvSpPr>
        <p:spPr>
          <a:xfrm>
            <a:off x="731520" y="2103120"/>
            <a:ext cx="5212080" cy="182880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286000"/>
            <a:ext cx="4663440" cy="1463040"/>
          </a:xfrm>
          <a:prstGeom prst="rect">
            <a:avLst/>
          </a:prstGeom>
          <a:noFill/>
        </p:spPr>
        <p:txBody>
          <a:bodyPr wrap="square" lIns="0" tIns="0" rIns="0" bIns="0">
            <a:spAutoFit/>
          </a:bodyPr>
          <a:lstStyle/>
          <a:p>
            <a:pPr>
              <a:defRPr sz="2800" b="1">
                <a:solidFill>
                  <a:srgbClr val="34D399"/>
                </a:solidFill>
              </a:defRPr>
            </a:pPr>
            <a:r>
              <a:t>F1 &gt;= 0.85</a:t>
            </a:r>
          </a:p>
          <a:p>
            <a:pPr>
              <a:defRPr sz="1500" b="1">
                <a:solidFill>
                  <a:srgbClr val="F8FAFC"/>
                </a:solidFill>
              </a:defRPr>
            </a:pPr>
            <a:r>
              <a:t>Clinical Entity Extraction</a:t>
            </a:r>
          </a:p>
          <a:p>
            <a:pPr>
              <a:defRPr sz="1200">
                <a:solidFill>
                  <a:srgbClr val="94A3B8"/>
                </a:solidFill>
              </a:defRPr>
            </a:pPr>
            <a:r>
              <a:t>Precision &amp; recall across drug, dose, unit, route, and procedures</a:t>
            </a:r>
          </a:p>
        </p:txBody>
      </p:sp>
      <p:sp>
        <p:nvSpPr>
          <p:cNvPr id="7" name="Rounded Rectangle 6"/>
          <p:cNvSpPr/>
          <p:nvPr/>
        </p:nvSpPr>
        <p:spPr>
          <a:xfrm>
            <a:off x="6217920" y="2103120"/>
            <a:ext cx="5212080" cy="182880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2286000"/>
            <a:ext cx="4663440" cy="1463040"/>
          </a:xfrm>
          <a:prstGeom prst="rect">
            <a:avLst/>
          </a:prstGeom>
          <a:noFill/>
        </p:spPr>
        <p:txBody>
          <a:bodyPr wrap="square" lIns="0" tIns="0" rIns="0" bIns="0">
            <a:spAutoFit/>
          </a:bodyPr>
          <a:lstStyle/>
          <a:p>
            <a:pPr>
              <a:defRPr sz="2800" b="1">
                <a:solidFill>
                  <a:srgbClr val="38BDF8"/>
                </a:solidFill>
              </a:defRPr>
            </a:pPr>
            <a:r>
              <a:t>WER &lt; 4%</a:t>
            </a:r>
          </a:p>
          <a:p>
            <a:pPr>
              <a:defRPr sz="1500" b="1">
                <a:solidFill>
                  <a:srgbClr val="F8FAFC"/>
                </a:solidFill>
              </a:defRPr>
            </a:pPr>
            <a:r>
              <a:t>Drug Name Audio Accuracy</a:t>
            </a:r>
          </a:p>
          <a:p>
            <a:pPr>
              <a:defRPr sz="1200">
                <a:solidFill>
                  <a:srgbClr val="94A3B8"/>
                </a:solidFill>
              </a:defRPr>
            </a:pPr>
            <a:r>
              <a:t>Conditioned whisper.cpp beats the strict NFR-15 benchmark of &lt;=10%</a:t>
            </a:r>
          </a:p>
        </p:txBody>
      </p:sp>
      <p:sp>
        <p:nvSpPr>
          <p:cNvPr id="9" name="Rounded Rectangle 8"/>
          <p:cNvSpPr/>
          <p:nvPr/>
        </p:nvSpPr>
        <p:spPr>
          <a:xfrm>
            <a:off x="731520" y="4206240"/>
            <a:ext cx="5212080" cy="1828800"/>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389120"/>
            <a:ext cx="4663440" cy="1463040"/>
          </a:xfrm>
          <a:prstGeom prst="rect">
            <a:avLst/>
          </a:prstGeom>
          <a:noFill/>
        </p:spPr>
        <p:txBody>
          <a:bodyPr wrap="square" lIns="0" tIns="0" rIns="0" bIns="0">
            <a:spAutoFit/>
          </a:bodyPr>
          <a:lstStyle/>
          <a:p>
            <a:pPr>
              <a:defRPr sz="2800" b="1">
                <a:solidFill>
                  <a:srgbClr val="A855F7"/>
                </a:solidFill>
              </a:defRPr>
            </a:pPr>
            <a:r>
              <a:t>&lt; 1.5s</a:t>
            </a:r>
          </a:p>
          <a:p>
            <a:pPr>
              <a:defRPr sz="1500" b="1">
                <a:solidFill>
                  <a:srgbClr val="F8FAFC"/>
                </a:solidFill>
              </a:defRPr>
            </a:pPr>
            <a:r>
              <a:t>Edge Inference Latency</a:t>
            </a:r>
          </a:p>
          <a:p>
            <a:pPr>
              <a:defRPr sz="1200">
                <a:solidFill>
                  <a:srgbClr val="94A3B8"/>
                </a:solidFill>
              </a:defRPr>
            </a:pPr>
            <a:r>
              <a:t>End-to-end voice transcription &amp; extraction on standard laptops</a:t>
            </a:r>
          </a:p>
        </p:txBody>
      </p:sp>
      <p:sp>
        <p:nvSpPr>
          <p:cNvPr id="11" name="Rounded Rectangle 10"/>
          <p:cNvSpPr/>
          <p:nvPr/>
        </p:nvSpPr>
        <p:spPr>
          <a:xfrm>
            <a:off x="6217920" y="4206240"/>
            <a:ext cx="5212080" cy="1828800"/>
          </a:xfrm>
          <a:prstGeom prst="roundRect">
            <a:avLst/>
          </a:prstGeom>
          <a:solidFill>
            <a:srgbClr val="1E293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4389120"/>
            <a:ext cx="4663440" cy="1463040"/>
          </a:xfrm>
          <a:prstGeom prst="rect">
            <a:avLst/>
          </a:prstGeom>
          <a:noFill/>
        </p:spPr>
        <p:txBody>
          <a:bodyPr wrap="square" lIns="0" tIns="0" rIns="0" bIns="0">
            <a:spAutoFit/>
          </a:bodyPr>
          <a:lstStyle/>
          <a:p>
            <a:pPr>
              <a:defRPr sz="2800" b="1">
                <a:solidFill>
                  <a:srgbClr val="FBBF24"/>
                </a:solidFill>
              </a:defRPr>
            </a:pPr>
            <a:r>
              <a:t>85 / 85</a:t>
            </a:r>
          </a:p>
          <a:p>
            <a:pPr>
              <a:defRPr sz="1500" b="1">
                <a:solidFill>
                  <a:srgbClr val="F8FAFC"/>
                </a:solidFill>
              </a:defRPr>
            </a:pPr>
            <a:r>
              <a:t>Test Suite 100% Passed</a:t>
            </a:r>
          </a:p>
          <a:p>
            <a:pPr>
              <a:defRPr sz="1200">
                <a:solidFill>
                  <a:srgbClr val="94A3B8"/>
                </a:solidFill>
              </a:defRPr>
            </a:pPr>
            <a:r>
              <a:t>Full pytest coverage across OCR, Whisper, NER, DB, and FHIR modules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926080" cy="347472"/>
          </a:xfrm>
          <a:prstGeom prst="roundRect">
            <a:avLst/>
          </a:prstGeom>
          <a:solidFill>
            <a:srgbClr val="1E3A6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38BDF8"/>
                </a:solidFill>
              </a:defRPr>
            </a:pPr>
            <a:r>
              <a:t>LIVE SYSTEM DEMONSTRATION</a:t>
            </a:r>
          </a:p>
        </p:txBody>
      </p:sp>
      <p:sp>
        <p:nvSpPr>
          <p:cNvPr id="4" name="TextBox 3"/>
          <p:cNvSpPr txBox="1"/>
          <p:nvPr/>
        </p:nvSpPr>
        <p:spPr>
          <a:xfrm>
            <a:off x="731520" y="868680"/>
            <a:ext cx="10698480" cy="731520"/>
          </a:xfrm>
          <a:prstGeom prst="rect">
            <a:avLst/>
          </a:prstGeom>
          <a:noFill/>
        </p:spPr>
        <p:txBody>
          <a:bodyPr wrap="square" lIns="0" tIns="0" rIns="0" bIns="0">
            <a:spAutoFit/>
          </a:bodyPr>
          <a:lstStyle/>
          <a:p>
            <a:pPr>
              <a:defRPr sz="2800" b="1">
                <a:solidFill>
                  <a:srgbClr val="F8FAFC"/>
                </a:solidFill>
              </a:defRPr>
            </a:pPr>
            <a:r>
              <a:t>1-Click Hackathon Presets &amp; End-to-End Walkthrough</a:t>
            </a:r>
          </a:p>
          <a:p>
            <a:pPr>
              <a:defRPr sz="1400">
                <a:solidFill>
                  <a:srgbClr val="94A3B8"/>
                </a:solidFill>
              </a:defRPr>
            </a:pPr>
            <a:r>
              <a:t>Three realistic pre-hospital emergency scenarios demonstrating multi-model orchestration.</a:t>
            </a:r>
          </a:p>
        </p:txBody>
      </p:sp>
      <p:sp>
        <p:nvSpPr>
          <p:cNvPr id="5" name="Rounded Rectangle 4"/>
          <p:cNvSpPr/>
          <p:nvPr/>
        </p:nvSpPr>
        <p:spPr>
          <a:xfrm>
            <a:off x="731520" y="2011680"/>
            <a:ext cx="3383280" cy="4114800"/>
          </a:xfrm>
          <a:prstGeom prst="roundRect">
            <a:avLst/>
          </a:prstGeom>
          <a:solidFill>
            <a:srgbClr val="1E293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76272"/>
            <a:ext cx="3017520" cy="457200"/>
          </a:xfrm>
          <a:prstGeom prst="rect">
            <a:avLst/>
          </a:prstGeom>
          <a:noFill/>
        </p:spPr>
        <p:txBody>
          <a:bodyPr wrap="square" lIns="0" tIns="0" rIns="0" bIns="0">
            <a:spAutoFit/>
          </a:bodyPr>
          <a:lstStyle/>
          <a:p>
            <a:pPr>
              <a:defRPr sz="1600" b="1">
                <a:solidFill>
                  <a:srgbClr val="F8FAFC"/>
                </a:solidFill>
              </a:defRPr>
            </a:pPr>
            <a:r>
              <a:t>Scenario A: STEMI Cardiac Arrest</a:t>
            </a:r>
          </a:p>
        </p:txBody>
      </p:sp>
      <p:sp>
        <p:nvSpPr>
          <p:cNvPr id="7" name="TextBox 6"/>
          <p:cNvSpPr txBox="1"/>
          <p:nvPr/>
        </p:nvSpPr>
        <p:spPr>
          <a:xfrm>
            <a:off x="914400" y="2651760"/>
            <a:ext cx="3017520" cy="3200400"/>
          </a:xfrm>
          <a:prstGeom prst="rect">
            <a:avLst/>
          </a:prstGeom>
          <a:noFill/>
        </p:spPr>
        <p:txBody>
          <a:bodyPr wrap="square">
            <a:spAutoFit/>
          </a:bodyPr>
          <a:lstStyle/>
          <a:p>
            <a:pPr>
              <a:defRPr sz="1400">
                <a:solidFill>
                  <a:srgbClr val="94A3B8"/>
                </a:solidFill>
              </a:defRPr>
            </a:pPr>
            <a:r>
              <a:t>• Input:</a:t>
            </a:r>
            <a:br/>
            <a:r>
              <a:t>'14:32 gave aspirin 324 mg PO chewed. IV 18 gauge left AC.'</a:t>
            </a:r>
            <a:br/>
            <a:br/>
            <a:r>
              <a:t>• Pipeline:</a:t>
            </a:r>
            <a:br/>
            <a:r>
              <a:t>Whisper transcribes -&gt; MedGemma parses Aspirin 324mg &amp; IV 18G -&gt; n2c2 verifies Treatment.</a:t>
            </a:r>
            <a:br/>
            <a:br/>
            <a:r>
              <a:t>• Outcome:</a:t>
            </a:r>
            <a:br/>
            <a:r>
              <a:t>Clean record sealed in SHA-256 chain; Handover report ready for cardiac cath lab.</a:t>
            </a:r>
          </a:p>
        </p:txBody>
      </p:sp>
      <p:sp>
        <p:nvSpPr>
          <p:cNvPr id="8" name="Rounded Rectangle 7"/>
          <p:cNvSpPr/>
          <p:nvPr/>
        </p:nvSpPr>
        <p:spPr>
          <a:xfrm>
            <a:off x="4389120" y="2011680"/>
            <a:ext cx="3383280" cy="4114800"/>
          </a:xfrm>
          <a:prstGeom prst="roundRect">
            <a:avLst/>
          </a:prstGeom>
          <a:solidFill>
            <a:srgbClr val="1E293B"/>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176272"/>
            <a:ext cx="3017520" cy="457200"/>
          </a:xfrm>
          <a:prstGeom prst="rect">
            <a:avLst/>
          </a:prstGeom>
          <a:noFill/>
        </p:spPr>
        <p:txBody>
          <a:bodyPr wrap="square" lIns="0" tIns="0" rIns="0" bIns="0">
            <a:spAutoFit/>
          </a:bodyPr>
          <a:lstStyle/>
          <a:p>
            <a:pPr>
              <a:defRPr sz="1600" b="1">
                <a:solidFill>
                  <a:srgbClr val="F8FAFC"/>
                </a:solidFill>
              </a:defRPr>
            </a:pPr>
            <a:r>
              <a:t>Scenario B: Opioid OD with Flag</a:t>
            </a:r>
          </a:p>
        </p:txBody>
      </p:sp>
      <p:sp>
        <p:nvSpPr>
          <p:cNvPr id="10" name="TextBox 9"/>
          <p:cNvSpPr txBox="1"/>
          <p:nvPr/>
        </p:nvSpPr>
        <p:spPr>
          <a:xfrm>
            <a:off x="4572000" y="2651760"/>
            <a:ext cx="3017520" cy="3200400"/>
          </a:xfrm>
          <a:prstGeom prst="rect">
            <a:avLst/>
          </a:prstGeom>
          <a:noFill/>
        </p:spPr>
        <p:txBody>
          <a:bodyPr wrap="square">
            <a:spAutoFit/>
          </a:bodyPr>
          <a:lstStyle/>
          <a:p>
            <a:pPr>
              <a:defRPr sz="1400">
                <a:solidFill>
                  <a:srgbClr val="94A3B8"/>
                </a:solidFill>
              </a:defRPr>
            </a:pPr>
            <a:r>
              <a:t>• Input:</a:t>
            </a:r>
            <a:br/>
            <a:r>
              <a:t>'Found unresponsive, cyanotic. Gave naloxone intranasal.'</a:t>
            </a:r>
            <a:br/>
            <a:br/>
            <a:r>
              <a:t>• Safety Flag Triggered:</a:t>
            </a:r>
            <a:br/>
            <a:r>
              <a:t>Medication has route (IN) but missing numeric dose.</a:t>
            </a:r>
            <a:br/>
            <a:br/>
            <a:r>
              <a:t>• Human-in-the-Loop:</a:t>
            </a:r>
            <a:br/>
            <a:r>
              <a:t>System surfaces warning badge. Paramedic reviews, enters 2 mg, accepts flag, and signs off.</a:t>
            </a:r>
          </a:p>
        </p:txBody>
      </p:sp>
      <p:sp>
        <p:nvSpPr>
          <p:cNvPr id="11" name="Rounded Rectangle 10"/>
          <p:cNvSpPr/>
          <p:nvPr/>
        </p:nvSpPr>
        <p:spPr>
          <a:xfrm>
            <a:off x="8046720" y="2011680"/>
            <a:ext cx="3383280" cy="4114800"/>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2176272"/>
            <a:ext cx="3017520" cy="457200"/>
          </a:xfrm>
          <a:prstGeom prst="rect">
            <a:avLst/>
          </a:prstGeom>
          <a:noFill/>
        </p:spPr>
        <p:txBody>
          <a:bodyPr wrap="square" lIns="0" tIns="0" rIns="0" bIns="0">
            <a:spAutoFit/>
          </a:bodyPr>
          <a:lstStyle/>
          <a:p>
            <a:pPr>
              <a:defRPr sz="1600" b="1">
                <a:solidFill>
                  <a:srgbClr val="F8FAFC"/>
                </a:solidFill>
              </a:defRPr>
            </a:pPr>
            <a:r>
              <a:t>Scenario C: Glove Scribble OCR</a:t>
            </a:r>
          </a:p>
        </p:txBody>
      </p:sp>
      <p:sp>
        <p:nvSpPr>
          <p:cNvPr id="13" name="TextBox 12"/>
          <p:cNvSpPr txBox="1"/>
          <p:nvPr/>
        </p:nvSpPr>
        <p:spPr>
          <a:xfrm>
            <a:off x="8229600" y="2651760"/>
            <a:ext cx="3017520" cy="3200400"/>
          </a:xfrm>
          <a:prstGeom prst="rect">
            <a:avLst/>
          </a:prstGeom>
          <a:noFill/>
        </p:spPr>
        <p:txBody>
          <a:bodyPr wrap="square">
            <a:spAutoFit/>
          </a:bodyPr>
          <a:lstStyle/>
          <a:p>
            <a:pPr>
              <a:defRPr sz="1400">
                <a:solidFill>
                  <a:srgbClr val="94A3B8"/>
                </a:solidFill>
              </a:defRPr>
            </a:pPr>
            <a:r>
              <a:t>• Input:</a:t>
            </a:r>
            <a:br/>
            <a:r>
              <a:t>Camera snapshot of paramedic glove with handwritten dosages.</a:t>
            </a:r>
            <a:br/>
            <a:br/>
            <a:r>
              <a:t>• Microsoft TrOCR:</a:t>
            </a:r>
            <a:br/>
            <a:r>
              <a:t>DeiT + RoBERTa visual transformer decodes handwriting with zero cloud connection.</a:t>
            </a:r>
            <a:br/>
            <a:br/>
            <a:r>
              <a:t>• Outcome:</a:t>
            </a:r>
            <a:br/>
            <a:r>
              <a:t>Populates structured fields side-by-side with raw glove image.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926080" cy="347472"/>
          </a:xfrm>
          <a:prstGeom prst="roundRect">
            <a:avLst/>
          </a:prstGeom>
          <a:solidFill>
            <a:srgbClr val="1E3A6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38BDF8"/>
                </a:solidFill>
              </a:defRPr>
            </a:pPr>
            <a:r>
              <a:t>SUMMARY &amp; FUTURE ROADMAP</a:t>
            </a:r>
          </a:p>
        </p:txBody>
      </p:sp>
      <p:sp>
        <p:nvSpPr>
          <p:cNvPr id="4" name="TextBox 3"/>
          <p:cNvSpPr txBox="1"/>
          <p:nvPr/>
        </p:nvSpPr>
        <p:spPr>
          <a:xfrm>
            <a:off x="731520" y="868680"/>
            <a:ext cx="10698480" cy="731520"/>
          </a:xfrm>
          <a:prstGeom prst="rect">
            <a:avLst/>
          </a:prstGeom>
          <a:noFill/>
        </p:spPr>
        <p:txBody>
          <a:bodyPr wrap="square" lIns="0" tIns="0" rIns="0" bIns="0">
            <a:spAutoFit/>
          </a:bodyPr>
          <a:lstStyle/>
          <a:p>
            <a:pPr>
              <a:defRPr sz="2800" b="1">
                <a:solidFill>
                  <a:srgbClr val="F8FAFC"/>
                </a:solidFill>
              </a:defRPr>
            </a:pPr>
            <a:r>
              <a:t>Transforming Emergency Medicine with Trustworthy Edge AI</a:t>
            </a:r>
          </a:p>
          <a:p>
            <a:pPr>
              <a:defRPr sz="1400">
                <a:solidFill>
                  <a:srgbClr val="94A3B8"/>
                </a:solidFill>
              </a:defRPr>
            </a:pPr>
            <a:r>
              <a:t>Bridging the critical gap between emergency field care and hospital EHRs.</a:t>
            </a:r>
          </a:p>
        </p:txBody>
      </p:sp>
      <p:sp>
        <p:nvSpPr>
          <p:cNvPr id="5" name="Rounded Rectangle 4"/>
          <p:cNvSpPr/>
          <p:nvPr/>
        </p:nvSpPr>
        <p:spPr>
          <a:xfrm>
            <a:off x="731520" y="2011680"/>
            <a:ext cx="5120640" cy="411480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76272"/>
            <a:ext cx="4754880" cy="457200"/>
          </a:xfrm>
          <a:prstGeom prst="rect">
            <a:avLst/>
          </a:prstGeom>
          <a:noFill/>
        </p:spPr>
        <p:txBody>
          <a:bodyPr wrap="square" lIns="0" tIns="0" rIns="0" bIns="0">
            <a:spAutoFit/>
          </a:bodyPr>
          <a:lstStyle/>
          <a:p>
            <a:pPr>
              <a:defRPr sz="1600" b="1">
                <a:solidFill>
                  <a:srgbClr val="F8FAFC"/>
                </a:solidFill>
              </a:defRPr>
            </a:pPr>
            <a:r>
              <a:t>Why Sanjeevani Lekh Wins</a:t>
            </a:r>
          </a:p>
        </p:txBody>
      </p:sp>
      <p:sp>
        <p:nvSpPr>
          <p:cNvPr id="7" name="TextBox 6"/>
          <p:cNvSpPr txBox="1"/>
          <p:nvPr/>
        </p:nvSpPr>
        <p:spPr>
          <a:xfrm>
            <a:off x="914400" y="2651760"/>
            <a:ext cx="4754880" cy="3200400"/>
          </a:xfrm>
          <a:prstGeom prst="rect">
            <a:avLst/>
          </a:prstGeom>
          <a:noFill/>
        </p:spPr>
        <p:txBody>
          <a:bodyPr wrap="square">
            <a:spAutoFit/>
          </a:bodyPr>
          <a:lstStyle/>
          <a:p>
            <a:pPr>
              <a:defRPr sz="1400">
                <a:solidFill>
                  <a:srgbClr val="94A3B8"/>
                </a:solidFill>
              </a:defRPr>
            </a:pPr>
            <a:r>
              <a:t>• 100% Offline Independence: Zero cellular drop-outs, zero cloud subscription fees.</a:t>
            </a:r>
            <a:br/>
            <a:r>
              <a:t>• Solves the Real Paramedic Problem: Hands-free voice and nitrile glove handwriting OCR.</a:t>
            </a:r>
            <a:br/>
            <a:r>
              <a:t>• Medical Safety First: Dual-layer n2c2/MIMIC BERT cross-checks eliminate LLM hallucinations.</a:t>
            </a:r>
            <a:br/>
            <a:r>
              <a:t>• Cryptographic Truth: Tamper-evident SHA-256 chain provides undeniable legal auditability.</a:t>
            </a:r>
            <a:br/>
            <a:r>
              <a:t>• Production-Ready UI: Apple Pro field app + Oracle Redwood audit console.</a:t>
            </a:r>
          </a:p>
        </p:txBody>
      </p:sp>
      <p:sp>
        <p:nvSpPr>
          <p:cNvPr id="8" name="Rounded Rectangle 7"/>
          <p:cNvSpPr/>
          <p:nvPr/>
        </p:nvSpPr>
        <p:spPr>
          <a:xfrm>
            <a:off x="6309360" y="2011680"/>
            <a:ext cx="5120640" cy="411480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176272"/>
            <a:ext cx="4754880" cy="457200"/>
          </a:xfrm>
          <a:prstGeom prst="rect">
            <a:avLst/>
          </a:prstGeom>
          <a:noFill/>
        </p:spPr>
        <p:txBody>
          <a:bodyPr wrap="square" lIns="0" tIns="0" rIns="0" bIns="0">
            <a:spAutoFit/>
          </a:bodyPr>
          <a:lstStyle/>
          <a:p>
            <a:pPr>
              <a:defRPr sz="1600" b="1">
                <a:solidFill>
                  <a:srgbClr val="F8FAFC"/>
                </a:solidFill>
              </a:defRPr>
            </a:pPr>
            <a:r>
              <a:t>Immediate Future Roadmap</a:t>
            </a:r>
          </a:p>
        </p:txBody>
      </p:sp>
      <p:sp>
        <p:nvSpPr>
          <p:cNvPr id="10" name="TextBox 9"/>
          <p:cNvSpPr txBox="1"/>
          <p:nvPr/>
        </p:nvSpPr>
        <p:spPr>
          <a:xfrm>
            <a:off x="6492240" y="2651760"/>
            <a:ext cx="4754880" cy="3200400"/>
          </a:xfrm>
          <a:prstGeom prst="rect">
            <a:avLst/>
          </a:prstGeom>
          <a:noFill/>
        </p:spPr>
        <p:txBody>
          <a:bodyPr wrap="square">
            <a:spAutoFit/>
          </a:bodyPr>
          <a:lstStyle/>
          <a:p>
            <a:pPr>
              <a:defRPr sz="1400">
                <a:solidFill>
                  <a:srgbClr val="94A3B8"/>
                </a:solidFill>
              </a:defRPr>
            </a:pPr>
            <a:r>
              <a:t>• Phase 1 (Near-Term):</a:t>
            </a:r>
            <a:br/>
            <a:r>
              <a:t>Direct Bluetooth telemetry link to Zoll and Physio-Control LIFEPAK cardiac monitors.</a:t>
            </a:r>
            <a:br/>
            <a:br/>
            <a:r>
              <a:t>• Phase 2 (Mid-Term):</a:t>
            </a:r>
            <a:br/>
            <a:r>
              <a:t>NEMSIS v3.5 and FHIR R4 automated hospital EHR dispatch sync upon ambulance arrival.</a:t>
            </a:r>
            <a:br/>
            <a:br/>
            <a:r>
              <a:t>• Phase 3 (Long-Term):</a:t>
            </a:r>
            <a:br/>
            <a:r>
              <a:t>Multilingual paramedic model extensions with Whisper fine-tuning for regional languages.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